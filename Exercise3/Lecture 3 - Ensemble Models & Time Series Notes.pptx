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12192000"/>
  <p:notesSz cx="6858000" cy="9144000"/>
  <p:embeddedFontLst>
    <p:embeddedFont>
      <p:font typeface="Play"/>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hYCMBk92pWJlHshlDAXaq4bAy6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01109C-3C73-4588-8353-36F55F7C9E74}">
  <a:tblStyle styleId="{5A01109C-3C73-4588-8353-36F55F7C9E7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lay-bold.fntdata"/><Relationship Id="rId12" Type="http://schemas.openxmlformats.org/officeDocument/2006/relationships/slide" Target="slides/slide7.xml"/><Relationship Id="rId34" Type="http://schemas.openxmlformats.org/officeDocument/2006/relationships/font" Target="fonts/Play-regular.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Διαφάνεια τίτλου"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περιεχόμενο" type="obj">
  <p:cSld name="OBJECT">
    <p:spTree>
      <p:nvGrpSpPr>
        <p:cNvPr id="21" name="Shape 21"/>
        <p:cNvGrpSpPr/>
        <p:nvPr/>
      </p:nvGrpSpPr>
      <p:grpSpPr>
        <a:xfrm>
          <a:off x="0" y="0"/>
          <a:ext cx="0" cy="0"/>
          <a:chOff x="0" y="0"/>
          <a:chExt cx="0" cy="0"/>
        </a:xfrm>
      </p:grpSpPr>
      <p:sp>
        <p:nvSpPr>
          <p:cNvPr id="22" name="Google Shape;22;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φαλίδα ενότητας" type="secHead">
  <p:cSld name="SECTION_HEADER">
    <p:spTree>
      <p:nvGrpSpPr>
        <p:cNvPr id="27" name="Shape 27"/>
        <p:cNvGrpSpPr/>
        <p:nvPr/>
      </p:nvGrpSpPr>
      <p:grpSpPr>
        <a:xfrm>
          <a:off x="0" y="0"/>
          <a:ext cx="0" cy="0"/>
          <a:chOff x="0" y="0"/>
          <a:chExt cx="0" cy="0"/>
        </a:xfrm>
      </p:grpSpPr>
      <p:sp>
        <p:nvSpPr>
          <p:cNvPr id="28" name="Google Shape;28;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Δύο περιεχόμενα" type="twoObj">
  <p:cSld name="TWO_OBJECTS">
    <p:spTree>
      <p:nvGrpSpPr>
        <p:cNvPr id="33" name="Shape 33"/>
        <p:cNvGrpSpPr/>
        <p:nvPr/>
      </p:nvGrpSpPr>
      <p:grpSpPr>
        <a:xfrm>
          <a:off x="0" y="0"/>
          <a:ext cx="0" cy="0"/>
          <a:chOff x="0" y="0"/>
          <a:chExt cx="0" cy="0"/>
        </a:xfrm>
      </p:grpSpPr>
      <p:sp>
        <p:nvSpPr>
          <p:cNvPr id="34" name="Google Shape;34;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Σύγκριση" type="twoTxTwoObj">
  <p:cSld name="TWO_OBJECTS_WITH_TEXT">
    <p:spTree>
      <p:nvGrpSpPr>
        <p:cNvPr id="40" name="Shape 40"/>
        <p:cNvGrpSpPr/>
        <p:nvPr/>
      </p:nvGrpSpPr>
      <p:grpSpPr>
        <a:xfrm>
          <a:off x="0" y="0"/>
          <a:ext cx="0" cy="0"/>
          <a:chOff x="0" y="0"/>
          <a:chExt cx="0" cy="0"/>
        </a:xfrm>
      </p:grpSpPr>
      <p:sp>
        <p:nvSpPr>
          <p:cNvPr id="41" name="Google Shape;41;p3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Μόνο τίτλος" type="titleOnly">
  <p:cSld name="TITLE_ONLY">
    <p:spTree>
      <p:nvGrpSpPr>
        <p:cNvPr id="49" name="Shape 49"/>
        <p:cNvGrpSpPr/>
        <p:nvPr/>
      </p:nvGrpSpPr>
      <p:grpSpPr>
        <a:xfrm>
          <a:off x="0" y="0"/>
          <a:ext cx="0" cy="0"/>
          <a:chOff x="0" y="0"/>
          <a:chExt cx="0" cy="0"/>
        </a:xfrm>
      </p:grpSpPr>
      <p:sp>
        <p:nvSpPr>
          <p:cNvPr id="50" name="Google Shape;5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νό" type="blank">
  <p:cSld name="BLANK">
    <p:spTree>
      <p:nvGrpSpPr>
        <p:cNvPr id="54" name="Shape 54"/>
        <p:cNvGrpSpPr/>
        <p:nvPr/>
      </p:nvGrpSpPr>
      <p:grpSpPr>
        <a:xfrm>
          <a:off x="0" y="0"/>
          <a:ext cx="0" cy="0"/>
          <a:chOff x="0" y="0"/>
          <a:chExt cx="0" cy="0"/>
        </a:xfrm>
      </p:grpSpPr>
      <p:sp>
        <p:nvSpPr>
          <p:cNvPr id="55" name="Google Shape;5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Περιεχόμενο με λεζάντα" type="objTx">
  <p:cSld name="OBJECT_WITH_CAPTION_TEXT">
    <p:spTree>
      <p:nvGrpSpPr>
        <p:cNvPr id="58" name="Shape 58"/>
        <p:cNvGrpSpPr/>
        <p:nvPr/>
      </p:nvGrpSpPr>
      <p:grpSpPr>
        <a:xfrm>
          <a:off x="0" y="0"/>
          <a:ext cx="0" cy="0"/>
          <a:chOff x="0" y="0"/>
          <a:chExt cx="0" cy="0"/>
        </a:xfrm>
      </p:grpSpPr>
      <p:sp>
        <p:nvSpPr>
          <p:cNvPr id="59" name="Google Shape;59;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Εικόνα με λεζάντα" type="picTx">
  <p:cSld name="PICTURE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8"/>
          <p:cNvSpPr/>
          <p:nvPr>
            <p:ph idx="2" type="pic"/>
          </p:nvPr>
        </p:nvSpPr>
        <p:spPr>
          <a:xfrm>
            <a:off x="5183188" y="987425"/>
            <a:ext cx="6172200" cy="4873625"/>
          </a:xfrm>
          <a:prstGeom prst="rect">
            <a:avLst/>
          </a:prstGeom>
          <a:noFill/>
          <a:ln>
            <a:noFill/>
          </a:ln>
        </p:spPr>
      </p:sp>
      <p:sp>
        <p:nvSpPr>
          <p:cNvPr id="68" name="Google Shape;68;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ατακόρυφο κείμενο" type="vertTx">
  <p:cSld name="VERTICAL_TEXT">
    <p:spTree>
      <p:nvGrpSpPr>
        <p:cNvPr id="72" name="Shape 72"/>
        <p:cNvGrpSpPr/>
        <p:nvPr/>
      </p:nvGrpSpPr>
      <p:grpSpPr>
        <a:xfrm>
          <a:off x="0" y="0"/>
          <a:ext cx="0" cy="0"/>
          <a:chOff x="0" y="0"/>
          <a:chExt cx="0" cy="0"/>
        </a:xfrm>
      </p:grpSpPr>
      <p:sp>
        <p:nvSpPr>
          <p:cNvPr id="73" name="Google Shape;7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ατακόρυφος τίτλος και Κείμενο" type="vertTitleAndTx">
  <p:cSld name="VERTICAL_TITLE_AND_VERTICAL_TEXT">
    <p:spTree>
      <p:nvGrpSpPr>
        <p:cNvPr id="78" name="Shape 78"/>
        <p:cNvGrpSpPr/>
        <p:nvPr/>
      </p:nvGrpSpPr>
      <p:grpSpPr>
        <a:xfrm>
          <a:off x="0" y="0"/>
          <a:ext cx="0" cy="0"/>
          <a:chOff x="0" y="0"/>
          <a:chExt cx="0" cy="0"/>
        </a:xfrm>
      </p:grpSpPr>
      <p:sp>
        <p:nvSpPr>
          <p:cNvPr id="79" name="Google Shape;79;p4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3.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6.jpg"/><Relationship Id="rId5" Type="http://schemas.openxmlformats.org/officeDocument/2006/relationships/image" Target="../media/image11.pn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7.png"/><Relationship Id="rId5"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30.png"/><Relationship Id="rId5" Type="http://schemas.openxmlformats.org/officeDocument/2006/relationships/image" Target="../media/image38.png"/><Relationship Id="rId6"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9.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Machine Learning</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Ensemble Methods &amp; Time Series Notes</a:t>
            </a:r>
            <a:endParaRPr/>
          </a:p>
          <a:p>
            <a:pPr indent="0" lvl="0" marL="0" rtl="0" algn="ctr">
              <a:lnSpc>
                <a:spcPct val="90000"/>
              </a:lnSpc>
              <a:spcBef>
                <a:spcPts val="1000"/>
              </a:spcBef>
              <a:spcAft>
                <a:spcPts val="0"/>
              </a:spcAft>
              <a:buClr>
                <a:schemeClr val="dk1"/>
              </a:buClr>
              <a:buSzPts val="2400"/>
              <a:buNone/>
            </a:pPr>
            <a:r>
              <a:t/>
            </a:r>
            <a:endParaRPr/>
          </a:p>
        </p:txBody>
      </p:sp>
      <p:sp>
        <p:nvSpPr>
          <p:cNvPr id="90" name="Google Shape;90;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91" name="Google Shape;91;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17310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Ensemble Methods</a:t>
            </a:r>
            <a:endParaRPr/>
          </a:p>
        </p:txBody>
      </p:sp>
      <p:sp>
        <p:nvSpPr>
          <p:cNvPr id="97" name="Google Shape;97;p2"/>
          <p:cNvSpPr txBox="1"/>
          <p:nvPr>
            <p:ph idx="1" type="body"/>
          </p:nvPr>
        </p:nvSpPr>
        <p:spPr>
          <a:xfrm>
            <a:off x="838200" y="1609344"/>
            <a:ext cx="10515600" cy="445312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1" lang="en-US" sz="2000"/>
              <a:t>Idea</a:t>
            </a:r>
            <a:r>
              <a:rPr lang="en-US" sz="2000"/>
              <a:t>: The combination of multiple estimators (Classifier/Regressor) is better than a single estimator (e.g., Random Forest is better than a single Decision Tree).</a:t>
            </a:r>
            <a:endParaRPr/>
          </a:p>
          <a:p>
            <a:pPr indent="-228600" lvl="0" marL="228600" rtl="0" algn="l">
              <a:lnSpc>
                <a:spcPct val="90000"/>
              </a:lnSpc>
              <a:spcBef>
                <a:spcPts val="1000"/>
              </a:spcBef>
              <a:spcAft>
                <a:spcPts val="0"/>
              </a:spcAft>
              <a:buClr>
                <a:schemeClr val="dk1"/>
              </a:buClr>
              <a:buSzPts val="2000"/>
              <a:buChar char="•"/>
            </a:pPr>
            <a:r>
              <a:rPr lang="en-US" sz="2000"/>
              <a:t>Estimators are typically decision trees, but any algorithm can be used (e.g. Linear/Logistic Regression, even Neural Networks).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98" name="Google Shape;98;p2"/>
          <p:cNvPicPr preferRelativeResize="0"/>
          <p:nvPr/>
        </p:nvPicPr>
        <p:blipFill rotWithShape="1">
          <a:blip r:embed="rId3">
            <a:alphaModFix/>
          </a:blip>
          <a:srcRect b="0" l="0" r="0" t="0"/>
          <a:stretch/>
        </p:blipFill>
        <p:spPr>
          <a:xfrm>
            <a:off x="2257388" y="3350341"/>
            <a:ext cx="7677223" cy="2367879"/>
          </a:xfrm>
          <a:prstGeom prst="rect">
            <a:avLst/>
          </a:prstGeom>
          <a:noFill/>
          <a:ln>
            <a:noFill/>
          </a:ln>
        </p:spPr>
      </p:pic>
      <p:sp>
        <p:nvSpPr>
          <p:cNvPr id="99" name="Google Shape;9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100" name="Google Shape;10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838200" y="14566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Voting</a:t>
            </a:r>
            <a:endParaRPr/>
          </a:p>
        </p:txBody>
      </p:sp>
      <p:sp>
        <p:nvSpPr>
          <p:cNvPr id="106" name="Google Shape;106;p3"/>
          <p:cNvSpPr txBox="1"/>
          <p:nvPr>
            <p:ph idx="1" type="body"/>
          </p:nvPr>
        </p:nvSpPr>
        <p:spPr>
          <a:xfrm>
            <a:off x="679518" y="1513714"/>
            <a:ext cx="6870760" cy="468490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Train multiple estimators of different models (algorithms) in the same training set.</a:t>
            </a:r>
            <a:endParaRPr/>
          </a:p>
          <a:p>
            <a:pPr indent="-228600" lvl="0" marL="228600" rtl="0" algn="l">
              <a:lnSpc>
                <a:spcPct val="90000"/>
              </a:lnSpc>
              <a:spcBef>
                <a:spcPts val="1000"/>
              </a:spcBef>
              <a:spcAft>
                <a:spcPts val="0"/>
              </a:spcAft>
              <a:buClr>
                <a:schemeClr val="dk1"/>
              </a:buClr>
              <a:buSzPts val="2000"/>
              <a:buChar char="•"/>
            </a:pPr>
            <a:r>
              <a:rPr lang="en-US" sz="2000"/>
              <a:t>For each new instance:</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Each estimator generates an output.</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The final output is decided using hard or soft voting.</a:t>
            </a:r>
            <a:endParaRPr/>
          </a:p>
          <a:p>
            <a:pPr indent="-228600" lvl="0" marL="228600" rtl="0" algn="l">
              <a:lnSpc>
                <a:spcPct val="90000"/>
              </a:lnSpc>
              <a:spcBef>
                <a:spcPts val="1000"/>
              </a:spcBef>
              <a:spcAft>
                <a:spcPts val="0"/>
              </a:spcAft>
              <a:buClr>
                <a:schemeClr val="dk1"/>
              </a:buClr>
              <a:buSzPts val="2000"/>
              <a:buChar char="•"/>
            </a:pPr>
            <a:r>
              <a:rPr b="1" lang="en-US" sz="2000"/>
              <a:t>Hard Voting</a:t>
            </a:r>
            <a:r>
              <a:rPr lang="en-US" sz="2000"/>
              <a:t>:  The output becomes the majority vote (Classification only).</a:t>
            </a:r>
            <a:endParaRPr sz="2000"/>
          </a:p>
          <a:p>
            <a:pPr indent="-228600" lvl="0" marL="228600" rtl="0" algn="l">
              <a:lnSpc>
                <a:spcPct val="90000"/>
              </a:lnSpc>
              <a:spcBef>
                <a:spcPts val="1000"/>
              </a:spcBef>
              <a:spcAft>
                <a:spcPts val="0"/>
              </a:spcAft>
              <a:buClr>
                <a:schemeClr val="dk1"/>
              </a:buClr>
              <a:buSzPts val="2000"/>
              <a:buChar char="•"/>
            </a:pPr>
            <a:r>
              <a:rPr b="1" lang="en-US" sz="2000"/>
              <a:t>Soft Voting</a:t>
            </a:r>
            <a:r>
              <a:rPr lang="en-US" sz="2000"/>
              <a:t>: </a:t>
            </a:r>
            <a:endParaRPr sz="2000"/>
          </a:p>
          <a:p>
            <a:pPr indent="-228600" lvl="1" marL="685800" rtl="0" algn="l">
              <a:lnSpc>
                <a:spcPct val="90000"/>
              </a:lnSpc>
              <a:spcBef>
                <a:spcPts val="500"/>
              </a:spcBef>
              <a:spcAft>
                <a:spcPts val="0"/>
              </a:spcAft>
              <a:buClr>
                <a:schemeClr val="dk1"/>
              </a:buClr>
              <a:buSzPts val="1600"/>
              <a:buFont typeface="Noto Sans Symbols"/>
              <a:buChar char="⮚"/>
            </a:pPr>
            <a:r>
              <a:rPr lang="en-US" sz="1600"/>
              <a:t>Classification: Each estimator produces a probability of the instance belonging to a specific class. Then, we compute the average probability for each class. Finally, we select the class with the highest average probability. </a:t>
            </a:r>
            <a:endParaRPr sz="1600"/>
          </a:p>
          <a:p>
            <a:pPr indent="-228600" lvl="1" marL="685800" rtl="0" algn="l">
              <a:lnSpc>
                <a:spcPct val="90000"/>
              </a:lnSpc>
              <a:spcBef>
                <a:spcPts val="500"/>
              </a:spcBef>
              <a:spcAft>
                <a:spcPts val="0"/>
              </a:spcAft>
              <a:buClr>
                <a:schemeClr val="dk1"/>
              </a:buClr>
              <a:buSzPts val="1600"/>
              <a:buFont typeface="Noto Sans Symbols"/>
              <a:buChar char="⮚"/>
            </a:pPr>
            <a:r>
              <a:rPr lang="en-US" sz="1600"/>
              <a:t>Regression: The output is the average output value of all regressors.</a:t>
            </a:r>
            <a:endParaRPr/>
          </a:p>
        </p:txBody>
      </p:sp>
      <p:grpSp>
        <p:nvGrpSpPr>
          <p:cNvPr id="107" name="Google Shape;107;p3"/>
          <p:cNvGrpSpPr/>
          <p:nvPr/>
        </p:nvGrpSpPr>
        <p:grpSpPr>
          <a:xfrm>
            <a:off x="7550278" y="1760602"/>
            <a:ext cx="4439249" cy="3143689"/>
            <a:chOff x="7882130" y="2550504"/>
            <a:chExt cx="4439249" cy="3143689"/>
          </a:xfrm>
        </p:grpSpPr>
        <p:pic>
          <p:nvPicPr>
            <p:cNvPr id="108" name="Google Shape;108;p3"/>
            <p:cNvPicPr preferRelativeResize="0"/>
            <p:nvPr/>
          </p:nvPicPr>
          <p:blipFill rotWithShape="1">
            <a:blip r:embed="rId3">
              <a:alphaModFix/>
            </a:blip>
            <a:srcRect b="0" l="0" r="0" t="0"/>
            <a:stretch/>
          </p:blipFill>
          <p:spPr>
            <a:xfrm>
              <a:off x="7882130" y="2550504"/>
              <a:ext cx="2791215" cy="3143689"/>
            </a:xfrm>
            <a:prstGeom prst="rect">
              <a:avLst/>
            </a:prstGeom>
            <a:noFill/>
            <a:ln>
              <a:noFill/>
            </a:ln>
          </p:spPr>
        </p:pic>
        <p:cxnSp>
          <p:nvCxnSpPr>
            <p:cNvPr id="109" name="Google Shape;109;p3"/>
            <p:cNvCxnSpPr/>
            <p:nvPr/>
          </p:nvCxnSpPr>
          <p:spPr>
            <a:xfrm flipH="1" rot="10800000">
              <a:off x="8577072" y="3060441"/>
              <a:ext cx="594920" cy="1048119"/>
            </a:xfrm>
            <a:prstGeom prst="straightConnector1">
              <a:avLst/>
            </a:prstGeom>
            <a:noFill/>
            <a:ln cap="flat" cmpd="sng" w="57150">
              <a:solidFill>
                <a:schemeClr val="dk1"/>
              </a:solidFill>
              <a:prstDash val="solid"/>
              <a:miter lim="800000"/>
              <a:headEnd len="sm" w="sm" type="none"/>
              <a:tailEnd len="med" w="med" type="triangle"/>
            </a:ln>
          </p:spPr>
        </p:cxnSp>
        <p:cxnSp>
          <p:nvCxnSpPr>
            <p:cNvPr id="110" name="Google Shape;110;p3"/>
            <p:cNvCxnSpPr/>
            <p:nvPr/>
          </p:nvCxnSpPr>
          <p:spPr>
            <a:xfrm>
              <a:off x="8577072" y="4108560"/>
              <a:ext cx="594920" cy="0"/>
            </a:xfrm>
            <a:prstGeom prst="straightConnector1">
              <a:avLst/>
            </a:prstGeom>
            <a:noFill/>
            <a:ln cap="flat" cmpd="sng" w="57150">
              <a:solidFill>
                <a:schemeClr val="dk1"/>
              </a:solidFill>
              <a:prstDash val="solid"/>
              <a:miter lim="800000"/>
              <a:headEnd len="sm" w="sm" type="none"/>
              <a:tailEnd len="med" w="med" type="triangle"/>
            </a:ln>
          </p:spPr>
        </p:cxnSp>
        <p:cxnSp>
          <p:nvCxnSpPr>
            <p:cNvPr id="111" name="Google Shape;111;p3"/>
            <p:cNvCxnSpPr/>
            <p:nvPr/>
          </p:nvCxnSpPr>
          <p:spPr>
            <a:xfrm>
              <a:off x="8577072" y="4108560"/>
              <a:ext cx="594920" cy="1137774"/>
            </a:xfrm>
            <a:prstGeom prst="straightConnector1">
              <a:avLst/>
            </a:prstGeom>
            <a:noFill/>
            <a:ln cap="flat" cmpd="sng" w="57150">
              <a:solidFill>
                <a:schemeClr val="dk1"/>
              </a:solidFill>
              <a:prstDash val="solid"/>
              <a:miter lim="800000"/>
              <a:headEnd len="sm" w="sm" type="none"/>
              <a:tailEnd len="med" w="med" type="triangle"/>
            </a:ln>
          </p:spPr>
        </p:cxnSp>
        <p:cxnSp>
          <p:nvCxnSpPr>
            <p:cNvPr id="112" name="Google Shape;112;p3"/>
            <p:cNvCxnSpPr/>
            <p:nvPr/>
          </p:nvCxnSpPr>
          <p:spPr>
            <a:xfrm>
              <a:off x="10375885" y="4108560"/>
              <a:ext cx="594920" cy="0"/>
            </a:xfrm>
            <a:prstGeom prst="straightConnector1">
              <a:avLst/>
            </a:prstGeom>
            <a:noFill/>
            <a:ln cap="flat" cmpd="sng" w="57150">
              <a:solidFill>
                <a:schemeClr val="dk1"/>
              </a:solidFill>
              <a:prstDash val="solid"/>
              <a:miter lim="800000"/>
              <a:headEnd len="sm" w="sm" type="none"/>
              <a:tailEnd len="med" w="med" type="triangle"/>
            </a:ln>
          </p:spPr>
        </p:cxnSp>
        <p:sp>
          <p:nvSpPr>
            <p:cNvPr id="113" name="Google Shape;113;p3"/>
            <p:cNvSpPr/>
            <p:nvPr/>
          </p:nvSpPr>
          <p:spPr>
            <a:xfrm>
              <a:off x="11003649" y="3823608"/>
              <a:ext cx="1317730" cy="569903"/>
            </a:xfrm>
            <a:prstGeom prst="roundRect">
              <a:avLst>
                <a:gd fmla="val 16667" name="adj"/>
              </a:avLst>
            </a:prstGeom>
            <a:gradFill>
              <a:gsLst>
                <a:gs pos="0">
                  <a:srgbClr val="9ACEF4"/>
                </a:gs>
                <a:gs pos="50000">
                  <a:srgbClr val="8DC3EA"/>
                </a:gs>
                <a:gs pos="100000">
                  <a:srgbClr val="78BDED"/>
                </a:gs>
              </a:gsLst>
              <a:lin ang="5400000" scaled="0"/>
            </a:gra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Arial"/>
                  <a:ea typeface="Arial"/>
                  <a:cs typeface="Arial"/>
                  <a:sym typeface="Arial"/>
                </a:rPr>
                <a:t>Hard/Soft Voting</a:t>
              </a:r>
              <a:endParaRPr/>
            </a:p>
          </p:txBody>
        </p:sp>
      </p:grpSp>
      <p:sp>
        <p:nvSpPr>
          <p:cNvPr id="114" name="Google Shape;11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115" name="Google Shape;11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Hard vs Soft Voting Classification Example</a:t>
            </a:r>
            <a:endParaRPr/>
          </a:p>
        </p:txBody>
      </p:sp>
      <p:pic>
        <p:nvPicPr>
          <p:cNvPr descr="The figure shows with an example how both hard and soft voting work.... |  Download Scientific Diagram" id="121" name="Google Shape;121;p4"/>
          <p:cNvPicPr preferRelativeResize="0"/>
          <p:nvPr/>
        </p:nvPicPr>
        <p:blipFill rotWithShape="1">
          <a:blip r:embed="rId3">
            <a:alphaModFix/>
          </a:blip>
          <a:srcRect b="0" l="0" r="0" t="0"/>
          <a:stretch/>
        </p:blipFill>
        <p:spPr>
          <a:xfrm>
            <a:off x="1255936" y="1718303"/>
            <a:ext cx="10097864" cy="3421394"/>
          </a:xfrm>
          <a:prstGeom prst="rect">
            <a:avLst/>
          </a:prstGeom>
          <a:noFill/>
          <a:ln>
            <a:noFill/>
          </a:ln>
        </p:spPr>
      </p:pic>
      <p:sp>
        <p:nvSpPr>
          <p:cNvPr id="122" name="Google Shape;122;p4"/>
          <p:cNvSpPr txBox="1"/>
          <p:nvPr/>
        </p:nvSpPr>
        <p:spPr>
          <a:xfrm>
            <a:off x="6508313" y="5139697"/>
            <a:ext cx="4427751" cy="61273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800" u="none" cap="none" strike="noStrike">
                <a:latin typeface="Arial"/>
                <a:ea typeface="Arial"/>
                <a:cs typeface="Arial"/>
                <a:sym typeface="Arial"/>
              </a:rPr>
              <a:t> </a:t>
            </a:r>
            <a:endParaRPr/>
          </a:p>
        </p:txBody>
      </p:sp>
      <p:sp>
        <p:nvSpPr>
          <p:cNvPr id="123" name="Google Shape;123;p4"/>
          <p:cNvSpPr txBox="1"/>
          <p:nvPr/>
        </p:nvSpPr>
        <p:spPr>
          <a:xfrm>
            <a:off x="6508313" y="5859025"/>
            <a:ext cx="4427751" cy="612732"/>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sp>
        <p:nvSpPr>
          <p:cNvPr id="124" name="Google Shape;124;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125" name="Google Shape;1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Bagging</a:t>
            </a:r>
            <a:endParaRPr/>
          </a:p>
        </p:txBody>
      </p:sp>
      <p:sp>
        <p:nvSpPr>
          <p:cNvPr id="131" name="Google Shape;131;p5"/>
          <p:cNvSpPr txBox="1"/>
          <p:nvPr>
            <p:ph idx="1" type="body"/>
          </p:nvPr>
        </p:nvSpPr>
        <p:spPr>
          <a:xfrm>
            <a:off x="838199" y="1673352"/>
            <a:ext cx="5801837" cy="450361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Combines multiple estimators of the same algorithm.</a:t>
            </a:r>
            <a:endParaRPr sz="2000"/>
          </a:p>
          <a:p>
            <a:pPr indent="-228600" lvl="0" marL="228600" rtl="0" algn="l">
              <a:lnSpc>
                <a:spcPct val="90000"/>
              </a:lnSpc>
              <a:spcBef>
                <a:spcPts val="1000"/>
              </a:spcBef>
              <a:spcAft>
                <a:spcPts val="0"/>
              </a:spcAft>
              <a:buClr>
                <a:schemeClr val="dk1"/>
              </a:buClr>
              <a:buSzPts val="2000"/>
              <a:buChar char="•"/>
            </a:pPr>
            <a:r>
              <a:rPr lang="en-US" sz="2000"/>
              <a:t>Each estimator is trained on a subset of the initial training set (different samples/observations). The subsets are created using sampling with replacement.</a:t>
            </a:r>
            <a:endParaRPr/>
          </a:p>
          <a:p>
            <a:pPr indent="-228600" lvl="0" marL="228600" rtl="0" algn="l">
              <a:lnSpc>
                <a:spcPct val="90000"/>
              </a:lnSpc>
              <a:spcBef>
                <a:spcPts val="1000"/>
              </a:spcBef>
              <a:spcAft>
                <a:spcPts val="0"/>
              </a:spcAft>
              <a:buClr>
                <a:schemeClr val="dk1"/>
              </a:buClr>
              <a:buSzPts val="2000"/>
              <a:buChar char="•"/>
            </a:pPr>
            <a:r>
              <a:rPr lang="en-US" sz="2000"/>
              <a:t>For each new instance, each model produces an output. Then, we calculate the final output as below:</a:t>
            </a:r>
            <a:endParaRPr/>
          </a:p>
          <a:p>
            <a:pPr indent="-228600" lvl="1" marL="685800" rtl="0" algn="l">
              <a:lnSpc>
                <a:spcPct val="90000"/>
              </a:lnSpc>
              <a:spcBef>
                <a:spcPts val="500"/>
              </a:spcBef>
              <a:spcAft>
                <a:spcPts val="0"/>
              </a:spcAft>
              <a:buClr>
                <a:schemeClr val="dk1"/>
              </a:buClr>
              <a:buSzPts val="1600"/>
              <a:buFont typeface="Noto Sans Symbols"/>
              <a:buChar char="⮚"/>
            </a:pPr>
            <a:r>
              <a:rPr b="1" lang="en-US" sz="1600"/>
              <a:t>Averaging</a:t>
            </a:r>
            <a:r>
              <a:rPr lang="en-US" sz="1600"/>
              <a:t>: The average value of all estimators (Regression).</a:t>
            </a:r>
            <a:endParaRPr/>
          </a:p>
          <a:p>
            <a:pPr indent="-228600" lvl="1" marL="685800" rtl="0" algn="l">
              <a:lnSpc>
                <a:spcPct val="90000"/>
              </a:lnSpc>
              <a:spcBef>
                <a:spcPts val="500"/>
              </a:spcBef>
              <a:spcAft>
                <a:spcPts val="0"/>
              </a:spcAft>
              <a:buClr>
                <a:schemeClr val="dk1"/>
              </a:buClr>
              <a:buSzPts val="1600"/>
              <a:buFont typeface="Noto Sans Symbols"/>
              <a:buChar char="⮚"/>
            </a:pPr>
            <a:r>
              <a:rPr b="1" lang="en-US" sz="1600"/>
              <a:t>Majority Vote</a:t>
            </a:r>
            <a:r>
              <a:rPr lang="en-US" sz="1600"/>
              <a:t>: The class with most of the votes (Classification).</a:t>
            </a:r>
            <a:endParaRPr sz="1600"/>
          </a:p>
          <a:p>
            <a:pPr indent="-76200" lvl="0" marL="228600" rtl="0" algn="l">
              <a:lnSpc>
                <a:spcPct val="90000"/>
              </a:lnSpc>
              <a:spcBef>
                <a:spcPts val="1000"/>
              </a:spcBef>
              <a:spcAft>
                <a:spcPts val="0"/>
              </a:spcAft>
              <a:buClr>
                <a:schemeClr val="dk1"/>
              </a:buClr>
              <a:buSzPts val="2400"/>
              <a:buNone/>
            </a:pPr>
            <a:r>
              <a:t/>
            </a:r>
            <a:endParaRPr sz="2400"/>
          </a:p>
        </p:txBody>
      </p:sp>
      <p:sp>
        <p:nvSpPr>
          <p:cNvPr id="132" name="Google Shape;13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133" name="Google Shape;133;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134" name="Google Shape;134;p5"/>
          <p:cNvGrpSpPr/>
          <p:nvPr/>
        </p:nvGrpSpPr>
        <p:grpSpPr>
          <a:xfrm>
            <a:off x="6673564" y="2015483"/>
            <a:ext cx="5338602" cy="3787471"/>
            <a:chOff x="6902999" y="2244352"/>
            <a:chExt cx="5338602" cy="3787471"/>
          </a:xfrm>
        </p:grpSpPr>
        <p:pic>
          <p:nvPicPr>
            <p:cNvPr id="135" name="Google Shape;135;p5"/>
            <p:cNvPicPr preferRelativeResize="0"/>
            <p:nvPr/>
          </p:nvPicPr>
          <p:blipFill rotWithShape="1">
            <a:blip r:embed="rId3">
              <a:alphaModFix/>
            </a:blip>
            <a:srcRect b="0" l="0" r="0" t="0"/>
            <a:stretch/>
          </p:blipFill>
          <p:spPr>
            <a:xfrm>
              <a:off x="6902999" y="2244352"/>
              <a:ext cx="4629132" cy="3787471"/>
            </a:xfrm>
            <a:prstGeom prst="rect">
              <a:avLst/>
            </a:prstGeom>
            <a:noFill/>
            <a:ln>
              <a:noFill/>
            </a:ln>
          </p:spPr>
        </p:pic>
        <p:sp>
          <p:nvSpPr>
            <p:cNvPr id="136" name="Google Shape;136;p5"/>
            <p:cNvSpPr txBox="1"/>
            <p:nvPr/>
          </p:nvSpPr>
          <p:spPr>
            <a:xfrm>
              <a:off x="10875633" y="2826264"/>
              <a:ext cx="472052" cy="369332"/>
            </a:xfrm>
            <a:prstGeom prst="rect">
              <a:avLst/>
            </a:prstGeom>
            <a:blipFill rotWithShape="1">
              <a:blip r:embed="rId4">
                <a:alphaModFix/>
              </a:blip>
              <a:stretch>
                <a:fillRect b="-9835" l="0" r="-5127" t="-327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sp>
          <p:nvSpPr>
            <p:cNvPr id="137" name="Google Shape;137;p5"/>
            <p:cNvSpPr txBox="1"/>
            <p:nvPr/>
          </p:nvSpPr>
          <p:spPr>
            <a:xfrm>
              <a:off x="10506825" y="3491723"/>
              <a:ext cx="477375" cy="369332"/>
            </a:xfrm>
            <a:prstGeom prst="rect">
              <a:avLst/>
            </a:prstGeom>
            <a:blipFill rotWithShape="1">
              <a:blip r:embed="rId5">
                <a:alphaModFix/>
              </a:blip>
              <a:stretch>
                <a:fillRect b="-9835" l="0" r="-6407" t="-327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sp>
          <p:nvSpPr>
            <p:cNvPr id="138" name="Google Shape;138;p5"/>
            <p:cNvSpPr txBox="1"/>
            <p:nvPr/>
          </p:nvSpPr>
          <p:spPr>
            <a:xfrm>
              <a:off x="10900852" y="4752309"/>
              <a:ext cx="477375" cy="369332"/>
            </a:xfrm>
            <a:prstGeom prst="rect">
              <a:avLst/>
            </a:prstGeom>
            <a:blipFill rotWithShape="1">
              <a:blip r:embed="rId6">
                <a:alphaModFix/>
              </a:blip>
              <a:stretch>
                <a:fillRect b="-9835" l="0" r="-6407" t="-327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sp>
          <p:nvSpPr>
            <p:cNvPr id="139" name="Google Shape;139;p5"/>
            <p:cNvSpPr/>
            <p:nvPr/>
          </p:nvSpPr>
          <p:spPr>
            <a:xfrm>
              <a:off x="10984201" y="3631238"/>
              <a:ext cx="1257400" cy="620006"/>
            </a:xfrm>
            <a:prstGeom prst="rect">
              <a:avLst/>
            </a:prstGeom>
            <a:solidFill>
              <a:schemeClr val="accen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Hard ή Soft</a:t>
              </a:r>
              <a:br>
                <a:rPr lang="en-US" sz="1600">
                  <a:solidFill>
                    <a:schemeClr val="lt1"/>
                  </a:solidFill>
                  <a:latin typeface="Arial"/>
                  <a:ea typeface="Arial"/>
                  <a:cs typeface="Arial"/>
                  <a:sym typeface="Arial"/>
                </a:rPr>
              </a:br>
              <a:r>
                <a:rPr lang="en-US" sz="1600">
                  <a:solidFill>
                    <a:schemeClr val="lt1"/>
                  </a:solidFill>
                  <a:latin typeface="Arial"/>
                  <a:ea typeface="Arial"/>
                  <a:cs typeface="Arial"/>
                  <a:sym typeface="Arial"/>
                </a:rPr>
                <a:t>Voting</a:t>
              </a:r>
              <a:endParaRPr sz="1800">
                <a:solidFill>
                  <a:schemeClr val="lt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Voting vs Bagging</a:t>
            </a:r>
            <a:endParaRPr/>
          </a:p>
        </p:txBody>
      </p:sp>
      <p:sp>
        <p:nvSpPr>
          <p:cNvPr id="145" name="Google Shape;14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146" name="Google Shape;14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47" name="Google Shape;147;p6"/>
          <p:cNvGraphicFramePr/>
          <p:nvPr/>
        </p:nvGraphicFramePr>
        <p:xfrm>
          <a:off x="567221" y="2014201"/>
          <a:ext cx="3000000" cy="3000000"/>
        </p:xfrm>
        <a:graphic>
          <a:graphicData uri="http://schemas.openxmlformats.org/drawingml/2006/table">
            <a:tbl>
              <a:tblPr bandRow="1" firstRow="1">
                <a:noFill/>
                <a:tableStyleId>{5A01109C-3C73-4588-8353-36F55F7C9E74}</a:tableStyleId>
              </a:tblPr>
              <a:tblGrid>
                <a:gridCol w="2280725"/>
                <a:gridCol w="3968500"/>
                <a:gridCol w="5148075"/>
              </a:tblGrid>
              <a:tr h="370850">
                <a:tc>
                  <a:txBody>
                    <a:bodyPr/>
                    <a:lstStyle/>
                    <a:p>
                      <a:pPr indent="0" lvl="0" marL="0" marR="0" rtl="0" algn="l">
                        <a:spcBef>
                          <a:spcPts val="0"/>
                        </a:spcBef>
                        <a:spcAft>
                          <a:spcPts val="0"/>
                        </a:spcAft>
                        <a:buNone/>
                      </a:pPr>
                      <a:r>
                        <a:rPr lang="en-US" sz="1800" u="none" cap="none" strike="noStrike"/>
                        <a:t>Settings</a:t>
                      </a:r>
                      <a:endParaRPr/>
                    </a:p>
                  </a:txBody>
                  <a:tcPr marT="45725" marB="45725" marR="91450" marL="91450"/>
                </a:tc>
                <a:tc>
                  <a:txBody>
                    <a:bodyPr/>
                    <a:lstStyle/>
                    <a:p>
                      <a:pPr indent="0" lvl="0" marL="0" marR="0" rtl="0" algn="l">
                        <a:spcBef>
                          <a:spcPts val="0"/>
                        </a:spcBef>
                        <a:spcAft>
                          <a:spcPts val="0"/>
                        </a:spcAft>
                        <a:buNone/>
                      </a:pPr>
                      <a:r>
                        <a:rPr lang="en-US" sz="1800"/>
                        <a:t>Voting</a:t>
                      </a:r>
                      <a:endParaRPr/>
                    </a:p>
                  </a:txBody>
                  <a:tcPr marT="45725" marB="45725" marR="91450" marL="91450"/>
                </a:tc>
                <a:tc>
                  <a:txBody>
                    <a:bodyPr/>
                    <a:lstStyle/>
                    <a:p>
                      <a:pPr indent="0" lvl="0" marL="0" marR="0" rtl="0" algn="l">
                        <a:spcBef>
                          <a:spcPts val="0"/>
                        </a:spcBef>
                        <a:spcAft>
                          <a:spcPts val="0"/>
                        </a:spcAft>
                        <a:buNone/>
                      </a:pPr>
                      <a:r>
                        <a:rPr lang="en-US" sz="1800"/>
                        <a:t>Bagging</a:t>
                      </a:r>
                      <a:endParaRPr/>
                    </a:p>
                  </a:txBody>
                  <a:tcPr marT="45725" marB="45725" marR="91450" marL="91450"/>
                </a:tc>
              </a:tr>
              <a:tr h="370850">
                <a:tc>
                  <a:txBody>
                    <a:bodyPr/>
                    <a:lstStyle/>
                    <a:p>
                      <a:pPr indent="0" lvl="0" marL="0" marR="0" rtl="0" algn="l">
                        <a:spcBef>
                          <a:spcPts val="0"/>
                        </a:spcBef>
                        <a:spcAft>
                          <a:spcPts val="0"/>
                        </a:spcAft>
                        <a:buNone/>
                      </a:pPr>
                      <a:r>
                        <a:rPr lang="en-US" sz="1600"/>
                        <a:t>Estimators</a:t>
                      </a:r>
                      <a:endParaRPr/>
                    </a:p>
                  </a:txBody>
                  <a:tcPr marT="45725" marB="45725" marR="91450" marL="91450"/>
                </a:tc>
                <a:tc>
                  <a:txBody>
                    <a:bodyPr/>
                    <a:lstStyle/>
                    <a:p>
                      <a:pPr indent="0" lvl="0" marL="0" marR="0" rtl="0" algn="l">
                        <a:spcBef>
                          <a:spcPts val="0"/>
                        </a:spcBef>
                        <a:spcAft>
                          <a:spcPts val="0"/>
                        </a:spcAft>
                        <a:buNone/>
                      </a:pPr>
                      <a:r>
                        <a:rPr lang="en-US" sz="1600"/>
                        <a:t>Different</a:t>
                      </a:r>
                      <a:endParaRPr/>
                    </a:p>
                  </a:txBody>
                  <a:tcPr marT="45725" marB="45725" marR="91450" marL="91450"/>
                </a:tc>
                <a:tc>
                  <a:txBody>
                    <a:bodyPr/>
                    <a:lstStyle/>
                    <a:p>
                      <a:pPr indent="0" lvl="0" marL="0" marR="0" rtl="0" algn="l">
                        <a:spcBef>
                          <a:spcPts val="0"/>
                        </a:spcBef>
                        <a:spcAft>
                          <a:spcPts val="0"/>
                        </a:spcAft>
                        <a:buNone/>
                      </a:pPr>
                      <a:r>
                        <a:rPr lang="en-US" sz="1600"/>
                        <a:t>Same</a:t>
                      </a:r>
                      <a:endParaRPr/>
                    </a:p>
                  </a:txBody>
                  <a:tcPr marT="45725" marB="45725" marR="91450" marL="91450"/>
                </a:tc>
              </a:tr>
              <a:tr h="370850">
                <a:tc>
                  <a:txBody>
                    <a:bodyPr/>
                    <a:lstStyle/>
                    <a:p>
                      <a:pPr indent="0" lvl="0" marL="0" marR="0" rtl="0" algn="l">
                        <a:spcBef>
                          <a:spcPts val="0"/>
                        </a:spcBef>
                        <a:spcAft>
                          <a:spcPts val="0"/>
                        </a:spcAft>
                        <a:buNone/>
                      </a:pPr>
                      <a:r>
                        <a:rPr lang="en-US" sz="1600"/>
                        <a:t>Dataset</a:t>
                      </a:r>
                      <a:endParaRPr/>
                    </a:p>
                  </a:txBody>
                  <a:tcPr marT="45725" marB="45725" marR="91450" marL="91450"/>
                </a:tc>
                <a:tc>
                  <a:txBody>
                    <a:bodyPr/>
                    <a:lstStyle/>
                    <a:p>
                      <a:pPr indent="0" lvl="0" marL="0" marR="0" rtl="0" algn="l">
                        <a:spcBef>
                          <a:spcPts val="0"/>
                        </a:spcBef>
                        <a:spcAft>
                          <a:spcPts val="0"/>
                        </a:spcAft>
                        <a:buNone/>
                      </a:pPr>
                      <a:r>
                        <a:rPr lang="en-US" sz="1600"/>
                        <a:t>Same</a:t>
                      </a:r>
                      <a:endParaRPr/>
                    </a:p>
                  </a:txBody>
                  <a:tcPr marT="45725" marB="45725" marR="91450" marL="91450"/>
                </a:tc>
                <a:tc>
                  <a:txBody>
                    <a:bodyPr/>
                    <a:lstStyle/>
                    <a:p>
                      <a:pPr indent="0" lvl="0" marL="0" marR="0" rtl="0" algn="l">
                        <a:spcBef>
                          <a:spcPts val="0"/>
                        </a:spcBef>
                        <a:spcAft>
                          <a:spcPts val="0"/>
                        </a:spcAft>
                        <a:buNone/>
                      </a:pPr>
                      <a:r>
                        <a:rPr lang="en-US" sz="1600"/>
                        <a:t>Subsets (same features, different samples)</a:t>
                      </a:r>
                      <a:endParaRPr/>
                    </a:p>
                  </a:txBody>
                  <a:tcPr marT="45725" marB="45725" marR="91450" marL="91450"/>
                </a:tc>
              </a:tr>
              <a:tr h="370850">
                <a:tc>
                  <a:txBody>
                    <a:bodyPr/>
                    <a:lstStyle/>
                    <a:p>
                      <a:pPr indent="0" lvl="0" marL="0" marR="0" rtl="0" algn="l">
                        <a:spcBef>
                          <a:spcPts val="0"/>
                        </a:spcBef>
                        <a:spcAft>
                          <a:spcPts val="0"/>
                        </a:spcAft>
                        <a:buNone/>
                      </a:pPr>
                      <a:r>
                        <a:rPr lang="en-US" sz="1600"/>
                        <a:t>Goal</a:t>
                      </a:r>
                      <a:endParaRPr/>
                    </a:p>
                  </a:txBody>
                  <a:tcPr marT="45725" marB="45725" marR="91450" marL="91450"/>
                </a:tc>
                <a:tc>
                  <a:txBody>
                    <a:bodyPr/>
                    <a:lstStyle/>
                    <a:p>
                      <a:pPr indent="0" lvl="0" marL="0" marR="0" rtl="0" algn="l">
                        <a:spcBef>
                          <a:spcPts val="0"/>
                        </a:spcBef>
                        <a:spcAft>
                          <a:spcPts val="0"/>
                        </a:spcAft>
                        <a:buNone/>
                      </a:pPr>
                      <a:r>
                        <a:rPr lang="en-US" sz="1600"/>
                        <a:t>Combine strengths of diverse models</a:t>
                      </a:r>
                      <a:endParaRPr/>
                    </a:p>
                  </a:txBody>
                  <a:tcPr marT="45725" marB="45725" marR="91450" marL="91450"/>
                </a:tc>
                <a:tc>
                  <a:txBody>
                    <a:bodyPr/>
                    <a:lstStyle/>
                    <a:p>
                      <a:pPr indent="0" lvl="0" marL="0" marR="0" rtl="0" algn="l">
                        <a:spcBef>
                          <a:spcPts val="0"/>
                        </a:spcBef>
                        <a:spcAft>
                          <a:spcPts val="0"/>
                        </a:spcAft>
                        <a:buNone/>
                      </a:pPr>
                      <a:r>
                        <a:rPr lang="en-US" sz="1600"/>
                        <a:t>Reduce variance and prevent overfitting</a:t>
                      </a:r>
                      <a:endParaRPr/>
                    </a:p>
                  </a:txBody>
                  <a:tcPr marT="45725" marB="45725" marR="91450" marL="91450" anchor="ctr"/>
                </a:tc>
              </a:tr>
              <a:tr h="370850">
                <a:tc>
                  <a:txBody>
                    <a:bodyPr/>
                    <a:lstStyle/>
                    <a:p>
                      <a:pPr indent="0" lvl="0" marL="0" marR="0" rtl="0" algn="l">
                        <a:spcBef>
                          <a:spcPts val="0"/>
                        </a:spcBef>
                        <a:spcAft>
                          <a:spcPts val="0"/>
                        </a:spcAft>
                        <a:buNone/>
                      </a:pPr>
                      <a:r>
                        <a:rPr lang="en-US" sz="1600"/>
                        <a:t>Sampling</a:t>
                      </a:r>
                      <a:endParaRPr/>
                    </a:p>
                  </a:txBody>
                  <a:tcPr marT="45725" marB="45725" marR="91450" marL="91450"/>
                </a:tc>
                <a:tc>
                  <a:txBody>
                    <a:bodyPr/>
                    <a:lstStyle/>
                    <a:p>
                      <a:pPr indent="0" lvl="0" marL="0" marR="0" rtl="0" algn="l">
                        <a:spcBef>
                          <a:spcPts val="0"/>
                        </a:spcBef>
                        <a:spcAft>
                          <a:spcPts val="0"/>
                        </a:spcAft>
                        <a:buNone/>
                      </a:pPr>
                      <a:r>
                        <a:rPr lang="en-US" sz="1600"/>
                        <a:t>No sampling</a:t>
                      </a:r>
                      <a:endParaRPr/>
                    </a:p>
                  </a:txBody>
                  <a:tcPr marT="45725" marB="45725" marR="91450" marL="91450"/>
                </a:tc>
                <a:tc>
                  <a:txBody>
                    <a:bodyPr/>
                    <a:lstStyle/>
                    <a:p>
                      <a:pPr indent="0" lvl="0" marL="0" marR="0" rtl="0" algn="l">
                        <a:spcBef>
                          <a:spcPts val="0"/>
                        </a:spcBef>
                        <a:spcAft>
                          <a:spcPts val="0"/>
                        </a:spcAft>
                        <a:buNone/>
                      </a:pPr>
                      <a:r>
                        <a:rPr lang="en-US" sz="1600"/>
                        <a:t>Sampling with replacement</a:t>
                      </a:r>
                      <a:endParaRPr/>
                    </a:p>
                  </a:txBody>
                  <a:tcPr marT="45725" marB="45725" marR="91450" marL="91450"/>
                </a:tc>
              </a:tr>
              <a:tr h="370850">
                <a:tc>
                  <a:txBody>
                    <a:bodyPr/>
                    <a:lstStyle/>
                    <a:p>
                      <a:pPr indent="0" lvl="0" marL="0" marR="0" rtl="0" algn="l">
                        <a:spcBef>
                          <a:spcPts val="0"/>
                        </a:spcBef>
                        <a:spcAft>
                          <a:spcPts val="0"/>
                        </a:spcAft>
                        <a:buNone/>
                      </a:pPr>
                      <a:r>
                        <a:rPr lang="en-US" sz="1600"/>
                        <a:t>Output Combination</a:t>
                      </a:r>
                      <a:endParaRPr/>
                    </a:p>
                  </a:txBody>
                  <a:tcPr marT="45725" marB="45725" marR="91450" marL="91450"/>
                </a:tc>
                <a:tc>
                  <a:txBody>
                    <a:bodyPr/>
                    <a:lstStyle/>
                    <a:p>
                      <a:pPr indent="0" lvl="0" marL="0" marR="0" rtl="0" algn="l">
                        <a:spcBef>
                          <a:spcPts val="0"/>
                        </a:spcBef>
                        <a:spcAft>
                          <a:spcPts val="0"/>
                        </a:spcAft>
                        <a:buNone/>
                      </a:pPr>
                      <a:r>
                        <a:rPr lang="en-US" sz="1600"/>
                        <a:t>Hard/Soft voting</a:t>
                      </a:r>
                      <a:endParaRPr/>
                    </a:p>
                  </a:txBody>
                  <a:tcPr marT="45725" marB="45725" marR="91450" marL="91450"/>
                </a:tc>
                <a:tc>
                  <a:txBody>
                    <a:bodyPr/>
                    <a:lstStyle/>
                    <a:p>
                      <a:pPr indent="0" lvl="0" marL="0" marR="0" rtl="0" algn="l">
                        <a:spcBef>
                          <a:spcPts val="0"/>
                        </a:spcBef>
                        <a:spcAft>
                          <a:spcPts val="0"/>
                        </a:spcAft>
                        <a:buNone/>
                      </a:pPr>
                      <a:r>
                        <a:rPr lang="en-US" sz="1600"/>
                        <a:t>Averaging/Majority vote</a:t>
                      </a:r>
                      <a:endParaRPr/>
                    </a:p>
                  </a:txBody>
                  <a:tcPr marT="45725" marB="45725" marR="91450" marL="91450"/>
                </a:tc>
              </a:tr>
              <a:tr h="370850">
                <a:tc>
                  <a:txBody>
                    <a:bodyPr/>
                    <a:lstStyle/>
                    <a:p>
                      <a:pPr indent="0" lvl="0" marL="0" marR="0" rtl="0" algn="l">
                        <a:spcBef>
                          <a:spcPts val="0"/>
                        </a:spcBef>
                        <a:spcAft>
                          <a:spcPts val="0"/>
                        </a:spcAft>
                        <a:buNone/>
                      </a:pPr>
                      <a:r>
                        <a:rPr lang="en-US" sz="1600"/>
                        <a:t>Example</a:t>
                      </a:r>
                      <a:endParaRPr/>
                    </a:p>
                  </a:txBody>
                  <a:tcPr marT="45725" marB="45725" marR="91450" marL="91450"/>
                </a:tc>
                <a:tc>
                  <a:txBody>
                    <a:bodyPr/>
                    <a:lstStyle/>
                    <a:p>
                      <a:pPr indent="0" lvl="0" marL="0" marR="0" rtl="0" algn="l">
                        <a:spcBef>
                          <a:spcPts val="0"/>
                        </a:spcBef>
                        <a:spcAft>
                          <a:spcPts val="0"/>
                        </a:spcAft>
                        <a:buNone/>
                      </a:pPr>
                      <a:r>
                        <a:rPr lang="en-US" sz="1600"/>
                        <a:t>Voting: (Logistic + Decision Tree)</a:t>
                      </a:r>
                      <a:endParaRPr/>
                    </a:p>
                  </a:txBody>
                  <a:tcPr marT="45725" marB="45725" marR="91450" marL="91450"/>
                </a:tc>
                <a:tc>
                  <a:txBody>
                    <a:bodyPr/>
                    <a:lstStyle/>
                    <a:p>
                      <a:pPr indent="0" lvl="0" marL="0" marR="0" rtl="0" algn="l">
                        <a:spcBef>
                          <a:spcPts val="0"/>
                        </a:spcBef>
                        <a:spcAft>
                          <a:spcPts val="0"/>
                        </a:spcAft>
                        <a:buNone/>
                      </a:pPr>
                      <a:r>
                        <a:rPr lang="en-US" sz="1600"/>
                        <a:t>Random Forest (</a:t>
                      </a:r>
                      <a:r>
                        <a:rPr i="1" lang="en-US" sz="1600"/>
                        <a:t>N</a:t>
                      </a:r>
                      <a:r>
                        <a:rPr lang="en-US" sz="1600"/>
                        <a:t> Decision Trees)</a:t>
                      </a:r>
                      <a:endParaRPr/>
                    </a:p>
                  </a:txBody>
                  <a:tcPr marT="45725" marB="45725" marR="91450" marL="91450"/>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Random Forest</a:t>
            </a:r>
            <a:endParaRPr/>
          </a:p>
        </p:txBody>
      </p:sp>
      <p:sp>
        <p:nvSpPr>
          <p:cNvPr id="153" name="Google Shape;153;p7"/>
          <p:cNvSpPr txBox="1"/>
          <p:nvPr>
            <p:ph idx="1" type="body"/>
          </p:nvPr>
        </p:nvSpPr>
        <p:spPr>
          <a:xfrm>
            <a:off x="895350" y="1462088"/>
            <a:ext cx="5829300" cy="498554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It utilizes bagging to train multiple decision trees.</a:t>
            </a:r>
            <a:endParaRPr/>
          </a:p>
          <a:p>
            <a:pPr indent="-228600" lvl="0" marL="228600" rtl="0" algn="l">
              <a:lnSpc>
                <a:spcPct val="90000"/>
              </a:lnSpc>
              <a:spcBef>
                <a:spcPts val="1000"/>
              </a:spcBef>
              <a:spcAft>
                <a:spcPts val="0"/>
              </a:spcAft>
              <a:buClr>
                <a:schemeClr val="dk1"/>
              </a:buClr>
              <a:buSzPts val="2000"/>
              <a:buChar char="•"/>
            </a:pPr>
            <a:r>
              <a:rPr lang="en-US" sz="2000"/>
              <a:t>It extends bagging but splitting the features (columns) as well.</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It splits both samples (rows) and features (columns).</a:t>
            </a:r>
            <a:endParaRPr/>
          </a:p>
          <a:p>
            <a:pPr indent="-228600" lvl="0" marL="228600" rtl="0" algn="l">
              <a:lnSpc>
                <a:spcPct val="90000"/>
              </a:lnSpc>
              <a:spcBef>
                <a:spcPts val="1000"/>
              </a:spcBef>
              <a:spcAft>
                <a:spcPts val="0"/>
              </a:spcAft>
              <a:buClr>
                <a:schemeClr val="dk1"/>
              </a:buClr>
              <a:buSzPts val="2000"/>
              <a:buChar char="•"/>
            </a:pPr>
            <a:r>
              <a:rPr b="1" lang="en-US" sz="2000"/>
              <a:t>Idea</a:t>
            </a:r>
            <a:r>
              <a:rPr lang="en-US" sz="2000"/>
              <a:t>: Multiple Decision Trees are trained on various combinations of observations and features.</a:t>
            </a:r>
            <a:endParaRPr/>
          </a:p>
          <a:p>
            <a:pPr indent="-228600" lvl="0" marL="228600" rtl="0" algn="l">
              <a:lnSpc>
                <a:spcPct val="90000"/>
              </a:lnSpc>
              <a:spcBef>
                <a:spcPts val="1000"/>
              </a:spcBef>
              <a:spcAft>
                <a:spcPts val="0"/>
              </a:spcAft>
              <a:buClr>
                <a:schemeClr val="dk1"/>
              </a:buClr>
              <a:buSzPts val="2000"/>
              <a:buChar char="•"/>
            </a:pPr>
            <a:r>
              <a:rPr lang="en-US" sz="2000"/>
              <a:t>Benefits (For large number of trees):</a:t>
            </a:r>
            <a:endParaRPr/>
          </a:p>
          <a:p>
            <a:pPr indent="-228600" lvl="1" marL="685800" rtl="0" algn="l">
              <a:lnSpc>
                <a:spcPct val="90000"/>
              </a:lnSpc>
              <a:spcBef>
                <a:spcPts val="500"/>
              </a:spcBef>
              <a:spcAft>
                <a:spcPts val="0"/>
              </a:spcAft>
              <a:buClr>
                <a:schemeClr val="dk1"/>
              </a:buClr>
              <a:buSzPts val="1800"/>
              <a:buFont typeface="Noto Sans Symbols"/>
              <a:buChar char="⮚"/>
            </a:pPr>
            <a:r>
              <a:rPr lang="en-US" sz="1800"/>
              <a:t>Improves </a:t>
            </a:r>
            <a:r>
              <a:rPr lang="en-US" sz="1600"/>
              <a:t>generalization.</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Becomes robust to outliers (extremely uncommon inputs) &amp; noisy observations.</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Usually works well for classification tasks with small amount </a:t>
            </a:r>
            <a:r>
              <a:rPr lang="en-US" sz="1800"/>
              <a:t>of observations.</a:t>
            </a:r>
            <a:endParaRPr/>
          </a:p>
          <a:p>
            <a:pPr indent="-101600" lvl="0" marL="228600" rtl="0" algn="l">
              <a:lnSpc>
                <a:spcPct val="90000"/>
              </a:lnSpc>
              <a:spcBef>
                <a:spcPts val="1000"/>
              </a:spcBef>
              <a:spcAft>
                <a:spcPts val="0"/>
              </a:spcAft>
              <a:buClr>
                <a:schemeClr val="dk1"/>
              </a:buClr>
              <a:buSzPts val="2000"/>
              <a:buNone/>
            </a:pPr>
            <a:r>
              <a:t/>
            </a:r>
            <a:endParaRPr sz="2000"/>
          </a:p>
        </p:txBody>
      </p:sp>
      <p:sp>
        <p:nvSpPr>
          <p:cNvPr id="154" name="Google Shape;15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155" name="Google Shape;15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Random forest: Bagging Example. Ensemble learning | by Ibtissam Makdoun |  Medium" id="156" name="Google Shape;156;p7"/>
          <p:cNvPicPr preferRelativeResize="0"/>
          <p:nvPr/>
        </p:nvPicPr>
        <p:blipFill rotWithShape="1">
          <a:blip r:embed="rId3">
            <a:alphaModFix/>
          </a:blip>
          <a:srcRect b="0" l="0" r="0" t="0"/>
          <a:stretch/>
        </p:blipFill>
        <p:spPr>
          <a:xfrm>
            <a:off x="6391273" y="1968500"/>
            <a:ext cx="5715001" cy="32146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8"/>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Stacking</a:t>
            </a:r>
            <a:endParaRPr/>
          </a:p>
        </p:txBody>
      </p:sp>
      <p:sp>
        <p:nvSpPr>
          <p:cNvPr id="162" name="Google Shape;162;p8"/>
          <p:cNvSpPr txBox="1"/>
          <p:nvPr>
            <p:ph idx="1" type="body"/>
          </p:nvPr>
        </p:nvSpPr>
        <p:spPr>
          <a:xfrm>
            <a:off x="632647" y="1806400"/>
            <a:ext cx="6077716" cy="420563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1" lang="en-US" sz="2000"/>
              <a:t>Idea</a:t>
            </a:r>
            <a:r>
              <a:rPr lang="en-US" sz="2000"/>
              <a:t>: Different models (algorithms) extract different patterns from each dataset, which result in different predictions. A meta-learner (new model) can then be trained to utilize these predictions and estimate the final output.</a:t>
            </a:r>
            <a:endParaRPr/>
          </a:p>
          <a:p>
            <a:pPr indent="-228600" lvl="0" marL="228600" rtl="0" algn="l">
              <a:lnSpc>
                <a:spcPct val="90000"/>
              </a:lnSpc>
              <a:spcBef>
                <a:spcPts val="1000"/>
              </a:spcBef>
              <a:spcAft>
                <a:spcPts val="0"/>
              </a:spcAft>
              <a:buClr>
                <a:schemeClr val="dk1"/>
              </a:buClr>
              <a:buSzPts val="2000"/>
              <a:buChar char="•"/>
            </a:pPr>
            <a:r>
              <a:rPr lang="en-US" sz="2000"/>
              <a:t>Meta-learners are typically simple models, such as Linear Regression or Logistic Regression that are trained using the outputs of each trained model.</a:t>
            </a:r>
            <a:endParaRPr/>
          </a:p>
          <a:p>
            <a:pPr indent="-228600" lvl="0" marL="228600" rtl="0" algn="l">
              <a:lnSpc>
                <a:spcPct val="90000"/>
              </a:lnSpc>
              <a:spcBef>
                <a:spcPts val="1000"/>
              </a:spcBef>
              <a:spcAft>
                <a:spcPts val="0"/>
              </a:spcAft>
              <a:buClr>
                <a:schemeClr val="dk1"/>
              </a:buClr>
              <a:buSzPts val="2000"/>
              <a:buChar char="•"/>
            </a:pPr>
            <a:r>
              <a:rPr lang="en-US" sz="2000"/>
              <a:t>Similar to voting, but utilize an ML method to combine the outputs, instead of hard/soft voting.</a:t>
            </a:r>
            <a:endParaRPr/>
          </a:p>
          <a:p>
            <a:pPr indent="-101600" lvl="0" marL="228600" rtl="0" algn="l">
              <a:lnSpc>
                <a:spcPct val="90000"/>
              </a:lnSpc>
              <a:spcBef>
                <a:spcPts val="1000"/>
              </a:spcBef>
              <a:spcAft>
                <a:spcPts val="0"/>
              </a:spcAft>
              <a:buClr>
                <a:schemeClr val="dk1"/>
              </a:buClr>
              <a:buSzPts val="2000"/>
              <a:buNone/>
            </a:pPr>
            <a:r>
              <a:t/>
            </a:r>
            <a:endParaRPr sz="2000"/>
          </a:p>
        </p:txBody>
      </p:sp>
      <p:sp>
        <p:nvSpPr>
          <p:cNvPr id="163" name="Google Shape;16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164" name="Google Shape;16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165" name="Google Shape;165;p8"/>
          <p:cNvGrpSpPr/>
          <p:nvPr/>
        </p:nvGrpSpPr>
        <p:grpSpPr>
          <a:xfrm>
            <a:off x="6907949" y="1462088"/>
            <a:ext cx="5019823" cy="3999702"/>
            <a:chOff x="5886722" y="2168414"/>
            <a:chExt cx="6235213" cy="4279955"/>
          </a:xfrm>
        </p:grpSpPr>
        <p:grpSp>
          <p:nvGrpSpPr>
            <p:cNvPr id="166" name="Google Shape;166;p8"/>
            <p:cNvGrpSpPr/>
            <p:nvPr/>
          </p:nvGrpSpPr>
          <p:grpSpPr>
            <a:xfrm>
              <a:off x="5886722" y="2168414"/>
              <a:ext cx="6235213" cy="3143689"/>
              <a:chOff x="1175921" y="3489307"/>
              <a:chExt cx="6235213" cy="3143689"/>
            </a:xfrm>
          </p:grpSpPr>
          <p:grpSp>
            <p:nvGrpSpPr>
              <p:cNvPr id="167" name="Google Shape;167;p8"/>
              <p:cNvGrpSpPr/>
              <p:nvPr/>
            </p:nvGrpSpPr>
            <p:grpSpPr>
              <a:xfrm>
                <a:off x="1175921" y="3489307"/>
                <a:ext cx="3088675" cy="3143689"/>
                <a:chOff x="7882130" y="2550504"/>
                <a:chExt cx="3088675" cy="3143689"/>
              </a:xfrm>
            </p:grpSpPr>
            <p:pic>
              <p:nvPicPr>
                <p:cNvPr id="168" name="Google Shape;168;p8"/>
                <p:cNvPicPr preferRelativeResize="0"/>
                <p:nvPr/>
              </p:nvPicPr>
              <p:blipFill rotWithShape="1">
                <a:blip r:embed="rId3">
                  <a:alphaModFix/>
                </a:blip>
                <a:srcRect b="0" l="0" r="0" t="0"/>
                <a:stretch/>
              </p:blipFill>
              <p:spPr>
                <a:xfrm>
                  <a:off x="7882130" y="2550504"/>
                  <a:ext cx="2791215" cy="3143689"/>
                </a:xfrm>
                <a:prstGeom prst="rect">
                  <a:avLst/>
                </a:prstGeom>
                <a:noFill/>
                <a:ln>
                  <a:noFill/>
                </a:ln>
              </p:spPr>
            </p:pic>
            <p:cxnSp>
              <p:nvCxnSpPr>
                <p:cNvPr id="169" name="Google Shape;169;p8"/>
                <p:cNvCxnSpPr/>
                <p:nvPr/>
              </p:nvCxnSpPr>
              <p:spPr>
                <a:xfrm flipH="1" rot="10800000">
                  <a:off x="8577072" y="3060441"/>
                  <a:ext cx="594920" cy="1048119"/>
                </a:xfrm>
                <a:prstGeom prst="straightConnector1">
                  <a:avLst/>
                </a:prstGeom>
                <a:noFill/>
                <a:ln cap="flat" cmpd="sng" w="57150">
                  <a:solidFill>
                    <a:schemeClr val="dk1"/>
                  </a:solidFill>
                  <a:prstDash val="solid"/>
                  <a:miter lim="800000"/>
                  <a:headEnd len="sm" w="sm" type="none"/>
                  <a:tailEnd len="med" w="med" type="triangle"/>
                </a:ln>
              </p:spPr>
            </p:cxnSp>
            <p:cxnSp>
              <p:nvCxnSpPr>
                <p:cNvPr id="170" name="Google Shape;170;p8"/>
                <p:cNvCxnSpPr/>
                <p:nvPr/>
              </p:nvCxnSpPr>
              <p:spPr>
                <a:xfrm>
                  <a:off x="8577072" y="4108560"/>
                  <a:ext cx="594920" cy="0"/>
                </a:xfrm>
                <a:prstGeom prst="straightConnector1">
                  <a:avLst/>
                </a:prstGeom>
                <a:noFill/>
                <a:ln cap="flat" cmpd="sng" w="57150">
                  <a:solidFill>
                    <a:schemeClr val="dk1"/>
                  </a:solidFill>
                  <a:prstDash val="solid"/>
                  <a:miter lim="800000"/>
                  <a:headEnd len="sm" w="sm" type="none"/>
                  <a:tailEnd len="med" w="med" type="triangle"/>
                </a:ln>
              </p:spPr>
            </p:cxnSp>
            <p:cxnSp>
              <p:nvCxnSpPr>
                <p:cNvPr id="171" name="Google Shape;171;p8"/>
                <p:cNvCxnSpPr/>
                <p:nvPr/>
              </p:nvCxnSpPr>
              <p:spPr>
                <a:xfrm>
                  <a:off x="8577072" y="4108560"/>
                  <a:ext cx="594920" cy="1137774"/>
                </a:xfrm>
                <a:prstGeom prst="straightConnector1">
                  <a:avLst/>
                </a:prstGeom>
                <a:noFill/>
                <a:ln cap="flat" cmpd="sng" w="57150">
                  <a:solidFill>
                    <a:schemeClr val="dk1"/>
                  </a:solidFill>
                  <a:prstDash val="solid"/>
                  <a:miter lim="800000"/>
                  <a:headEnd len="sm" w="sm" type="none"/>
                  <a:tailEnd len="med" w="med" type="triangle"/>
                </a:ln>
              </p:spPr>
            </p:cxnSp>
            <p:cxnSp>
              <p:nvCxnSpPr>
                <p:cNvPr id="172" name="Google Shape;172;p8"/>
                <p:cNvCxnSpPr/>
                <p:nvPr/>
              </p:nvCxnSpPr>
              <p:spPr>
                <a:xfrm>
                  <a:off x="10375885" y="4108560"/>
                  <a:ext cx="594920" cy="0"/>
                </a:xfrm>
                <a:prstGeom prst="straightConnector1">
                  <a:avLst/>
                </a:prstGeom>
                <a:noFill/>
                <a:ln cap="flat" cmpd="sng" w="57150">
                  <a:solidFill>
                    <a:schemeClr val="dk1"/>
                  </a:solidFill>
                  <a:prstDash val="solid"/>
                  <a:miter lim="800000"/>
                  <a:headEnd len="sm" w="sm" type="none"/>
                  <a:tailEnd len="med" w="med" type="triangle"/>
                </a:ln>
              </p:spPr>
            </p:cxnSp>
          </p:grpSp>
          <p:pic>
            <p:nvPicPr>
              <p:cNvPr id="173" name="Google Shape;173;p8"/>
              <p:cNvPicPr preferRelativeResize="0"/>
              <p:nvPr/>
            </p:nvPicPr>
            <p:blipFill rotWithShape="1">
              <a:blip r:embed="rId4">
                <a:alphaModFix/>
              </a:blip>
              <a:srcRect b="0" l="0" r="0" t="0"/>
              <a:stretch/>
            </p:blipFill>
            <p:spPr>
              <a:xfrm>
                <a:off x="4296024" y="4122349"/>
                <a:ext cx="3115110" cy="1724266"/>
              </a:xfrm>
              <a:prstGeom prst="rect">
                <a:avLst/>
              </a:prstGeom>
              <a:noFill/>
              <a:ln>
                <a:noFill/>
              </a:ln>
            </p:spPr>
          </p:pic>
        </p:grpSp>
        <p:sp>
          <p:nvSpPr>
            <p:cNvPr id="174" name="Google Shape;174;p8"/>
            <p:cNvSpPr txBox="1"/>
            <p:nvPr/>
          </p:nvSpPr>
          <p:spPr>
            <a:xfrm>
              <a:off x="6216964" y="5525039"/>
              <a:ext cx="424346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Meta-Learner (Estimator)</a:t>
              </a:r>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Input</a:t>
              </a:r>
              <a:r>
                <a:rPr lang="en-US" sz="1800">
                  <a:solidFill>
                    <a:schemeClr val="dk1"/>
                  </a:solidFill>
                  <a:latin typeface="Arial"/>
                  <a:ea typeface="Arial"/>
                  <a:cs typeface="Arial"/>
                  <a:sym typeface="Arial"/>
                </a:rPr>
                <a:t>: </a:t>
              </a:r>
              <a:r>
                <a:rPr i="1" lang="en-US" sz="1800">
                  <a:solidFill>
                    <a:schemeClr val="dk1"/>
                  </a:solidFill>
                  <a:latin typeface="Arial"/>
                  <a:ea typeface="Arial"/>
                  <a:cs typeface="Arial"/>
                  <a:sym typeface="Arial"/>
                </a:rPr>
                <a:t>ModelA(x), ModelB(x), ModelC(x)</a:t>
              </a:r>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Output: </a:t>
              </a:r>
              <a:r>
                <a:rPr lang="en-US" sz="1800">
                  <a:solidFill>
                    <a:schemeClr val="dk1"/>
                  </a:solidFill>
                  <a:latin typeface="Arial"/>
                  <a:ea typeface="Arial"/>
                  <a:cs typeface="Arial"/>
                  <a:sym typeface="Arial"/>
                </a:rPr>
                <a:t>Target </a:t>
              </a:r>
              <a:r>
                <a:rPr i="1" lang="en-US" sz="1800">
                  <a:solidFill>
                    <a:schemeClr val="dk1"/>
                  </a:solidFill>
                  <a:latin typeface="Arial"/>
                  <a:ea typeface="Arial"/>
                  <a:cs typeface="Arial"/>
                  <a:sym typeface="Arial"/>
                </a:rPr>
                <a:t>y</a:t>
              </a:r>
              <a:endParaRPr b="1" sz="1800">
                <a:solidFill>
                  <a:schemeClr val="dk1"/>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9"/>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Boosting</a:t>
            </a:r>
            <a:endParaRPr/>
          </a:p>
        </p:txBody>
      </p:sp>
      <p:sp>
        <p:nvSpPr>
          <p:cNvPr id="180" name="Google Shape;180;p9"/>
          <p:cNvSpPr txBox="1"/>
          <p:nvPr>
            <p:ph idx="1" type="body"/>
          </p:nvPr>
        </p:nvSpPr>
        <p:spPr>
          <a:xfrm>
            <a:off x="838200" y="1462089"/>
            <a:ext cx="10515600" cy="382314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Boosting enables </a:t>
            </a:r>
            <a:r>
              <a:rPr b="1" lang="en-US" sz="2000"/>
              <a:t>weak</a:t>
            </a:r>
            <a:r>
              <a:rPr lang="en-US" sz="2000"/>
              <a:t> ML models to improve their prediction accuracy and become </a:t>
            </a:r>
            <a:r>
              <a:rPr b="1" lang="en-US" sz="2000"/>
              <a:t>strongers</a:t>
            </a:r>
            <a:r>
              <a:rPr lang="en-US" sz="2000"/>
              <a:t>.</a:t>
            </a:r>
            <a:endParaRPr/>
          </a:p>
          <a:p>
            <a:pPr indent="-228600" lvl="0" marL="228600" rtl="0" algn="l">
              <a:lnSpc>
                <a:spcPct val="90000"/>
              </a:lnSpc>
              <a:spcBef>
                <a:spcPts val="1000"/>
              </a:spcBef>
              <a:spcAft>
                <a:spcPts val="0"/>
              </a:spcAft>
              <a:buClr>
                <a:schemeClr val="dk1"/>
              </a:buClr>
              <a:buSzPts val="2000"/>
              <a:buChar char="•"/>
            </a:pPr>
            <a:r>
              <a:rPr lang="en-US" sz="2000"/>
              <a:t>Initially, the boosting algorithm assigns equal weight to each data sample (row). It feeds the data to the first model (weak learner). The base algorithm makes predictions for each data sample.</a:t>
            </a:r>
            <a:endParaRPr/>
          </a:p>
          <a:p>
            <a:pPr indent="-228600" lvl="0" marL="228600" rtl="0" algn="l">
              <a:lnSpc>
                <a:spcPct val="90000"/>
              </a:lnSpc>
              <a:spcBef>
                <a:spcPts val="1000"/>
              </a:spcBef>
              <a:spcAft>
                <a:spcPts val="0"/>
              </a:spcAft>
              <a:buClr>
                <a:schemeClr val="dk1"/>
              </a:buClr>
              <a:buSzPts val="2000"/>
              <a:buChar char="•"/>
            </a:pPr>
            <a:r>
              <a:rPr lang="en-US" sz="2000"/>
              <a:t>Then, the boosting algorithm assesses model predictions and increases the weight of samples with a more significant error (samples which the learner produced high error). It also assigns a weight based on model performance. A model that outputs excellent predictions will have a high amount of influence over the final decision.</a:t>
            </a:r>
            <a:endParaRPr/>
          </a:p>
          <a:p>
            <a:pPr indent="-228600" lvl="0" marL="228600" rtl="0" algn="l">
              <a:lnSpc>
                <a:spcPct val="90000"/>
              </a:lnSpc>
              <a:spcBef>
                <a:spcPts val="1000"/>
              </a:spcBef>
              <a:spcAft>
                <a:spcPts val="0"/>
              </a:spcAft>
              <a:buClr>
                <a:schemeClr val="dk1"/>
              </a:buClr>
              <a:buSzPts val="2000"/>
              <a:buChar char="•"/>
            </a:pPr>
            <a:r>
              <a:rPr lang="en-US" sz="2000"/>
              <a:t>Next, the algorithm passes the weighted data to the next decision tree.</a:t>
            </a:r>
            <a:endParaRPr/>
          </a:p>
          <a:p>
            <a:pPr indent="-228600" lvl="0" marL="228600" rtl="0" algn="l">
              <a:lnSpc>
                <a:spcPct val="90000"/>
              </a:lnSpc>
              <a:spcBef>
                <a:spcPts val="1000"/>
              </a:spcBef>
              <a:spcAft>
                <a:spcPts val="0"/>
              </a:spcAft>
              <a:buClr>
                <a:schemeClr val="dk1"/>
              </a:buClr>
              <a:buSzPts val="2000"/>
              <a:buChar char="•"/>
            </a:pPr>
            <a:r>
              <a:rPr lang="en-US" sz="2000"/>
              <a:t>The process is repeated until the training errors fall are below a certain threshold.</a:t>
            </a:r>
            <a:endParaRPr/>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p:txBody>
      </p:sp>
      <p:sp>
        <p:nvSpPr>
          <p:cNvPr id="181" name="Google Shape;181;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182" name="Google Shape;182;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Bagging vs Boosting</a:t>
            </a:r>
            <a:endParaRPr/>
          </a:p>
        </p:txBody>
      </p:sp>
      <p:sp>
        <p:nvSpPr>
          <p:cNvPr id="188" name="Google Shape;188;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189" name="Google Shape;189;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0" name="Google Shape;190;p10"/>
          <p:cNvPicPr preferRelativeResize="0"/>
          <p:nvPr/>
        </p:nvPicPr>
        <p:blipFill rotWithShape="1">
          <a:blip r:embed="rId3">
            <a:alphaModFix/>
          </a:blip>
          <a:srcRect b="0" l="0" r="0" t="0"/>
          <a:stretch/>
        </p:blipFill>
        <p:spPr>
          <a:xfrm>
            <a:off x="6033705" y="366528"/>
            <a:ext cx="5477639" cy="2648320"/>
          </a:xfrm>
          <a:prstGeom prst="rect">
            <a:avLst/>
          </a:prstGeom>
          <a:noFill/>
          <a:ln>
            <a:noFill/>
          </a:ln>
        </p:spPr>
      </p:pic>
      <p:pic>
        <p:nvPicPr>
          <p:cNvPr descr="Gradient Boosting from scratch. Simplifying a complex algorithm | by Prince  Grover | ML Review" id="191" name="Google Shape;191;p10"/>
          <p:cNvPicPr preferRelativeResize="0"/>
          <p:nvPr/>
        </p:nvPicPr>
        <p:blipFill rotWithShape="1">
          <a:blip r:embed="rId4">
            <a:alphaModFix/>
          </a:blip>
          <a:srcRect b="0" l="0" r="0" t="0"/>
          <a:stretch/>
        </p:blipFill>
        <p:spPr>
          <a:xfrm>
            <a:off x="267481" y="1862827"/>
            <a:ext cx="5766224" cy="3769116"/>
          </a:xfrm>
          <a:prstGeom prst="rect">
            <a:avLst/>
          </a:prstGeom>
          <a:noFill/>
          <a:ln>
            <a:noFill/>
          </a:ln>
        </p:spPr>
      </p:pic>
      <p:grpSp>
        <p:nvGrpSpPr>
          <p:cNvPr id="192" name="Google Shape;192;p10"/>
          <p:cNvGrpSpPr/>
          <p:nvPr/>
        </p:nvGrpSpPr>
        <p:grpSpPr>
          <a:xfrm>
            <a:off x="5892307" y="2993601"/>
            <a:ext cx="6137768" cy="3597176"/>
            <a:chOff x="5892307" y="2993601"/>
            <a:chExt cx="6137768" cy="3597176"/>
          </a:xfrm>
        </p:grpSpPr>
        <p:pic>
          <p:nvPicPr>
            <p:cNvPr descr="Bagging vs Boosting in Machine Learning - GeeksforGeeks" id="193" name="Google Shape;193;p10"/>
            <p:cNvPicPr preferRelativeResize="0"/>
            <p:nvPr/>
          </p:nvPicPr>
          <p:blipFill rotWithShape="1">
            <a:blip r:embed="rId5">
              <a:alphaModFix/>
            </a:blip>
            <a:srcRect b="0" l="0" r="0" t="0"/>
            <a:stretch/>
          </p:blipFill>
          <p:spPr>
            <a:xfrm>
              <a:off x="5892307" y="2993601"/>
              <a:ext cx="6137768" cy="3443288"/>
            </a:xfrm>
            <a:prstGeom prst="rect">
              <a:avLst/>
            </a:prstGeom>
            <a:noFill/>
            <a:ln>
              <a:noFill/>
            </a:ln>
          </p:spPr>
        </p:pic>
        <p:sp>
          <p:nvSpPr>
            <p:cNvPr id="194" name="Google Shape;194;p10"/>
            <p:cNvSpPr txBox="1"/>
            <p:nvPr/>
          </p:nvSpPr>
          <p:spPr>
            <a:xfrm>
              <a:off x="8153400" y="6283000"/>
              <a:ext cx="165224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Boosting Algorithm</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200" name="Google Shape;2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1" name="Google Shape;201;p11"/>
          <p:cNvPicPr preferRelativeResize="0"/>
          <p:nvPr/>
        </p:nvPicPr>
        <p:blipFill rotWithShape="1">
          <a:blip r:embed="rId3">
            <a:alphaModFix/>
          </a:blip>
          <a:srcRect b="0" l="0" r="0" t="0"/>
          <a:stretch/>
        </p:blipFill>
        <p:spPr>
          <a:xfrm>
            <a:off x="432621" y="495834"/>
            <a:ext cx="11509788" cy="560016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2"/>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Multi-Class Classification</a:t>
            </a:r>
            <a:endParaRPr/>
          </a:p>
        </p:txBody>
      </p:sp>
      <p:sp>
        <p:nvSpPr>
          <p:cNvPr id="207" name="Google Shape;207;p12"/>
          <p:cNvSpPr txBox="1"/>
          <p:nvPr>
            <p:ph idx="1" type="body"/>
          </p:nvPr>
        </p:nvSpPr>
        <p:spPr>
          <a:xfrm>
            <a:off x="826008" y="1290860"/>
            <a:ext cx="6584442" cy="2900140"/>
          </a:xfrm>
          <a:prstGeom prst="rect">
            <a:avLst/>
          </a:prstGeom>
          <a:blipFill rotWithShape="1">
            <a:blip r:embed="rId3">
              <a:alphaModFix/>
            </a:blip>
            <a:stretch>
              <a:fillRect b="0" l="-831" r="-369" t="-210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208" name="Google Shape;2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209" name="Google Shape;2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Multi-Class Logistic Regression: A Friendly Guide to Classifying the Many |  by Jani Data Diaries | Medium" id="210" name="Google Shape;210;p12"/>
          <p:cNvPicPr preferRelativeResize="0"/>
          <p:nvPr/>
        </p:nvPicPr>
        <p:blipFill rotWithShape="1">
          <a:blip r:embed="rId4">
            <a:alphaModFix/>
          </a:blip>
          <a:srcRect b="0" l="0" r="0" t="0"/>
          <a:stretch/>
        </p:blipFill>
        <p:spPr>
          <a:xfrm>
            <a:off x="826008" y="3905533"/>
            <a:ext cx="6364604" cy="2390870"/>
          </a:xfrm>
          <a:prstGeom prst="rect">
            <a:avLst/>
          </a:prstGeom>
          <a:noFill/>
          <a:ln>
            <a:noFill/>
          </a:ln>
        </p:spPr>
      </p:pic>
      <p:pic>
        <p:nvPicPr>
          <p:cNvPr descr="Multi-class Classification — One-vs-All &amp; One-vs-One | by Amey Band | TDS  Archive | Medium" id="211" name="Google Shape;211;p12"/>
          <p:cNvPicPr preferRelativeResize="0"/>
          <p:nvPr/>
        </p:nvPicPr>
        <p:blipFill rotWithShape="1">
          <a:blip r:embed="rId5">
            <a:alphaModFix/>
          </a:blip>
          <a:srcRect b="0" l="0" r="0" t="0"/>
          <a:stretch/>
        </p:blipFill>
        <p:spPr>
          <a:xfrm>
            <a:off x="7359219" y="446773"/>
            <a:ext cx="4496730" cy="2813668"/>
          </a:xfrm>
          <a:prstGeom prst="rect">
            <a:avLst/>
          </a:prstGeom>
          <a:noFill/>
          <a:ln>
            <a:noFill/>
          </a:ln>
        </p:spPr>
      </p:pic>
      <p:cxnSp>
        <p:nvCxnSpPr>
          <p:cNvPr id="212" name="Google Shape;212;p12"/>
          <p:cNvCxnSpPr/>
          <p:nvPr/>
        </p:nvCxnSpPr>
        <p:spPr>
          <a:xfrm flipH="1" rot="10800000">
            <a:off x="10629900" y="603250"/>
            <a:ext cx="673100" cy="501650"/>
          </a:xfrm>
          <a:prstGeom prst="straightConnector1">
            <a:avLst/>
          </a:prstGeom>
          <a:noFill/>
          <a:ln cap="flat" cmpd="sng" w="19050">
            <a:solidFill>
              <a:srgbClr val="81E490"/>
            </a:solidFill>
            <a:prstDash val="solid"/>
            <a:miter lim="800000"/>
            <a:headEnd len="sm" w="sm" type="none"/>
            <a:tailEnd len="sm" w="sm" type="none"/>
          </a:ln>
        </p:spPr>
      </p:cxnSp>
      <p:cxnSp>
        <p:nvCxnSpPr>
          <p:cNvPr id="213" name="Google Shape;213;p12"/>
          <p:cNvCxnSpPr/>
          <p:nvPr/>
        </p:nvCxnSpPr>
        <p:spPr>
          <a:xfrm>
            <a:off x="10629900" y="1695450"/>
            <a:ext cx="673100" cy="304800"/>
          </a:xfrm>
          <a:prstGeom prst="straightConnector1">
            <a:avLst/>
          </a:prstGeom>
          <a:noFill/>
          <a:ln cap="flat" cmpd="sng" w="19050">
            <a:solidFill>
              <a:srgbClr val="4892DC"/>
            </a:solidFill>
            <a:prstDash val="solid"/>
            <a:miter lim="800000"/>
            <a:headEnd len="sm" w="sm" type="none"/>
            <a:tailEnd len="sm" w="sm" type="none"/>
          </a:ln>
        </p:spPr>
      </p:cxnSp>
      <p:cxnSp>
        <p:nvCxnSpPr>
          <p:cNvPr id="214" name="Google Shape;214;p12"/>
          <p:cNvCxnSpPr/>
          <p:nvPr/>
        </p:nvCxnSpPr>
        <p:spPr>
          <a:xfrm>
            <a:off x="10804525" y="2316178"/>
            <a:ext cx="323850" cy="662021"/>
          </a:xfrm>
          <a:prstGeom prst="straightConnector1">
            <a:avLst/>
          </a:prstGeom>
          <a:noFill/>
          <a:ln cap="flat" cmpd="sng" w="19050">
            <a:solidFill>
              <a:srgbClr val="FF0000"/>
            </a:solidFill>
            <a:prstDash val="solid"/>
            <a:miter lim="800000"/>
            <a:headEnd len="sm" w="sm" type="none"/>
            <a:tailEnd len="sm" w="sm" type="none"/>
          </a:ln>
        </p:spPr>
      </p:cxnSp>
      <p:grpSp>
        <p:nvGrpSpPr>
          <p:cNvPr id="215" name="Google Shape;215;p12"/>
          <p:cNvGrpSpPr/>
          <p:nvPr/>
        </p:nvGrpSpPr>
        <p:grpSpPr>
          <a:xfrm>
            <a:off x="8220006" y="3442391"/>
            <a:ext cx="2908369" cy="2968836"/>
            <a:chOff x="8220006" y="3184944"/>
            <a:chExt cx="2908369" cy="2968836"/>
          </a:xfrm>
        </p:grpSpPr>
        <p:pic>
          <p:nvPicPr>
            <p:cNvPr id="216" name="Google Shape;216;p12"/>
            <p:cNvPicPr preferRelativeResize="0"/>
            <p:nvPr/>
          </p:nvPicPr>
          <p:blipFill rotWithShape="1">
            <a:blip r:embed="rId6">
              <a:alphaModFix/>
            </a:blip>
            <a:srcRect b="0" l="0" r="0" t="0"/>
            <a:stretch/>
          </p:blipFill>
          <p:spPr>
            <a:xfrm>
              <a:off x="8220006" y="3492721"/>
              <a:ext cx="2908369" cy="2661059"/>
            </a:xfrm>
            <a:prstGeom prst="rect">
              <a:avLst/>
            </a:prstGeom>
            <a:noFill/>
            <a:ln>
              <a:noFill/>
            </a:ln>
          </p:spPr>
        </p:pic>
        <p:sp>
          <p:nvSpPr>
            <p:cNvPr id="217" name="Google Shape;217;p12"/>
            <p:cNvSpPr txBox="1"/>
            <p:nvPr/>
          </p:nvSpPr>
          <p:spPr>
            <a:xfrm>
              <a:off x="9192941" y="3184944"/>
              <a:ext cx="111133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One vs One</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3"/>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Multi-Label Classification</a:t>
            </a:r>
            <a:endParaRPr/>
          </a:p>
        </p:txBody>
      </p:sp>
      <p:sp>
        <p:nvSpPr>
          <p:cNvPr id="223" name="Google Shape;223;p13"/>
          <p:cNvSpPr txBox="1"/>
          <p:nvPr>
            <p:ph idx="1" type="body"/>
          </p:nvPr>
        </p:nvSpPr>
        <p:spPr>
          <a:xfrm>
            <a:off x="714375" y="1808289"/>
            <a:ext cx="5257800" cy="4730623"/>
          </a:xfrm>
          <a:prstGeom prst="rect">
            <a:avLst/>
          </a:prstGeom>
          <a:blipFill rotWithShape="1">
            <a:blip r:embed="rId3">
              <a:alphaModFix/>
            </a:blip>
            <a:stretch>
              <a:fillRect b="0" l="-1042" r="-347" t="-1288"/>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224" name="Google Shape;22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225" name="Google Shape;22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Multiclass Classification vs. Multi-label Classification | by Harshwardhan  Jadhav | Medium" id="226" name="Google Shape;226;p13"/>
          <p:cNvPicPr preferRelativeResize="0"/>
          <p:nvPr/>
        </p:nvPicPr>
        <p:blipFill rotWithShape="1">
          <a:blip r:embed="rId4">
            <a:alphaModFix/>
          </a:blip>
          <a:srcRect b="0" l="0" r="0" t="0"/>
          <a:stretch/>
        </p:blipFill>
        <p:spPr>
          <a:xfrm>
            <a:off x="6096000" y="1932670"/>
            <a:ext cx="6066632" cy="352138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4"/>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Semi-Supervised Learning</a:t>
            </a:r>
            <a:endParaRPr/>
          </a:p>
        </p:txBody>
      </p:sp>
      <p:sp>
        <p:nvSpPr>
          <p:cNvPr id="232" name="Google Shape;232;p14"/>
          <p:cNvSpPr txBox="1"/>
          <p:nvPr>
            <p:ph idx="1" type="body"/>
          </p:nvPr>
        </p:nvSpPr>
        <p:spPr>
          <a:xfrm>
            <a:off x="752856" y="1737042"/>
            <a:ext cx="5343144" cy="480187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Labeled data are required to train supervised learning models.</a:t>
            </a:r>
            <a:endParaRPr/>
          </a:p>
          <a:p>
            <a:pPr indent="-228600" lvl="0" marL="228600" rtl="0" algn="l">
              <a:lnSpc>
                <a:spcPct val="90000"/>
              </a:lnSpc>
              <a:spcBef>
                <a:spcPts val="1000"/>
              </a:spcBef>
              <a:spcAft>
                <a:spcPts val="0"/>
              </a:spcAft>
              <a:buClr>
                <a:schemeClr val="dk1"/>
              </a:buClr>
              <a:buSzPts val="2000"/>
              <a:buChar char="•"/>
            </a:pPr>
            <a:r>
              <a:rPr lang="en-US" sz="2000"/>
              <a:t>Hiring contractors to label large amounts of samples is expensive.</a:t>
            </a:r>
            <a:endParaRPr/>
          </a:p>
          <a:p>
            <a:pPr indent="-228600" lvl="0" marL="228600" rtl="0" algn="l">
              <a:lnSpc>
                <a:spcPct val="90000"/>
              </a:lnSpc>
              <a:spcBef>
                <a:spcPts val="1000"/>
              </a:spcBef>
              <a:spcAft>
                <a:spcPts val="0"/>
              </a:spcAft>
              <a:buClr>
                <a:schemeClr val="dk1"/>
              </a:buClr>
              <a:buSzPts val="2000"/>
              <a:buChar char="•"/>
            </a:pPr>
            <a:r>
              <a:rPr lang="en-US" sz="2000"/>
              <a:t>Usually, labeling can be performed for a small portion of data.</a:t>
            </a:r>
            <a:endParaRPr/>
          </a:p>
          <a:p>
            <a:pPr indent="-228600" lvl="0" marL="228600" rtl="0" algn="l">
              <a:lnSpc>
                <a:spcPct val="90000"/>
              </a:lnSpc>
              <a:spcBef>
                <a:spcPts val="1000"/>
              </a:spcBef>
              <a:spcAft>
                <a:spcPts val="0"/>
              </a:spcAft>
              <a:buClr>
                <a:schemeClr val="dk1"/>
              </a:buClr>
              <a:buSzPts val="2000"/>
              <a:buChar char="•"/>
            </a:pPr>
            <a:r>
              <a:rPr lang="en-US" sz="2000"/>
              <a:t>There is ton of unlabeled data on internet (e.g. Videos from YouTube, Text from Reddit, etc.).</a:t>
            </a:r>
            <a:endParaRPr/>
          </a:p>
          <a:p>
            <a:pPr indent="-228600" lvl="0" marL="228600" rtl="0" algn="l">
              <a:lnSpc>
                <a:spcPct val="90000"/>
              </a:lnSpc>
              <a:spcBef>
                <a:spcPts val="1000"/>
              </a:spcBef>
              <a:spcAft>
                <a:spcPts val="0"/>
              </a:spcAft>
              <a:buClr>
                <a:schemeClr val="dk1"/>
              </a:buClr>
              <a:buSzPts val="2000"/>
              <a:buChar char="•"/>
            </a:pPr>
            <a:r>
              <a:rPr b="1" lang="en-US" sz="2000"/>
              <a:t>Semi-Supervised Approaches: </a:t>
            </a:r>
            <a:r>
              <a:rPr lang="en-US" sz="2000"/>
              <a:t>Train supervised learning models using both labeled and unlabeled data.</a:t>
            </a:r>
            <a:endParaRPr/>
          </a:p>
          <a:p>
            <a:pPr indent="-101600" lvl="0" marL="228600" rtl="0" algn="l">
              <a:lnSpc>
                <a:spcPct val="90000"/>
              </a:lnSpc>
              <a:spcBef>
                <a:spcPts val="1000"/>
              </a:spcBef>
              <a:spcAft>
                <a:spcPts val="0"/>
              </a:spcAft>
              <a:buClr>
                <a:schemeClr val="dk1"/>
              </a:buClr>
              <a:buSzPts val="2000"/>
              <a:buNone/>
            </a:pPr>
            <a:r>
              <a:t/>
            </a:r>
            <a:endParaRPr sz="2000"/>
          </a:p>
        </p:txBody>
      </p:sp>
      <p:sp>
        <p:nvSpPr>
          <p:cNvPr id="233" name="Google Shape;23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234" name="Google Shape;23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5" name="Google Shape;235;p14"/>
          <p:cNvPicPr preferRelativeResize="0"/>
          <p:nvPr/>
        </p:nvPicPr>
        <p:blipFill rotWithShape="1">
          <a:blip r:embed="rId3">
            <a:alphaModFix/>
          </a:blip>
          <a:srcRect b="0" l="0" r="0" t="0"/>
          <a:stretch/>
        </p:blipFill>
        <p:spPr>
          <a:xfrm>
            <a:off x="6337749" y="2057400"/>
            <a:ext cx="5662227" cy="349854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5"/>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Self-Training</a:t>
            </a:r>
            <a:endParaRPr/>
          </a:p>
        </p:txBody>
      </p:sp>
      <p:sp>
        <p:nvSpPr>
          <p:cNvPr id="241" name="Google Shape;241;p15"/>
          <p:cNvSpPr txBox="1"/>
          <p:nvPr>
            <p:ph idx="1" type="body"/>
          </p:nvPr>
        </p:nvSpPr>
        <p:spPr>
          <a:xfrm>
            <a:off x="838200" y="1825625"/>
            <a:ext cx="10515600" cy="4351338"/>
          </a:xfrm>
          <a:prstGeom prst="rect">
            <a:avLst/>
          </a:prstGeom>
          <a:blipFill rotWithShape="1">
            <a:blip r:embed="rId3">
              <a:alphaModFix/>
            </a:blip>
            <a:stretch>
              <a:fillRect b="0" l="-521" r="0" t="-126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242" name="Google Shape;24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243" name="Google Shape;24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Co-Training</a:t>
            </a:r>
            <a:endParaRPr/>
          </a:p>
        </p:txBody>
      </p:sp>
      <p:sp>
        <p:nvSpPr>
          <p:cNvPr id="249" name="Google Shape;249;p16"/>
          <p:cNvSpPr txBox="1"/>
          <p:nvPr>
            <p:ph idx="1" type="body"/>
          </p:nvPr>
        </p:nvSpPr>
        <p:spPr>
          <a:xfrm>
            <a:off x="838200" y="1825625"/>
            <a:ext cx="4803648" cy="4351338"/>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dk1"/>
              </a:buClr>
              <a:buSzPts val="2000"/>
              <a:buChar char="•"/>
            </a:pPr>
            <a:r>
              <a:rPr lang="en-US" sz="2000"/>
              <a:t>Similar to self-training, but it utilizes 2 separate classifiers.</a:t>
            </a:r>
            <a:endParaRPr/>
          </a:p>
          <a:p>
            <a:pPr indent="-228600" lvl="1" marL="685800" rtl="0" algn="l">
              <a:lnSpc>
                <a:spcPct val="90000"/>
              </a:lnSpc>
              <a:spcBef>
                <a:spcPts val="500"/>
              </a:spcBef>
              <a:spcAft>
                <a:spcPts val="0"/>
              </a:spcAft>
              <a:buClr>
                <a:schemeClr val="dk1"/>
              </a:buClr>
              <a:buSzPts val="2000"/>
              <a:buChar char="•"/>
            </a:pPr>
            <a:r>
              <a:rPr lang="en-US" sz="2000"/>
              <a:t>Each classifier is trained on a different set of data (</a:t>
            </a:r>
            <a:r>
              <a:rPr b="1" lang="en-US" sz="2000"/>
              <a:t>similar to how bagging works</a:t>
            </a:r>
            <a:r>
              <a:rPr lang="en-US" sz="2000"/>
              <a:t>).</a:t>
            </a:r>
            <a:endParaRPr/>
          </a:p>
          <a:p>
            <a:pPr indent="-228600" lvl="1" marL="685800" rtl="0" algn="l">
              <a:lnSpc>
                <a:spcPct val="90000"/>
              </a:lnSpc>
              <a:spcBef>
                <a:spcPts val="500"/>
              </a:spcBef>
              <a:spcAft>
                <a:spcPts val="0"/>
              </a:spcAft>
              <a:buClr>
                <a:schemeClr val="dk1"/>
              </a:buClr>
              <a:buSzPts val="2000"/>
              <a:buChar char="•"/>
            </a:pPr>
            <a:r>
              <a:rPr lang="en-US" sz="2000"/>
              <a:t>The strong predictions of each classifier are added to the dataset of the other classifier.</a:t>
            </a:r>
            <a:endParaRPr/>
          </a:p>
          <a:p>
            <a:pPr indent="-228600" lvl="1" marL="685800" rtl="0" algn="l">
              <a:lnSpc>
                <a:spcPct val="90000"/>
              </a:lnSpc>
              <a:spcBef>
                <a:spcPts val="500"/>
              </a:spcBef>
              <a:spcAft>
                <a:spcPts val="0"/>
              </a:spcAft>
              <a:buClr>
                <a:schemeClr val="dk1"/>
              </a:buClr>
              <a:buSzPts val="2000"/>
              <a:buChar char="•"/>
            </a:pPr>
            <a:r>
              <a:rPr lang="en-US" sz="2000"/>
              <a:t>Finally, both models are combined (e.g. voting) to classify a new instance.</a:t>
            </a:r>
            <a:endParaRPr/>
          </a:p>
          <a:p>
            <a:pPr indent="-76200" lvl="0" marL="228600" rtl="0" algn="l">
              <a:lnSpc>
                <a:spcPct val="90000"/>
              </a:lnSpc>
              <a:spcBef>
                <a:spcPts val="1000"/>
              </a:spcBef>
              <a:spcAft>
                <a:spcPts val="0"/>
              </a:spcAft>
              <a:buClr>
                <a:schemeClr val="dk1"/>
              </a:buClr>
              <a:buSzPts val="2400"/>
              <a:buNone/>
            </a:pPr>
            <a:r>
              <a:t/>
            </a:r>
            <a:endParaRPr sz="2400"/>
          </a:p>
        </p:txBody>
      </p:sp>
      <p:sp>
        <p:nvSpPr>
          <p:cNvPr id="250" name="Google Shape;25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251" name="Google Shape;25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Semi-supervised co-training method" id="252" name="Google Shape;252;p16"/>
          <p:cNvPicPr preferRelativeResize="0"/>
          <p:nvPr/>
        </p:nvPicPr>
        <p:blipFill rotWithShape="1">
          <a:blip r:embed="rId3">
            <a:alphaModFix/>
          </a:blip>
          <a:srcRect b="0" l="0" r="0" t="0"/>
          <a:stretch/>
        </p:blipFill>
        <p:spPr>
          <a:xfrm>
            <a:off x="6233160" y="644185"/>
            <a:ext cx="5559316" cy="556963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7"/>
          <p:cNvSpPr txBox="1"/>
          <p:nvPr>
            <p:ph type="title"/>
          </p:nvPr>
        </p:nvSpPr>
        <p:spPr>
          <a:xfrm>
            <a:off x="682752" y="9737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Active Learning</a:t>
            </a:r>
            <a:endParaRPr/>
          </a:p>
        </p:txBody>
      </p:sp>
      <p:sp>
        <p:nvSpPr>
          <p:cNvPr id="258" name="Google Shape;258;p17"/>
          <p:cNvSpPr txBox="1"/>
          <p:nvPr>
            <p:ph idx="1" type="body"/>
          </p:nvPr>
        </p:nvSpPr>
        <p:spPr>
          <a:xfrm>
            <a:off x="682752" y="1462088"/>
            <a:ext cx="6595872" cy="5091112"/>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000"/>
              <a:buChar char="•"/>
            </a:pPr>
            <a:r>
              <a:rPr lang="en-US" sz="2000"/>
              <a:t>Attempts to train models using the least possible amounts of labeled data using an online training method of multiple training iterations.</a:t>
            </a:r>
            <a:endParaRPr/>
          </a:p>
          <a:p>
            <a:pPr indent="-228600" lvl="0" marL="228600" rtl="0" algn="l">
              <a:lnSpc>
                <a:spcPct val="90000"/>
              </a:lnSpc>
              <a:spcBef>
                <a:spcPts val="1000"/>
              </a:spcBef>
              <a:spcAft>
                <a:spcPts val="0"/>
              </a:spcAft>
              <a:buClr>
                <a:schemeClr val="dk1"/>
              </a:buClr>
              <a:buSzPts val="2000"/>
              <a:buChar char="•"/>
            </a:pPr>
            <a:r>
              <a:rPr lang="en-US" sz="2000"/>
              <a:t>At each training iteration, a model selects a subset of samples (using some methods). Then, an expert is called to label these samples.</a:t>
            </a:r>
            <a:endParaRPr/>
          </a:p>
          <a:p>
            <a:pPr indent="-228600" lvl="0" marL="228600" rtl="0" algn="l">
              <a:lnSpc>
                <a:spcPct val="90000"/>
              </a:lnSpc>
              <a:spcBef>
                <a:spcPts val="1000"/>
              </a:spcBef>
              <a:spcAft>
                <a:spcPts val="0"/>
              </a:spcAft>
              <a:buClr>
                <a:schemeClr val="dk1"/>
              </a:buClr>
              <a:buSzPts val="2000"/>
              <a:buChar char="•"/>
            </a:pPr>
            <a:r>
              <a:rPr lang="en-US" sz="2000"/>
              <a:t>The labeled samples are added to the dataset and the process repeats, until the model achieves a satisfying performance.</a:t>
            </a:r>
            <a:endParaRPr/>
          </a:p>
          <a:p>
            <a:pPr indent="-228600" lvl="0" marL="228600" rtl="0" algn="l">
              <a:lnSpc>
                <a:spcPct val="90000"/>
              </a:lnSpc>
              <a:spcBef>
                <a:spcPts val="1000"/>
              </a:spcBef>
              <a:spcAft>
                <a:spcPts val="0"/>
              </a:spcAft>
              <a:buClr>
                <a:schemeClr val="dk1"/>
              </a:buClr>
              <a:buSzPts val="2000"/>
              <a:buChar char="•"/>
            </a:pPr>
            <a:r>
              <a:rPr b="1" lang="en-US" sz="2000"/>
              <a:t>Advantages</a:t>
            </a:r>
            <a:r>
              <a:rPr lang="en-US" sz="2200"/>
              <a:t>: </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There are no pseudo-labels, which could be mis-classified, as human experts are involved.</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Requires only a small amount of data labeling.</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The model can carefully select new samples (e.g., unusual samples with low prediction confidence</a:t>
            </a:r>
            <a:r>
              <a:rPr lang="en-US" sz="2000"/>
              <a:t>).</a:t>
            </a:r>
            <a:endParaRPr/>
          </a:p>
          <a:p>
            <a:pPr indent="-228600" lvl="0" marL="228600" rtl="0" algn="l">
              <a:lnSpc>
                <a:spcPct val="90000"/>
              </a:lnSpc>
              <a:spcBef>
                <a:spcPts val="1000"/>
              </a:spcBef>
              <a:spcAft>
                <a:spcPts val="0"/>
              </a:spcAft>
              <a:buClr>
                <a:schemeClr val="dk1"/>
              </a:buClr>
              <a:buSzPts val="2000"/>
              <a:buChar char="•"/>
            </a:pPr>
            <a:r>
              <a:rPr b="1" lang="en-US" sz="2000"/>
              <a:t>Disadvantages</a:t>
            </a:r>
            <a:r>
              <a:rPr lang="en-US" sz="2200"/>
              <a:t>: </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Requires experts that train the model online.</a:t>
            </a:r>
            <a:endParaRPr/>
          </a:p>
          <a:p>
            <a:pPr indent="-101600" lvl="0" marL="228600" rtl="0" algn="l">
              <a:lnSpc>
                <a:spcPct val="90000"/>
              </a:lnSpc>
              <a:spcBef>
                <a:spcPts val="1000"/>
              </a:spcBef>
              <a:spcAft>
                <a:spcPts val="0"/>
              </a:spcAft>
              <a:buClr>
                <a:schemeClr val="dk1"/>
              </a:buClr>
              <a:buSzPts val="2000"/>
              <a:buNone/>
            </a:pPr>
            <a:r>
              <a:t/>
            </a:r>
            <a:endParaRPr sz="2000"/>
          </a:p>
        </p:txBody>
      </p:sp>
      <p:sp>
        <p:nvSpPr>
          <p:cNvPr id="259" name="Google Shape;25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260" name="Google Shape;26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1" name="Google Shape;261;p17"/>
          <p:cNvPicPr preferRelativeResize="0"/>
          <p:nvPr/>
        </p:nvPicPr>
        <p:blipFill rotWithShape="1">
          <a:blip r:embed="rId3">
            <a:alphaModFix/>
          </a:blip>
          <a:srcRect b="0" l="0" r="0" t="0"/>
          <a:stretch/>
        </p:blipFill>
        <p:spPr>
          <a:xfrm>
            <a:off x="6997828" y="2709355"/>
            <a:ext cx="5194172" cy="311650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8"/>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Time Series</a:t>
            </a:r>
            <a:endParaRPr/>
          </a:p>
        </p:txBody>
      </p:sp>
      <p:sp>
        <p:nvSpPr>
          <p:cNvPr id="267" name="Google Shape;267;p18"/>
          <p:cNvSpPr txBox="1"/>
          <p:nvPr>
            <p:ph idx="1" type="body"/>
          </p:nvPr>
        </p:nvSpPr>
        <p:spPr>
          <a:xfrm>
            <a:off x="838200" y="1462088"/>
            <a:ext cx="6559296" cy="471011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Sequential data points (time-dependent variables). Typically, these data points appear within a fixed frequency (e.g., at hourly or daily intervals).</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Examples: Sales per month, temperature per hour, etc.</a:t>
            </a:r>
            <a:endParaRPr/>
          </a:p>
          <a:p>
            <a:pPr indent="-228600" lvl="1" marL="685800" rtl="0" algn="l">
              <a:lnSpc>
                <a:spcPct val="90000"/>
              </a:lnSpc>
              <a:spcBef>
                <a:spcPts val="500"/>
              </a:spcBef>
              <a:spcAft>
                <a:spcPts val="0"/>
              </a:spcAft>
              <a:buClr>
                <a:schemeClr val="dk1"/>
              </a:buClr>
              <a:buSzPts val="1600"/>
              <a:buFont typeface="Noto Sans Symbols"/>
              <a:buChar char="⮚"/>
            </a:pPr>
            <a:r>
              <a:rPr b="1" lang="en-US" sz="1600"/>
              <a:t>Most companies work with sequential data.</a:t>
            </a:r>
            <a:endParaRPr/>
          </a:p>
          <a:p>
            <a:pPr indent="-228600" lvl="0" marL="228600" rtl="0" algn="l">
              <a:lnSpc>
                <a:spcPct val="90000"/>
              </a:lnSpc>
              <a:spcBef>
                <a:spcPts val="1000"/>
              </a:spcBef>
              <a:spcAft>
                <a:spcPts val="0"/>
              </a:spcAft>
              <a:buClr>
                <a:schemeClr val="dk1"/>
              </a:buClr>
              <a:buSzPts val="2000"/>
              <a:buChar char="•"/>
            </a:pPr>
            <a:r>
              <a:rPr lang="en-US" sz="2000"/>
              <a:t>Timeseries Analysis:</a:t>
            </a:r>
            <a:endParaRPr/>
          </a:p>
          <a:p>
            <a:pPr indent="-228600" lvl="1" marL="685800" rtl="0" algn="l">
              <a:lnSpc>
                <a:spcPct val="90000"/>
              </a:lnSpc>
              <a:spcBef>
                <a:spcPts val="500"/>
              </a:spcBef>
              <a:spcAft>
                <a:spcPts val="0"/>
              </a:spcAft>
              <a:buClr>
                <a:schemeClr val="dk1"/>
              </a:buClr>
              <a:buSzPts val="1600"/>
              <a:buFont typeface="Noto Sans Symbols"/>
              <a:buChar char="⮚"/>
            </a:pPr>
            <a:r>
              <a:rPr b="1" lang="en-US" sz="1600"/>
              <a:t>Trend</a:t>
            </a:r>
            <a:r>
              <a:rPr lang="en-US" sz="1600"/>
              <a:t>: Whether the values increase or decrease (move away from the average) or remain around the average over a specified period.</a:t>
            </a:r>
            <a:endParaRPr/>
          </a:p>
          <a:p>
            <a:pPr indent="-228600" lvl="1" marL="685800" rtl="0" algn="l">
              <a:lnSpc>
                <a:spcPct val="90000"/>
              </a:lnSpc>
              <a:spcBef>
                <a:spcPts val="500"/>
              </a:spcBef>
              <a:spcAft>
                <a:spcPts val="0"/>
              </a:spcAft>
              <a:buClr>
                <a:schemeClr val="dk1"/>
              </a:buClr>
              <a:buSzPts val="1600"/>
              <a:buFont typeface="Noto Sans Symbols"/>
              <a:buChar char="⮚"/>
            </a:pPr>
            <a:r>
              <a:rPr b="1" lang="en-US" sz="1600"/>
              <a:t>Seasonality</a:t>
            </a:r>
            <a:r>
              <a:rPr lang="en-US" sz="1600"/>
              <a:t>: Typical shifts in the trend (e.g., the temperature increases every summer, while it decreases during winter).</a:t>
            </a:r>
            <a:endParaRPr/>
          </a:p>
          <a:p>
            <a:pPr indent="-228600" lvl="1" marL="685800" rtl="0" algn="l">
              <a:lnSpc>
                <a:spcPct val="90000"/>
              </a:lnSpc>
              <a:spcBef>
                <a:spcPts val="500"/>
              </a:spcBef>
              <a:spcAft>
                <a:spcPts val="0"/>
              </a:spcAft>
              <a:buClr>
                <a:schemeClr val="dk1"/>
              </a:buClr>
              <a:buSzPts val="1600"/>
              <a:buFont typeface="Noto Sans Symbols"/>
              <a:buChar char="⮚"/>
            </a:pPr>
            <a:r>
              <a:rPr b="1" lang="en-US" sz="1600"/>
              <a:t>Cyclicality</a:t>
            </a:r>
            <a:r>
              <a:rPr lang="en-US" sz="1600"/>
              <a:t>: Unusual shifts in the trend, without obvious patterns (e.g., Cryptocurrency trend shifts).</a:t>
            </a:r>
            <a:endParaRPr/>
          </a:p>
          <a:p>
            <a:pPr indent="-228600" lvl="1" marL="685800" rtl="0" algn="l">
              <a:lnSpc>
                <a:spcPct val="90000"/>
              </a:lnSpc>
              <a:spcBef>
                <a:spcPts val="500"/>
              </a:spcBef>
              <a:spcAft>
                <a:spcPts val="0"/>
              </a:spcAft>
              <a:buClr>
                <a:schemeClr val="dk1"/>
              </a:buClr>
              <a:buSzPts val="1600"/>
              <a:buFont typeface="Noto Sans Symbols"/>
              <a:buChar char="⮚"/>
            </a:pPr>
            <a:r>
              <a:rPr b="1" lang="en-US" sz="1600"/>
              <a:t>Irregularity</a:t>
            </a:r>
            <a:r>
              <a:rPr lang="en-US" sz="1600"/>
              <a:t>: Small increases or decreases of the variable that cannot easily be explained (e.g., noise).</a:t>
            </a:r>
            <a:endParaRPr sz="1600"/>
          </a:p>
          <a:p>
            <a:pPr indent="-76200" lvl="1" marL="685800" rtl="0" algn="l">
              <a:lnSpc>
                <a:spcPct val="90000"/>
              </a:lnSpc>
              <a:spcBef>
                <a:spcPts val="500"/>
              </a:spcBef>
              <a:spcAft>
                <a:spcPts val="0"/>
              </a:spcAft>
              <a:buClr>
                <a:schemeClr val="dk1"/>
              </a:buClr>
              <a:buSzPts val="2400"/>
              <a:buNone/>
            </a:pPr>
            <a:r>
              <a:t/>
            </a:r>
            <a:endParaRPr/>
          </a:p>
        </p:txBody>
      </p:sp>
      <p:sp>
        <p:nvSpPr>
          <p:cNvPr id="268" name="Google Shape;26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269" name="Google Shape;26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Time Series Analysis Introduction - Statistics By Jim" id="270" name="Google Shape;270;p18"/>
          <p:cNvPicPr preferRelativeResize="0"/>
          <p:nvPr/>
        </p:nvPicPr>
        <p:blipFill rotWithShape="1">
          <a:blip r:embed="rId3">
            <a:alphaModFix/>
          </a:blip>
          <a:srcRect b="0" l="0" r="0" t="0"/>
          <a:stretch/>
        </p:blipFill>
        <p:spPr>
          <a:xfrm>
            <a:off x="7530846" y="553351"/>
            <a:ext cx="4524053" cy="3016035"/>
          </a:xfrm>
          <a:prstGeom prst="rect">
            <a:avLst/>
          </a:prstGeom>
          <a:noFill/>
          <a:ln>
            <a:noFill/>
          </a:ln>
        </p:spPr>
      </p:pic>
      <p:grpSp>
        <p:nvGrpSpPr>
          <p:cNvPr id="271" name="Google Shape;271;p18"/>
          <p:cNvGrpSpPr/>
          <p:nvPr/>
        </p:nvGrpSpPr>
        <p:grpSpPr>
          <a:xfrm>
            <a:off x="7530846" y="3817144"/>
            <a:ext cx="4530620" cy="2535150"/>
            <a:chOff x="2465517" y="2413853"/>
            <a:chExt cx="6974887" cy="3902862"/>
          </a:xfrm>
        </p:grpSpPr>
        <p:pic>
          <p:nvPicPr>
            <p:cNvPr descr="Time Series Analysis: Understanding Seasonality and Cyclicality | by Rahul  S | Medium" id="272" name="Google Shape;272;p18"/>
            <p:cNvPicPr preferRelativeResize="0"/>
            <p:nvPr/>
          </p:nvPicPr>
          <p:blipFill rotWithShape="1">
            <a:blip r:embed="rId4">
              <a:alphaModFix/>
            </a:blip>
            <a:srcRect b="0" l="0" r="0" t="0"/>
            <a:stretch/>
          </p:blipFill>
          <p:spPr>
            <a:xfrm>
              <a:off x="2465517" y="2413853"/>
              <a:ext cx="6974887" cy="3484028"/>
            </a:xfrm>
            <a:prstGeom prst="rect">
              <a:avLst/>
            </a:prstGeom>
            <a:noFill/>
            <a:ln>
              <a:noFill/>
            </a:ln>
          </p:spPr>
        </p:pic>
        <p:sp>
          <p:nvSpPr>
            <p:cNvPr id="273" name="Google Shape;273;p18"/>
            <p:cNvSpPr txBox="1"/>
            <p:nvPr/>
          </p:nvSpPr>
          <p:spPr>
            <a:xfrm>
              <a:off x="4764024" y="5947383"/>
              <a:ext cx="2824491" cy="369332"/>
            </a:xfrm>
            <a:prstGeom prst="rect">
              <a:avLst/>
            </a:prstGeom>
            <a:blipFill rotWithShape="1">
              <a:blip r:embed="rId5">
                <a:alphaModFix/>
              </a:blip>
              <a:stretch>
                <a:fillRect b="-16665"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19"/>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Timeseries Analysis Challenges</a:t>
            </a:r>
            <a:endParaRPr/>
          </a:p>
        </p:txBody>
      </p:sp>
      <p:sp>
        <p:nvSpPr>
          <p:cNvPr id="279" name="Google Shape;279;p19"/>
          <p:cNvSpPr txBox="1"/>
          <p:nvPr>
            <p:ph idx="1" type="body"/>
          </p:nvPr>
        </p:nvSpPr>
        <p:spPr>
          <a:xfrm>
            <a:off x="838200" y="1462088"/>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Estimating a time-dependent variables is difficult.</a:t>
            </a:r>
            <a:endParaRPr/>
          </a:p>
          <a:p>
            <a:pPr indent="-228600" lvl="0" marL="228600" rtl="0" algn="l">
              <a:lnSpc>
                <a:spcPct val="90000"/>
              </a:lnSpc>
              <a:spcBef>
                <a:spcPts val="1000"/>
              </a:spcBef>
              <a:spcAft>
                <a:spcPts val="0"/>
              </a:spcAft>
              <a:buClr>
                <a:schemeClr val="dk1"/>
              </a:buClr>
              <a:buSzPts val="2000"/>
              <a:buChar char="•"/>
            </a:pPr>
            <a:r>
              <a:rPr b="1" lang="en-US" sz="2000"/>
              <a:t>The values depend on time periods </a:t>
            </a:r>
            <a:r>
              <a:rPr lang="en-US" sz="2000"/>
              <a:t>(e.g., summer has high temperatures, while winter has lower temperatures).</a:t>
            </a:r>
            <a:endParaRPr/>
          </a:p>
          <a:p>
            <a:pPr indent="-228600" lvl="0" marL="228600" rtl="0" algn="l">
              <a:lnSpc>
                <a:spcPct val="90000"/>
              </a:lnSpc>
              <a:spcBef>
                <a:spcPts val="1000"/>
              </a:spcBef>
              <a:spcAft>
                <a:spcPts val="0"/>
              </a:spcAft>
              <a:buClr>
                <a:schemeClr val="dk1"/>
              </a:buClr>
              <a:buSzPts val="2000"/>
              <a:buChar char="•"/>
            </a:pPr>
            <a:r>
              <a:rPr b="1" lang="en-US" sz="2000"/>
              <a:t>The values could be correlated to external factors </a:t>
            </a:r>
            <a:r>
              <a:rPr lang="en-US" sz="2000"/>
              <a:t>(e.g., a supermarket leaflet could increase the sales on dairy products. Even worse, a war could increase the prices of all products, which in turn can potentially reduce the sales of a supermarket).</a:t>
            </a:r>
            <a:endParaRPr/>
          </a:p>
          <a:p>
            <a:pPr indent="-228600" lvl="0" marL="228600" rtl="0" algn="l">
              <a:lnSpc>
                <a:spcPct val="90000"/>
              </a:lnSpc>
              <a:spcBef>
                <a:spcPts val="1000"/>
              </a:spcBef>
              <a:spcAft>
                <a:spcPts val="0"/>
              </a:spcAft>
              <a:buClr>
                <a:schemeClr val="dk1"/>
              </a:buClr>
              <a:buSzPts val="2000"/>
              <a:buChar char="•"/>
            </a:pPr>
            <a:r>
              <a:rPr b="1" lang="en-US" sz="2000"/>
              <a:t>Time series is a stochastic process </a:t>
            </a:r>
            <a:r>
              <a:rPr lang="en-US" sz="2000"/>
              <a:t>(e.g., the current price of a stock can affects its future price as well).</a:t>
            </a:r>
            <a:endParaRPr b="1" sz="2000"/>
          </a:p>
          <a:p>
            <a:pPr indent="-50800" lvl="0" marL="228600" rtl="0" algn="l">
              <a:lnSpc>
                <a:spcPct val="90000"/>
              </a:lnSpc>
              <a:spcBef>
                <a:spcPts val="1000"/>
              </a:spcBef>
              <a:spcAft>
                <a:spcPts val="0"/>
              </a:spcAft>
              <a:buClr>
                <a:schemeClr val="dk1"/>
              </a:buClr>
              <a:buSzPts val="2800"/>
              <a:buNone/>
            </a:pPr>
            <a:r>
              <a:t/>
            </a:r>
            <a:endParaRPr/>
          </a:p>
        </p:txBody>
      </p:sp>
      <p:sp>
        <p:nvSpPr>
          <p:cNvPr id="280" name="Google Shape;280;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281" name="Google Shape;281;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0"/>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Timeseries Types</a:t>
            </a:r>
            <a:endParaRPr/>
          </a:p>
        </p:txBody>
      </p:sp>
      <p:sp>
        <p:nvSpPr>
          <p:cNvPr id="287" name="Google Shape;287;p20"/>
          <p:cNvSpPr txBox="1"/>
          <p:nvPr>
            <p:ph idx="1" type="body"/>
          </p:nvPr>
        </p:nvSpPr>
        <p:spPr>
          <a:xfrm>
            <a:off x="838200" y="1462088"/>
            <a:ext cx="11149584" cy="287178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1" lang="en-US" sz="2000"/>
              <a:t>Univariate</a:t>
            </a:r>
            <a:r>
              <a:rPr lang="en-US" sz="2000"/>
              <a:t>: Only a single time-dependent variable is observed.</a:t>
            </a:r>
            <a:endParaRPr/>
          </a:p>
          <a:p>
            <a:pPr indent="-228600" lvl="0" marL="228600" rtl="0" algn="l">
              <a:lnSpc>
                <a:spcPct val="90000"/>
              </a:lnSpc>
              <a:spcBef>
                <a:spcPts val="1000"/>
              </a:spcBef>
              <a:spcAft>
                <a:spcPts val="0"/>
              </a:spcAft>
              <a:buClr>
                <a:schemeClr val="dk1"/>
              </a:buClr>
              <a:buSzPts val="2000"/>
              <a:buChar char="•"/>
            </a:pPr>
            <a:r>
              <a:rPr b="1" lang="en-US" sz="2000"/>
              <a:t>Multivariate</a:t>
            </a:r>
            <a:r>
              <a:rPr lang="en-US" sz="2000"/>
              <a:t>: Multiple time-dependent variables are observed.</a:t>
            </a:r>
            <a:endParaRPr/>
          </a:p>
          <a:p>
            <a:pPr indent="-228600" lvl="0" marL="228600" rtl="0" algn="l">
              <a:lnSpc>
                <a:spcPct val="90000"/>
              </a:lnSpc>
              <a:spcBef>
                <a:spcPts val="1000"/>
              </a:spcBef>
              <a:spcAft>
                <a:spcPts val="0"/>
              </a:spcAft>
              <a:buClr>
                <a:schemeClr val="dk1"/>
              </a:buClr>
              <a:buSzPts val="2000"/>
              <a:buChar char="•"/>
            </a:pPr>
            <a:r>
              <a:rPr b="1" lang="en-US" sz="2000"/>
              <a:t>Spatio-Temporal Data</a:t>
            </a:r>
            <a:r>
              <a:rPr lang="en-US" sz="2000"/>
              <a:t>: Multi-Dimensional variables that depend both on time and space (e.g. video frames, sound waves, etc.,).</a:t>
            </a:r>
            <a:endParaRPr/>
          </a:p>
          <a:p>
            <a:pPr indent="-228600" lvl="0" marL="228600" rtl="0" algn="l">
              <a:lnSpc>
                <a:spcPct val="90000"/>
              </a:lnSpc>
              <a:spcBef>
                <a:spcPts val="1000"/>
              </a:spcBef>
              <a:spcAft>
                <a:spcPts val="0"/>
              </a:spcAft>
              <a:buClr>
                <a:schemeClr val="dk1"/>
              </a:buClr>
              <a:buSzPts val="2000"/>
              <a:buChar char="•"/>
            </a:pPr>
            <a:r>
              <a:rPr b="1" lang="en-US" sz="2000"/>
              <a:t>Covariates</a:t>
            </a:r>
            <a:r>
              <a:rPr lang="en-US" sz="2000"/>
              <a:t>: External factors (both time-dependent and non time-dependent) that are observed along with the timeseries.</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Example: When predicting the sales of a supermarket, information about leaflets, events (such as holidays), weather, etc., that could affect the sales, are considered covariates and can be utilized to predict the sales of the next interval.</a:t>
            </a:r>
            <a:endParaRPr/>
          </a:p>
        </p:txBody>
      </p:sp>
      <p:sp>
        <p:nvSpPr>
          <p:cNvPr id="288" name="Google Shape;28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289" name="Google Shape;28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0" name="Google Shape;290;p20"/>
          <p:cNvPicPr preferRelativeResize="0"/>
          <p:nvPr/>
        </p:nvPicPr>
        <p:blipFill rotWithShape="1">
          <a:blip r:embed="rId3">
            <a:alphaModFix/>
          </a:blip>
          <a:srcRect b="0" l="0" r="0" t="0"/>
          <a:stretch/>
        </p:blipFill>
        <p:spPr>
          <a:xfrm>
            <a:off x="1805088" y="4271786"/>
            <a:ext cx="9215807" cy="214665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1"/>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Stationarity</a:t>
            </a:r>
            <a:endParaRPr/>
          </a:p>
        </p:txBody>
      </p:sp>
      <p:sp>
        <p:nvSpPr>
          <p:cNvPr id="296" name="Google Shape;296;p21"/>
          <p:cNvSpPr txBox="1"/>
          <p:nvPr>
            <p:ph idx="1" type="body"/>
          </p:nvPr>
        </p:nvSpPr>
        <p:spPr>
          <a:xfrm>
            <a:off x="765048" y="1569593"/>
            <a:ext cx="6010656"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1" lang="en-US" sz="2000"/>
              <a:t>Non-stationary</a:t>
            </a:r>
            <a:r>
              <a:rPr lang="en-US" sz="2000"/>
              <a:t>: A time series which constantly shifts its value away from the average. The standard deviation (std) could also change constantly.</a:t>
            </a:r>
            <a:endParaRPr/>
          </a:p>
          <a:p>
            <a:pPr indent="-228600" lvl="0" marL="228600" rtl="0" algn="l">
              <a:lnSpc>
                <a:spcPct val="90000"/>
              </a:lnSpc>
              <a:spcBef>
                <a:spcPts val="1000"/>
              </a:spcBef>
              <a:spcAft>
                <a:spcPts val="0"/>
              </a:spcAft>
              <a:buClr>
                <a:schemeClr val="dk1"/>
              </a:buClr>
              <a:buSzPts val="2000"/>
              <a:buChar char="•"/>
            </a:pPr>
            <a:r>
              <a:rPr b="1" lang="en-US" sz="2000"/>
              <a:t>Stationary</a:t>
            </a:r>
            <a:r>
              <a:rPr lang="en-US" sz="2000"/>
              <a:t>: A time series whose value stays around the average. The standard deviation remains the same as well.</a:t>
            </a:r>
            <a:endParaRPr/>
          </a:p>
          <a:p>
            <a:pPr indent="-228600" lvl="0" marL="228600" rtl="0" algn="l">
              <a:lnSpc>
                <a:spcPct val="90000"/>
              </a:lnSpc>
              <a:spcBef>
                <a:spcPts val="1000"/>
              </a:spcBef>
              <a:spcAft>
                <a:spcPts val="0"/>
              </a:spcAft>
              <a:buClr>
                <a:schemeClr val="dk1"/>
              </a:buClr>
              <a:buSzPts val="2000"/>
              <a:buChar char="•"/>
            </a:pPr>
            <a:r>
              <a:rPr b="1" lang="en-US" sz="2000"/>
              <a:t>It’s always easier to estimate stationary values, than non-stationary.</a:t>
            </a:r>
            <a:endParaRPr/>
          </a:p>
          <a:p>
            <a:pPr indent="-228600" lvl="0" marL="228600" rtl="0" algn="l">
              <a:lnSpc>
                <a:spcPct val="90000"/>
              </a:lnSpc>
              <a:spcBef>
                <a:spcPts val="1000"/>
              </a:spcBef>
              <a:spcAft>
                <a:spcPts val="0"/>
              </a:spcAft>
              <a:buClr>
                <a:schemeClr val="dk1"/>
              </a:buClr>
              <a:buSzPts val="2000"/>
              <a:buChar char="•"/>
            </a:pPr>
            <a:r>
              <a:rPr lang="en-US" sz="2000"/>
              <a:t>Example: When training a model on non-stationary timeseries, the model will learn to predict values around the mean value. If the mean value of the observed value changes, the model will probably fail to predict around the new mean value.</a:t>
            </a:r>
            <a:endParaRPr/>
          </a:p>
          <a:p>
            <a:pPr indent="-101600" lvl="0" marL="228600" rtl="0" algn="l">
              <a:lnSpc>
                <a:spcPct val="90000"/>
              </a:lnSpc>
              <a:spcBef>
                <a:spcPts val="1000"/>
              </a:spcBef>
              <a:spcAft>
                <a:spcPts val="0"/>
              </a:spcAft>
              <a:buClr>
                <a:schemeClr val="dk1"/>
              </a:buClr>
              <a:buSzPts val="2000"/>
              <a:buNone/>
            </a:pPr>
            <a:r>
              <a:t/>
            </a:r>
            <a:endParaRPr sz="2000"/>
          </a:p>
        </p:txBody>
      </p:sp>
      <p:sp>
        <p:nvSpPr>
          <p:cNvPr id="297" name="Google Shape;29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298" name="Google Shape;29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299" name="Google Shape;299;p21"/>
          <p:cNvGrpSpPr/>
          <p:nvPr/>
        </p:nvGrpSpPr>
        <p:grpSpPr>
          <a:xfrm>
            <a:off x="7036580" y="932041"/>
            <a:ext cx="4952728" cy="5010409"/>
            <a:chOff x="7036580" y="932041"/>
            <a:chExt cx="4952728" cy="5010409"/>
          </a:xfrm>
        </p:grpSpPr>
        <p:grpSp>
          <p:nvGrpSpPr>
            <p:cNvPr id="300" name="Google Shape;300;p21"/>
            <p:cNvGrpSpPr/>
            <p:nvPr/>
          </p:nvGrpSpPr>
          <p:grpSpPr>
            <a:xfrm>
              <a:off x="7036580" y="932041"/>
              <a:ext cx="4840478" cy="4689586"/>
              <a:chOff x="7036580" y="932041"/>
              <a:chExt cx="4840478" cy="4689586"/>
            </a:xfrm>
          </p:grpSpPr>
          <p:pic>
            <p:nvPicPr>
              <p:cNvPr descr="Stationarity in Time Series. Stationary vs non-Stationary Time… | by Ritu  Santra | Medium" id="301" name="Google Shape;301;p21"/>
              <p:cNvPicPr preferRelativeResize="0"/>
              <p:nvPr/>
            </p:nvPicPr>
            <p:blipFill rotWithShape="1">
              <a:blip r:embed="rId3">
                <a:alphaModFix/>
              </a:blip>
              <a:srcRect b="0" l="0" r="0" t="0"/>
              <a:stretch/>
            </p:blipFill>
            <p:spPr>
              <a:xfrm>
                <a:off x="7036580" y="932041"/>
                <a:ext cx="4840478" cy="4689586"/>
              </a:xfrm>
              <a:prstGeom prst="rect">
                <a:avLst/>
              </a:prstGeom>
              <a:noFill/>
              <a:ln>
                <a:noFill/>
              </a:ln>
            </p:spPr>
          </p:pic>
          <p:cxnSp>
            <p:nvCxnSpPr>
              <p:cNvPr id="302" name="Google Shape;302;p21"/>
              <p:cNvCxnSpPr/>
              <p:nvPr/>
            </p:nvCxnSpPr>
            <p:spPr>
              <a:xfrm>
                <a:off x="7379208" y="4681728"/>
                <a:ext cx="4334256" cy="0"/>
              </a:xfrm>
              <a:prstGeom prst="straightConnector1">
                <a:avLst/>
              </a:prstGeom>
              <a:noFill/>
              <a:ln cap="flat" cmpd="sng" w="19050">
                <a:solidFill>
                  <a:schemeClr val="accent4"/>
                </a:solidFill>
                <a:prstDash val="solid"/>
                <a:miter lim="800000"/>
                <a:headEnd len="sm" w="sm" type="none"/>
                <a:tailEnd len="sm" w="sm" type="none"/>
              </a:ln>
            </p:spPr>
          </p:cxnSp>
          <p:cxnSp>
            <p:nvCxnSpPr>
              <p:cNvPr id="303" name="Google Shape;303;p21"/>
              <p:cNvCxnSpPr/>
              <p:nvPr/>
            </p:nvCxnSpPr>
            <p:spPr>
              <a:xfrm>
                <a:off x="7379208" y="2136648"/>
                <a:ext cx="4334256" cy="0"/>
              </a:xfrm>
              <a:prstGeom prst="straightConnector1">
                <a:avLst/>
              </a:prstGeom>
              <a:noFill/>
              <a:ln cap="flat" cmpd="sng" w="19050">
                <a:solidFill>
                  <a:schemeClr val="accent4"/>
                </a:solidFill>
                <a:prstDash val="solid"/>
                <a:miter lim="800000"/>
                <a:headEnd len="sm" w="sm" type="none"/>
                <a:tailEnd len="sm" w="sm" type="none"/>
              </a:ln>
            </p:spPr>
          </p:cxnSp>
        </p:grpSp>
        <p:sp>
          <p:nvSpPr>
            <p:cNvPr id="304" name="Google Shape;304;p21"/>
            <p:cNvSpPr txBox="1"/>
            <p:nvPr/>
          </p:nvSpPr>
          <p:spPr>
            <a:xfrm>
              <a:off x="7103364" y="5634673"/>
              <a:ext cx="488594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Stationary timeseries remain around to the mean constantly</a:t>
              </a: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2"/>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Non-Stationary to Stationary</a:t>
            </a:r>
            <a:endParaRPr/>
          </a:p>
        </p:txBody>
      </p:sp>
      <p:sp>
        <p:nvSpPr>
          <p:cNvPr id="310" name="Google Shape;310;p22"/>
          <p:cNvSpPr txBox="1"/>
          <p:nvPr>
            <p:ph idx="1" type="body"/>
          </p:nvPr>
        </p:nvSpPr>
        <p:spPr>
          <a:xfrm>
            <a:off x="838200" y="1597025"/>
            <a:ext cx="10930128" cy="4351338"/>
          </a:xfrm>
          <a:prstGeom prst="rect">
            <a:avLst/>
          </a:prstGeom>
          <a:blipFill rotWithShape="1">
            <a:blip r:embed="rId3">
              <a:alphaModFix/>
            </a:blip>
            <a:stretch>
              <a:fillRect b="0" l="-501" r="0" t="-139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311" name="Google Shape;31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312" name="Google Shape;31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3"/>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Effects of Differencing</a:t>
            </a:r>
            <a:endParaRPr/>
          </a:p>
        </p:txBody>
      </p:sp>
      <p:sp>
        <p:nvSpPr>
          <p:cNvPr id="318" name="Google Shape;31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319" name="Google Shape;31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Time Series Analysis with ARIMA: Part 2 - Cisco Blogs" id="320" name="Google Shape;320;p23"/>
          <p:cNvPicPr preferRelativeResize="0"/>
          <p:nvPr/>
        </p:nvPicPr>
        <p:blipFill rotWithShape="1">
          <a:blip r:embed="rId3">
            <a:alphaModFix/>
          </a:blip>
          <a:srcRect b="0" l="0" r="0" t="0"/>
          <a:stretch/>
        </p:blipFill>
        <p:spPr>
          <a:xfrm>
            <a:off x="971549" y="1366838"/>
            <a:ext cx="10526619" cy="482045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4"/>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Log Returns</a:t>
            </a:r>
            <a:endParaRPr/>
          </a:p>
        </p:txBody>
      </p:sp>
      <p:sp>
        <p:nvSpPr>
          <p:cNvPr id="326" name="Google Shape;326;p24"/>
          <p:cNvSpPr txBox="1"/>
          <p:nvPr>
            <p:ph idx="1" type="body"/>
          </p:nvPr>
        </p:nvSpPr>
        <p:spPr>
          <a:xfrm>
            <a:off x="838200" y="1371917"/>
            <a:ext cx="11076432" cy="5166995"/>
          </a:xfrm>
          <a:prstGeom prst="rect">
            <a:avLst/>
          </a:prstGeom>
          <a:blipFill rotWithShape="1">
            <a:blip r:embed="rId3">
              <a:alphaModFix/>
            </a:blip>
            <a:stretch>
              <a:fillRect b="0" l="-384" r="0" t="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327" name="Google Shape;32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328" name="Google Shape;32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5"/>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Effects of Log Returns</a:t>
            </a:r>
            <a:endParaRPr/>
          </a:p>
        </p:txBody>
      </p:sp>
      <p:sp>
        <p:nvSpPr>
          <p:cNvPr id="334" name="Google Shape;334;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335" name="Google Shape;335;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1: Time series of stock prices and histograms of log-returns for the... |  Download Scientific Diagram" id="336" name="Google Shape;336;p25"/>
          <p:cNvPicPr preferRelativeResize="0"/>
          <p:nvPr/>
        </p:nvPicPr>
        <p:blipFill rotWithShape="1">
          <a:blip r:embed="rId3">
            <a:alphaModFix/>
          </a:blip>
          <a:srcRect b="0" l="0" r="0" t="0"/>
          <a:stretch/>
        </p:blipFill>
        <p:spPr>
          <a:xfrm>
            <a:off x="992511" y="1536192"/>
            <a:ext cx="10532480" cy="482015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6"/>
          <p:cNvSpPr txBox="1"/>
          <p:nvPr>
            <p:ph type="title"/>
          </p:nvPr>
        </p:nvSpPr>
        <p:spPr>
          <a:xfrm>
            <a:off x="838200" y="1365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Time Series Forecasting Methods</a:t>
            </a:r>
            <a:endParaRPr/>
          </a:p>
        </p:txBody>
      </p:sp>
      <p:sp>
        <p:nvSpPr>
          <p:cNvPr id="342" name="Google Shape;342;p26"/>
          <p:cNvSpPr txBox="1"/>
          <p:nvPr>
            <p:ph idx="1" type="body"/>
          </p:nvPr>
        </p:nvSpPr>
        <p:spPr>
          <a:xfrm>
            <a:off x="687302" y="1462088"/>
            <a:ext cx="5871269" cy="395630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2 common methods to estimate time series:</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Statistical Methods</a:t>
            </a:r>
            <a:endParaRPr/>
          </a:p>
          <a:p>
            <a:pPr indent="-228600" lvl="1" marL="685800" rtl="0" algn="l">
              <a:lnSpc>
                <a:spcPct val="90000"/>
              </a:lnSpc>
              <a:spcBef>
                <a:spcPts val="500"/>
              </a:spcBef>
              <a:spcAft>
                <a:spcPts val="0"/>
              </a:spcAft>
              <a:buClr>
                <a:schemeClr val="dk1"/>
              </a:buClr>
              <a:buSzPts val="1600"/>
              <a:buFont typeface="Noto Sans Symbols"/>
              <a:buChar char="⮚"/>
            </a:pPr>
            <a:r>
              <a:rPr lang="en-US" sz="1600"/>
              <a:t>Machine Learning (ML) Methods</a:t>
            </a:r>
            <a:endParaRPr/>
          </a:p>
          <a:p>
            <a:pPr indent="-228600" lvl="0" marL="228600" rtl="0" algn="l">
              <a:lnSpc>
                <a:spcPct val="90000"/>
              </a:lnSpc>
              <a:spcBef>
                <a:spcPts val="1000"/>
              </a:spcBef>
              <a:spcAft>
                <a:spcPts val="0"/>
              </a:spcAft>
              <a:buClr>
                <a:schemeClr val="dk1"/>
              </a:buClr>
              <a:buSzPts val="2000"/>
              <a:buChar char="•"/>
            </a:pPr>
            <a:r>
              <a:rPr lang="en-US" sz="2000"/>
              <a:t>ML methods learn to discover patterns inside a given timeframe.</a:t>
            </a:r>
            <a:endParaRPr/>
          </a:p>
          <a:p>
            <a:pPr indent="-228600" lvl="0" marL="228600" rtl="0" algn="l">
              <a:lnSpc>
                <a:spcPct val="90000"/>
              </a:lnSpc>
              <a:spcBef>
                <a:spcPts val="1000"/>
              </a:spcBef>
              <a:spcAft>
                <a:spcPts val="0"/>
              </a:spcAft>
              <a:buClr>
                <a:schemeClr val="dk1"/>
              </a:buClr>
              <a:buSzPts val="2000"/>
              <a:buChar char="•"/>
            </a:pPr>
            <a:r>
              <a:rPr lang="en-US" sz="2000"/>
              <a:t>Timeframe: A window (of size </a:t>
            </a:r>
            <a:r>
              <a:rPr i="1" lang="en-US" sz="2000"/>
              <a:t>N</a:t>
            </a:r>
            <a:r>
              <a:rPr lang="en-US" sz="2000"/>
              <a:t>) of time series observations along with their covariates.</a:t>
            </a:r>
            <a:endParaRPr/>
          </a:p>
          <a:p>
            <a:pPr indent="-228600" lvl="0" marL="228600" rtl="0" algn="l">
              <a:lnSpc>
                <a:spcPct val="90000"/>
              </a:lnSpc>
              <a:spcBef>
                <a:spcPts val="1000"/>
              </a:spcBef>
              <a:spcAft>
                <a:spcPts val="0"/>
              </a:spcAft>
              <a:buClr>
                <a:schemeClr val="dk1"/>
              </a:buClr>
              <a:buSzPts val="2000"/>
              <a:buChar char="•"/>
            </a:pPr>
            <a:r>
              <a:rPr lang="en-US" sz="2000"/>
              <a:t>If ML algorithms support only vectors as inputs, the timeframe inputs must be converted to vectors.</a:t>
            </a:r>
            <a:endParaRPr/>
          </a:p>
          <a:p>
            <a:pPr indent="-101600" lvl="0" marL="228600" rtl="0" algn="l">
              <a:lnSpc>
                <a:spcPct val="90000"/>
              </a:lnSpc>
              <a:spcBef>
                <a:spcPts val="1000"/>
              </a:spcBef>
              <a:spcAft>
                <a:spcPts val="0"/>
              </a:spcAft>
              <a:buClr>
                <a:schemeClr val="dk1"/>
              </a:buClr>
              <a:buSzPts val="2000"/>
              <a:buNone/>
            </a:pPr>
            <a:r>
              <a:t/>
            </a:r>
            <a:endParaRPr sz="2000"/>
          </a:p>
        </p:txBody>
      </p:sp>
      <p:sp>
        <p:nvSpPr>
          <p:cNvPr id="343" name="Google Shape;34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344" name="Google Shape;34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345" name="Google Shape;345;p26"/>
          <p:cNvGrpSpPr/>
          <p:nvPr/>
        </p:nvGrpSpPr>
        <p:grpSpPr>
          <a:xfrm>
            <a:off x="7071116" y="1462088"/>
            <a:ext cx="4618218" cy="3078812"/>
            <a:chOff x="6915668" y="3361287"/>
            <a:chExt cx="4618218" cy="3078812"/>
          </a:xfrm>
        </p:grpSpPr>
        <p:grpSp>
          <p:nvGrpSpPr>
            <p:cNvPr id="346" name="Google Shape;346;p26"/>
            <p:cNvGrpSpPr/>
            <p:nvPr/>
          </p:nvGrpSpPr>
          <p:grpSpPr>
            <a:xfrm>
              <a:off x="6915668" y="3361287"/>
              <a:ext cx="4618218" cy="3078812"/>
              <a:chOff x="7137918" y="2872337"/>
              <a:chExt cx="4618218" cy="3078812"/>
            </a:xfrm>
          </p:grpSpPr>
          <p:pic>
            <p:nvPicPr>
              <p:cNvPr descr="Time Series Analysis Introduction - Statistics By Jim" id="347" name="Google Shape;347;p26"/>
              <p:cNvPicPr preferRelativeResize="0"/>
              <p:nvPr/>
            </p:nvPicPr>
            <p:blipFill rotWithShape="1">
              <a:blip r:embed="rId3">
                <a:alphaModFix/>
              </a:blip>
              <a:srcRect b="0" l="0" r="0" t="0"/>
              <a:stretch/>
            </p:blipFill>
            <p:spPr>
              <a:xfrm>
                <a:off x="7137918" y="2872337"/>
                <a:ext cx="4618218" cy="3078812"/>
              </a:xfrm>
              <a:prstGeom prst="rect">
                <a:avLst/>
              </a:prstGeom>
              <a:noFill/>
              <a:ln>
                <a:noFill/>
              </a:ln>
            </p:spPr>
          </p:pic>
          <p:sp>
            <p:nvSpPr>
              <p:cNvPr id="348" name="Google Shape;348;p26"/>
              <p:cNvSpPr/>
              <p:nvPr/>
            </p:nvSpPr>
            <p:spPr>
              <a:xfrm>
                <a:off x="7651847" y="4514896"/>
                <a:ext cx="1222311" cy="951723"/>
              </a:xfrm>
              <a:prstGeom prst="rect">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49" name="Google Shape;349;p26"/>
              <p:cNvSpPr txBox="1"/>
              <p:nvPr/>
            </p:nvSpPr>
            <p:spPr>
              <a:xfrm>
                <a:off x="7651847" y="4236538"/>
                <a:ext cx="101611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Timeframe</a:t>
                </a:r>
                <a:endParaRPr sz="1800">
                  <a:solidFill>
                    <a:schemeClr val="dk1"/>
                  </a:solidFill>
                  <a:latin typeface="Arial"/>
                  <a:ea typeface="Arial"/>
                  <a:cs typeface="Arial"/>
                  <a:sym typeface="Arial"/>
                </a:endParaRPr>
              </a:p>
            </p:txBody>
          </p:sp>
        </p:grpSp>
        <p:sp>
          <p:nvSpPr>
            <p:cNvPr id="350" name="Google Shape;350;p26"/>
            <p:cNvSpPr/>
            <p:nvPr/>
          </p:nvSpPr>
          <p:spPr>
            <a:xfrm>
              <a:off x="8685371" y="5318758"/>
              <a:ext cx="45719" cy="45719"/>
            </a:xfrm>
            <a:prstGeom prst="ellipse">
              <a:avLst/>
            </a:prstGeom>
            <a:solidFill>
              <a:srgbClr val="FF0000"/>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1" name="Google Shape;351;p26"/>
            <p:cNvSpPr txBox="1"/>
            <p:nvPr/>
          </p:nvSpPr>
          <p:spPr>
            <a:xfrm>
              <a:off x="8685371" y="5615789"/>
              <a:ext cx="1030539" cy="307777"/>
            </a:xfrm>
            <a:prstGeom prst="rect">
              <a:avLst/>
            </a:prstGeom>
            <a:blipFill rotWithShape="1">
              <a:blip r:embed="rId4">
                <a:alphaModFix/>
              </a:blip>
              <a:stretch>
                <a:fillRect b="-19998" l="-1773" r="0" t="-399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cxnSp>
          <p:nvCxnSpPr>
            <p:cNvPr id="352" name="Google Shape;352;p26"/>
            <p:cNvCxnSpPr/>
            <p:nvPr/>
          </p:nvCxnSpPr>
          <p:spPr>
            <a:xfrm rot="10800000">
              <a:off x="8708230" y="5364477"/>
              <a:ext cx="223045" cy="320361"/>
            </a:xfrm>
            <a:prstGeom prst="straightConnector1">
              <a:avLst/>
            </a:prstGeom>
            <a:noFill/>
            <a:ln cap="flat" cmpd="sng" w="12700">
              <a:solidFill>
                <a:schemeClr val="dk1"/>
              </a:solidFill>
              <a:prstDash val="solid"/>
              <a:miter lim="800000"/>
              <a:headEnd len="sm" w="sm" type="none"/>
              <a:tailEnd len="med" w="med" type="triangle"/>
            </a:ln>
          </p:spPr>
        </p:cxnSp>
        <p:sp>
          <p:nvSpPr>
            <p:cNvPr id="353" name="Google Shape;353;p26"/>
            <p:cNvSpPr txBox="1"/>
            <p:nvPr/>
          </p:nvSpPr>
          <p:spPr>
            <a:xfrm>
              <a:off x="7328825" y="5422527"/>
              <a:ext cx="411844" cy="307777"/>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sp>
          <p:nvSpPr>
            <p:cNvPr id="354" name="Google Shape;354;p26"/>
            <p:cNvSpPr txBox="1"/>
            <p:nvPr/>
          </p:nvSpPr>
          <p:spPr>
            <a:xfrm>
              <a:off x="8303395" y="5099765"/>
              <a:ext cx="438966" cy="307777"/>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Arial"/>
                  <a:ea typeface="Arial"/>
                  <a:cs typeface="Arial"/>
                  <a:sym typeface="Arial"/>
                </a:rPr>
                <a:t> </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7"/>
          <p:cNvSpPr txBox="1"/>
          <p:nvPr>
            <p:ph type="title"/>
          </p:nvPr>
        </p:nvSpPr>
        <p:spPr>
          <a:xfrm>
            <a:off x="838200" y="18541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Timeframe Window Selection</a:t>
            </a:r>
            <a:endParaRPr/>
          </a:p>
        </p:txBody>
      </p:sp>
      <p:sp>
        <p:nvSpPr>
          <p:cNvPr id="360" name="Google Shape;360;p27"/>
          <p:cNvSpPr txBox="1"/>
          <p:nvPr>
            <p:ph idx="1" type="body"/>
          </p:nvPr>
        </p:nvSpPr>
        <p:spPr>
          <a:xfrm>
            <a:off x="838200" y="1603378"/>
            <a:ext cx="11039856" cy="1638223"/>
          </a:xfrm>
          <a:prstGeom prst="rect">
            <a:avLst/>
          </a:prstGeom>
          <a:blipFill rotWithShape="1">
            <a:blip r:embed="rId3">
              <a:alphaModFix/>
            </a:blip>
            <a:stretch>
              <a:fillRect b="0" l="-496" r="0" t="-3344"/>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
        <p:nvSpPr>
          <p:cNvPr id="361" name="Google Shape;361;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362" name="Google Shape;362;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363" name="Google Shape;363;p27"/>
          <p:cNvGrpSpPr/>
          <p:nvPr/>
        </p:nvGrpSpPr>
        <p:grpSpPr>
          <a:xfrm>
            <a:off x="1847285" y="3458160"/>
            <a:ext cx="5077573" cy="2776493"/>
            <a:chOff x="2076039" y="4443681"/>
            <a:chExt cx="4126451" cy="2256405"/>
          </a:xfrm>
        </p:grpSpPr>
        <p:grpSp>
          <p:nvGrpSpPr>
            <p:cNvPr id="364" name="Google Shape;364;p27"/>
            <p:cNvGrpSpPr/>
            <p:nvPr/>
          </p:nvGrpSpPr>
          <p:grpSpPr>
            <a:xfrm>
              <a:off x="2148923" y="4443681"/>
              <a:ext cx="2821422" cy="1880948"/>
              <a:chOff x="1400863" y="4614713"/>
              <a:chExt cx="2821422" cy="1880948"/>
            </a:xfrm>
          </p:grpSpPr>
          <p:grpSp>
            <p:nvGrpSpPr>
              <p:cNvPr id="365" name="Google Shape;365;p27"/>
              <p:cNvGrpSpPr/>
              <p:nvPr/>
            </p:nvGrpSpPr>
            <p:grpSpPr>
              <a:xfrm>
                <a:off x="1400863" y="4614713"/>
                <a:ext cx="2821422" cy="1880948"/>
                <a:chOff x="7137918" y="2872337"/>
                <a:chExt cx="4618218" cy="3078812"/>
              </a:xfrm>
            </p:grpSpPr>
            <p:pic>
              <p:nvPicPr>
                <p:cNvPr descr="Time Series Analysis Introduction - Statistics By Jim" id="366" name="Google Shape;366;p27"/>
                <p:cNvPicPr preferRelativeResize="0"/>
                <p:nvPr/>
              </p:nvPicPr>
              <p:blipFill rotWithShape="1">
                <a:blip r:embed="rId4">
                  <a:alphaModFix/>
                </a:blip>
                <a:srcRect b="0" l="0" r="0" t="0"/>
                <a:stretch/>
              </p:blipFill>
              <p:spPr>
                <a:xfrm>
                  <a:off x="7137918" y="2872337"/>
                  <a:ext cx="4618218" cy="3078812"/>
                </a:xfrm>
                <a:prstGeom prst="rect">
                  <a:avLst/>
                </a:prstGeom>
                <a:noFill/>
                <a:ln>
                  <a:noFill/>
                </a:ln>
              </p:spPr>
            </p:pic>
            <p:sp>
              <p:nvSpPr>
                <p:cNvPr id="367" name="Google Shape;367;p27"/>
                <p:cNvSpPr/>
                <p:nvPr/>
              </p:nvSpPr>
              <p:spPr>
                <a:xfrm>
                  <a:off x="7651847" y="4514897"/>
                  <a:ext cx="879561" cy="951723"/>
                </a:xfrm>
                <a:prstGeom prst="rect">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sp>
            <p:nvSpPr>
              <p:cNvPr id="368" name="Google Shape;368;p27"/>
              <p:cNvSpPr/>
              <p:nvPr/>
            </p:nvSpPr>
            <p:spPr>
              <a:xfrm>
                <a:off x="2305883" y="5618207"/>
                <a:ext cx="537353" cy="581439"/>
              </a:xfrm>
              <a:prstGeom prst="rect">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sp>
          <p:nvSpPr>
            <p:cNvPr id="369" name="Google Shape;369;p27"/>
            <p:cNvSpPr txBox="1"/>
            <p:nvPr/>
          </p:nvSpPr>
          <p:spPr>
            <a:xfrm>
              <a:off x="2076039" y="6330754"/>
              <a:ext cx="41264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Discovers patterns for the near future</a:t>
              </a:r>
              <a:endParaRPr/>
            </a:p>
          </p:txBody>
        </p:sp>
      </p:grpSp>
      <p:grpSp>
        <p:nvGrpSpPr>
          <p:cNvPr id="370" name="Google Shape;370;p27"/>
          <p:cNvGrpSpPr/>
          <p:nvPr/>
        </p:nvGrpSpPr>
        <p:grpSpPr>
          <a:xfrm>
            <a:off x="5834229" y="3453818"/>
            <a:ext cx="5367528" cy="2802371"/>
            <a:chOff x="6152050" y="4443681"/>
            <a:chExt cx="4362092" cy="2277435"/>
          </a:xfrm>
        </p:grpSpPr>
        <p:grpSp>
          <p:nvGrpSpPr>
            <p:cNvPr id="371" name="Google Shape;371;p27"/>
            <p:cNvGrpSpPr/>
            <p:nvPr/>
          </p:nvGrpSpPr>
          <p:grpSpPr>
            <a:xfrm>
              <a:off x="6417066" y="4443681"/>
              <a:ext cx="2821422" cy="1880948"/>
              <a:chOff x="7137918" y="2872337"/>
              <a:chExt cx="4618219" cy="3078812"/>
            </a:xfrm>
          </p:grpSpPr>
          <p:pic>
            <p:nvPicPr>
              <p:cNvPr descr="Time Series Analysis Introduction - Statistics By Jim" id="372" name="Google Shape;372;p27"/>
              <p:cNvPicPr preferRelativeResize="0"/>
              <p:nvPr/>
            </p:nvPicPr>
            <p:blipFill rotWithShape="1">
              <a:blip r:embed="rId4">
                <a:alphaModFix/>
              </a:blip>
              <a:srcRect b="0" l="0" r="0" t="0"/>
              <a:stretch/>
            </p:blipFill>
            <p:spPr>
              <a:xfrm>
                <a:off x="7137918" y="2872337"/>
                <a:ext cx="4618219" cy="3078812"/>
              </a:xfrm>
              <a:prstGeom prst="rect">
                <a:avLst/>
              </a:prstGeom>
              <a:noFill/>
              <a:ln>
                <a:noFill/>
              </a:ln>
            </p:spPr>
          </p:pic>
          <p:sp>
            <p:nvSpPr>
              <p:cNvPr id="373" name="Google Shape;373;p27"/>
              <p:cNvSpPr/>
              <p:nvPr/>
            </p:nvSpPr>
            <p:spPr>
              <a:xfrm>
                <a:off x="7651847" y="4514897"/>
                <a:ext cx="1869177" cy="951723"/>
              </a:xfrm>
              <a:prstGeom prst="rect">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sp>
          <p:nvSpPr>
            <p:cNvPr id="374" name="Google Shape;374;p27"/>
            <p:cNvSpPr/>
            <p:nvPr/>
          </p:nvSpPr>
          <p:spPr>
            <a:xfrm>
              <a:off x="7918704" y="5007203"/>
              <a:ext cx="1141942" cy="581439"/>
            </a:xfrm>
            <a:prstGeom prst="rect">
              <a:avLst/>
            </a:prstGeom>
            <a:noFill/>
            <a:ln cap="flat" cmpd="sng" w="381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75" name="Google Shape;375;p27"/>
            <p:cNvSpPr txBox="1"/>
            <p:nvPr/>
          </p:nvSpPr>
          <p:spPr>
            <a:xfrm>
              <a:off x="6152050" y="6351784"/>
              <a:ext cx="43620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Discovers patterns for the distant future</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Machine Learning</a:t>
            </a:r>
            <a:endParaRPr/>
          </a:p>
        </p:txBody>
      </p:sp>
      <p:sp>
        <p:nvSpPr>
          <p:cNvPr id="381" name="Google Shape;381;p2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Ensemble Methods &amp; Time Series Notes</a:t>
            </a:r>
            <a:endParaRPr/>
          </a:p>
          <a:p>
            <a:pPr indent="0" lvl="0" marL="0" rtl="0" algn="ctr">
              <a:lnSpc>
                <a:spcPct val="90000"/>
              </a:lnSpc>
              <a:spcBef>
                <a:spcPts val="1000"/>
              </a:spcBef>
              <a:spcAft>
                <a:spcPts val="0"/>
              </a:spcAft>
              <a:buClr>
                <a:schemeClr val="dk1"/>
              </a:buClr>
              <a:buSzPts val="2400"/>
              <a:buNone/>
            </a:pPr>
            <a:r>
              <a:t/>
            </a:r>
            <a:endParaRPr/>
          </a:p>
        </p:txBody>
      </p:sp>
      <p:sp>
        <p:nvSpPr>
          <p:cNvPr id="382" name="Google Shape;3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Βασίλειος Κοχλιαρίδης</a:t>
            </a:r>
            <a:endParaRPr/>
          </a:p>
        </p:txBody>
      </p:sp>
      <p:sp>
        <p:nvSpPr>
          <p:cNvPr id="383" name="Google Shape;3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Θέμα του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Θέμα του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2025-10-22T08:27:29Z</dcterms:created>
  <dc:creator>Vasileios Kochliaridis</dc:creator>
</cp:coreProperties>
</file>