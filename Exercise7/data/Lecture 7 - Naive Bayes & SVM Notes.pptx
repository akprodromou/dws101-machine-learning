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7" r:id="rId3"/>
    <p:sldId id="288" r:id="rId4"/>
    <p:sldId id="286" r:id="rId5"/>
    <p:sldId id="285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1AAF54"/>
    <a:srgbClr val="000000"/>
    <a:srgbClr val="7E95A9"/>
    <a:srgbClr val="3E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Φωτεινό στυλ 2 - Έμφαση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5758FB7-9AC5-4552-8A53-C91805E547FA}" styleName="Στυλ με θέμα 1 - Έμφαση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Στυλ με θέμα 1 - Έμφαση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8D230F3-CF80-4859-8CE7-A43EE81993B5}" styleName="Φωτεινό στυλ 1 - Έμφαση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Φωτεινό στυλ 2 - Έμφαση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Φωτεινό στυλ 3 - Έμφαση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E574E-E298-4894-A198-54B8693C00D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EEC81-55A3-45B1-86BF-5CEFB88E3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80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E3F2C7-4BFA-96D7-D7DB-89CE059E9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87FA496E-15E4-B6BD-2619-3D34222E0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DF0B0D9-EE98-037A-2344-7CC4B4E7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831-E9E5-441A-988F-2CF775A095F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BFB534-8947-8C37-4FA7-9FA9C424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DC8CE2F-F2D2-7280-2306-D7F69279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4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460618F-C768-41A8-48DE-BB108636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7AEF68D-C62B-FCBA-1472-10F022DE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9CACAF7-E2AE-6617-78A1-EFF8C0D7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617B9-7FDC-483F-873E-DA0B569A49A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2F76099-BCF7-C484-CCA4-7360E1B4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7E7D658-FD80-BF1C-12C2-96A60BE9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5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4DAC28B-5302-263A-BFA3-A9B067C6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41E70EB-D764-5148-416C-C22E4252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90778B5-0C05-BA17-E905-83FD5C40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D5F0-2BFE-4CF8-8E92-6585B621437A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75BF08D-2CE8-E775-5227-75DC306C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D73FBE2-BDCD-71A0-40F6-879EAB92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7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39AC0BF-ED31-BD2F-ADDC-10F1DC31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518A3B0-B3BB-D820-8653-9FF6BD585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1AC07E0-13D4-AC1D-FDC2-1AFD08E33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A1EF92E-745E-94D7-11C5-D264A7E0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ADA2-3B4C-46E9-8174-5D0E15805C71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87AF416-7FBD-C8A0-B475-79C435CB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004D500-C8D4-2F31-DFA0-25EFC092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8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393112-FBEE-410C-70DA-170D9B76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0FFF49C-A0C5-9203-D2A1-E1893DB81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1752245-D4AF-76ED-FDE1-EDFAD6F35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A1DE0065-EB8D-B3F7-D776-46B6D8B09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B3B07BD2-28E5-1381-56E6-FDBA5B435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7A1D7FF4-7624-31A5-1C91-857E16CE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38BB-A4D8-4872-B24E-5D3AC6E6DC33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04A2E9E-E9B6-CD71-8E7A-575739CB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DE27359-0D89-C15A-9B92-9FC2FBE3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0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B25A365-3116-1AE4-20AD-C24E0088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2994D23B-458D-EF75-DA0D-79F7559A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5F4BD-973A-410F-8C3C-0269CFA833D8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CE3F91F-411E-6138-2000-0C1B4A6A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A25C88F-6C11-0912-3A92-4EF89619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2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274D46C-3FB2-E5C2-1A88-A86DF47D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471D-D131-45DE-A009-59BE12540FC5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07EB22A4-CB01-7737-EAC5-469ACE78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48F6454-9E8B-A0B9-FE09-97AC2713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8F319A-89EB-5A06-E3E7-4F31DF5D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F6087A-78D5-D13D-D00B-8ABBF6FF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FCA236A-EF71-4BE2-0068-A7932DE46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B8F22118-6220-4D40-A2B9-5890D2C6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553-CE6B-4599-9928-D38612B86624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9E8D599-74CF-87BF-8586-22C44968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8D3BB52-2005-14C4-8122-00625EA0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4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3225D27-9791-3105-6CF9-668B24BB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FB710D2D-77E8-9D9F-F582-BEBAF69B0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39E8FF25-A3C8-2EC5-165B-526B0903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C752309-981B-6AC1-FC07-F8C9580E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8521-FE12-480A-BC4B-DD515FBC730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09E01FB-A5C2-62AA-DF55-231B81CE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484544D-E8E1-4A5B-17F7-CB11B1C1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6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06B2C6-EEEC-C58E-69FA-F4D9739A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8CB615D6-C424-9ECA-8BD2-EE399612E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0FE6F3F-FE13-FB7A-51D8-B5770F49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2010-1B2A-440F-AFD4-664A5CC9F1F8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1BE53B9-0998-15D4-A075-4E2803BB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2BDF2C4-019D-FC39-4F9B-09A5D833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1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97A29ED4-6DEF-6149-40E0-7D201F864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A5541CB6-75EF-2782-A141-A6FE8E5E1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F137CBE-93FC-E5E3-31F2-1F1A9FE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C63D-8EAA-47D9-8532-DD60D85DB32C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C17E096-0B6B-1DBC-0F56-F1096F9B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28CD2A0-0861-531B-745E-990D44C8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4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F36916FB-0020-AB95-D03C-EC374918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6860E355-EAA0-65F2-0BAF-DD2CA165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2B012A8-F0C5-ACC9-FC4F-F4144F37E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4F95B-A8D5-4244-9736-EEDE6971DA72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A9EF4B0-F0A6-6557-006E-B134CC405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0A72897-7FBD-FD58-B77B-3B037316E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1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geeksforgeeks.org/machine-learning/naive-bayes-classifier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geeksforgeeks.org/machine-learning/gaussian-naive-bay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web.mit.edu/6.034/wwwbob/svm.pdf" TargetMode="External"/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www.youtube.com/watch?v=_PwhiWxHK8o&amp;t=658s" TargetMode="External"/><Relationship Id="rId4" Type="http://schemas.openxmlformats.org/officeDocument/2006/relationships/hyperlink" Target="https://www.youtube.com/watch?v=efR1C6Cvhm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E5A4C6-24CC-B4BF-FFD4-07EF3EC0F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9ED8208-0A9E-336C-19B8-C5445430F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Naïve Bayes &amp; SVM</a:t>
            </a:r>
          </a:p>
          <a:p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79200B8-EB55-E5BC-2B8F-EF918652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6CBEA11-E944-2EC7-870A-E6864FD2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6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05A1A2-E774-3722-EA54-8587146F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160C4E1-72BF-912E-AED6-1DEF74407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6192"/>
                <a:ext cx="8013192" cy="4640771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000" dirty="0"/>
                  <a:t> the possible outcomes of a random experiment, a set is defined as the collection of the desired outcomes.</a:t>
                </a:r>
              </a:p>
              <a:p>
                <a:r>
                  <a:rPr lang="en-US" sz="2000" b="1" dirty="0"/>
                  <a:t>Sample Space</a:t>
                </a:r>
                <a:r>
                  <a:rPr lang="en-US" sz="2000" dirty="0"/>
                  <a:t>: A set of all possible outcomes: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000" b="0" i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Event</a:t>
                </a:r>
                <a:r>
                  <a:rPr lang="en-US" sz="2000" dirty="0"/>
                  <a:t>: A subset of the sample space: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l-G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sz="20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Example: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is the event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𝑜𝑢𝑡𝑐𝑜𝑚𝑒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  <a:p>
                <a:r>
                  <a:rPr lang="en-US" sz="2000" dirty="0"/>
                  <a:t>We can investigate multiple events with overlapping outcomes: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Example: Two players,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place a bet in roulette.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places a chip on numbers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0,1,2,3</m:t>
                    </m:r>
                  </m:oMath>
                </a14:m>
                <a:r>
                  <a:rPr lang="en-US" sz="1600" dirty="0"/>
                  <a:t>, while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places a chip on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30, 33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1600" b="0" i="0" smtClean="0">
                        <a:latin typeface="Cambria Math" panose="02040503050406030204" pitchFamily="18" charset="0"/>
                      </a:rPr>
                      <m:t>={0,1,2,…,36}</m:t>
                    </m:r>
                  </m:oMath>
                </a14:m>
                <a:r>
                  <a:rPr lang="el-GR" sz="1600" b="0" i="1" dirty="0">
                    <a:latin typeface="Cambria Math" panose="02040503050406030204" pitchFamily="18" charset="0"/>
                  </a:rPr>
                  <a:t>.</a:t>
                </a:r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={0,1,2,3}</m:t>
                    </m:r>
                  </m:oMath>
                </a14:m>
                <a:r>
                  <a:rPr lang="el-GR" sz="1600" dirty="0"/>
                  <a:t>.</a:t>
                </a:r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={0,30,33}</m:t>
                    </m:r>
                  </m:oMath>
                </a14:m>
                <a:r>
                  <a:rPr lang="el-GR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are friends, the only way that both win is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𝑜𝑢𝑡𝑐𝑜𝑚𝑒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160C4E1-72BF-912E-AED6-1DEF74407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6192"/>
                <a:ext cx="8013192" cy="4640771"/>
              </a:xfrm>
              <a:blipFill>
                <a:blip r:embed="rId2"/>
                <a:stretch>
                  <a:fillRect l="-685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4DA254CC-D964-8C2F-E783-16498CE3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88E868B-BF4C-70CA-9DA6-6E5FF8D4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Ομάδα 5">
            <a:extLst>
              <a:ext uri="{FF2B5EF4-FFF2-40B4-BE49-F238E27FC236}">
                <a16:creationId xmlns:a16="http://schemas.microsoft.com/office/drawing/2014/main" id="{BA7DDDFB-1BA4-6550-9212-142960410C18}"/>
              </a:ext>
            </a:extLst>
          </p:cNvPr>
          <p:cNvGrpSpPr/>
          <p:nvPr/>
        </p:nvGrpSpPr>
        <p:grpSpPr>
          <a:xfrm>
            <a:off x="9190168" y="4081865"/>
            <a:ext cx="2772162" cy="1867161"/>
            <a:chOff x="9272775" y="3140230"/>
            <a:chExt cx="2772162" cy="1867161"/>
          </a:xfrm>
        </p:grpSpPr>
        <p:pic>
          <p:nvPicPr>
            <p:cNvPr id="7" name="Εικόνα 6">
              <a:extLst>
                <a:ext uri="{FF2B5EF4-FFF2-40B4-BE49-F238E27FC236}">
                  <a16:creationId xmlns:a16="http://schemas.microsoft.com/office/drawing/2014/main" id="{53156972-1814-6FD7-42EA-BC016F5B2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2775" y="3140230"/>
              <a:ext cx="2772162" cy="18671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7A9B89D-D168-019A-E7FD-6CC6AE59B960}"/>
                    </a:ext>
                  </a:extLst>
                </p:cNvPr>
                <p:cNvSpPr txBox="1"/>
                <p:nvPr/>
              </p:nvSpPr>
              <p:spPr>
                <a:xfrm>
                  <a:off x="9272775" y="3140230"/>
                  <a:ext cx="178619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l-GR" sz="1600" b="0" i="0" smtClean="0">
                            <a:latin typeface="Cambria Math" panose="02040503050406030204" pitchFamily="18" charset="0"/>
                          </a:rPr>
                          <m:t>={0,1,2,…,36}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104087-FCA2-5AF2-5C61-D12649FAF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2775" y="3140230"/>
                  <a:ext cx="1786195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79EFD99-0564-0B73-FE6A-A1D13CE37A79}"/>
                    </a:ext>
                  </a:extLst>
                </p:cNvPr>
                <p:cNvSpPr txBox="1"/>
                <p:nvPr/>
              </p:nvSpPr>
              <p:spPr>
                <a:xfrm>
                  <a:off x="9606776" y="3889144"/>
                  <a:ext cx="3581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7E5591-5EB8-44BF-7598-97C697B74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6776" y="3889144"/>
                  <a:ext cx="358175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2F95D99-CA59-3350-5A5B-E3DF4D4F3D2F}"/>
                    </a:ext>
                  </a:extLst>
                </p:cNvPr>
                <p:cNvSpPr txBox="1"/>
                <p:nvPr/>
              </p:nvSpPr>
              <p:spPr>
                <a:xfrm>
                  <a:off x="11257290" y="3845211"/>
                  <a:ext cx="36651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B84654-05C7-A5DF-744F-D6D6350DB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7290" y="3845211"/>
                  <a:ext cx="36651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0BB809-9131-EF2D-0F87-C79E06FCE065}"/>
                </a:ext>
              </a:extLst>
            </p:cNvPr>
            <p:cNvSpPr txBox="1"/>
            <p:nvPr/>
          </p:nvSpPr>
          <p:spPr>
            <a:xfrm>
              <a:off x="10014455" y="3747250"/>
              <a:ext cx="29367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  <a:br>
                <a:rPr lang="en-US" sz="1600" dirty="0"/>
              </a:br>
              <a:r>
                <a:rPr lang="en-US" sz="1600" dirty="0"/>
                <a:t>2</a:t>
              </a:r>
              <a:br>
                <a:rPr lang="en-US" sz="1600" dirty="0"/>
              </a:br>
              <a:r>
                <a:rPr lang="en-US" sz="1600" dirty="0"/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5B9CF3-8FBD-3E84-D81D-F0FBF0523B21}"/>
                </a:ext>
              </a:extLst>
            </p:cNvPr>
            <p:cNvSpPr txBox="1"/>
            <p:nvPr/>
          </p:nvSpPr>
          <p:spPr>
            <a:xfrm>
              <a:off x="10489037" y="3993471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C0FED7-5779-EDC4-FEA8-049A30ACC587}"/>
                </a:ext>
              </a:extLst>
            </p:cNvPr>
            <p:cNvSpPr txBox="1"/>
            <p:nvPr/>
          </p:nvSpPr>
          <p:spPr>
            <a:xfrm>
              <a:off x="10914116" y="3845211"/>
              <a:ext cx="4026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30</a:t>
              </a:r>
            </a:p>
            <a:p>
              <a:r>
                <a:rPr lang="en-US" sz="1600" dirty="0"/>
                <a:t>33</a:t>
              </a:r>
            </a:p>
          </p:txBody>
        </p:sp>
      </p:grpSp>
      <p:pic>
        <p:nvPicPr>
          <p:cNvPr id="14" name="Picture 4" descr="Casino Roulette PNG Clipart - Best WEB Clipart">
            <a:extLst>
              <a:ext uri="{FF2B5EF4-FFF2-40B4-BE49-F238E27FC236}">
                <a16:creationId xmlns:a16="http://schemas.microsoft.com/office/drawing/2014/main" id="{800F3407-BA14-28CC-153A-363A91D24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2880" y="1462044"/>
            <a:ext cx="2400769" cy="240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61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A8E090D-D57A-33E3-9073-7DEEF15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Set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A3B6833-AAC5-87C1-51A8-57920148C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7995" y="1550796"/>
                <a:ext cx="7136559" cy="278955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b="1" dirty="0"/>
                  <a:t>Union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: The event in which outcome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Intersection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: The event in which outcome is both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</a:t>
                </a:r>
                <a:endParaRPr lang="en-US" sz="2000" b="1" dirty="0"/>
              </a:p>
              <a:p>
                <a:r>
                  <a:rPr lang="en-US" sz="2000" b="1" dirty="0"/>
                  <a:t>Complement: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: The opposite event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Difference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1" dirty="0"/>
                  <a:t>: </a:t>
                </a:r>
                <a:r>
                  <a:rPr lang="en-US" sz="2000" dirty="0"/>
                  <a:t>The event in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𝑜𝑢𝑡𝑐𝑜𝑚𝑒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</a:t>
                </a:r>
                <a:r>
                  <a:rPr lang="en-US" sz="2000" b="1" dirty="0"/>
                  <a:t> </a:t>
                </a:r>
              </a:p>
              <a:p>
                <a:r>
                  <a:rPr lang="en-US" sz="2000" b="1" dirty="0"/>
                  <a:t>Symmetrical Difference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The outcome equals either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only 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only.</a:t>
                </a:r>
                <a:endParaRPr lang="en-US" sz="2000" b="1" dirty="0"/>
              </a:p>
              <a:p>
                <a:r>
                  <a:rPr lang="en-US" sz="2000" dirty="0"/>
                  <a:t>We can visualize events using </a:t>
                </a:r>
                <a:r>
                  <a:rPr lang="en-US" sz="2000" i="1" dirty="0"/>
                  <a:t>Venn’s </a:t>
                </a:r>
                <a:r>
                  <a:rPr lang="en-US" sz="2000" dirty="0"/>
                  <a:t>diagrams as below.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A3B6833-AAC5-87C1-51A8-57920148C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7995" y="1550796"/>
                <a:ext cx="7136559" cy="2789556"/>
              </a:xfrm>
              <a:blipFill>
                <a:blip r:embed="rId2"/>
                <a:stretch>
                  <a:fillRect l="-769" t="-2838" b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E6CAF4D-C18B-DC6F-2BAD-F0470E75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8471894-DB78-81FE-8B2E-816E635F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3</a:t>
            </a:fld>
            <a:endParaRPr lang="en-US"/>
          </a:p>
        </p:txBody>
      </p:sp>
      <p:grpSp>
        <p:nvGrpSpPr>
          <p:cNvPr id="19" name="Ομάδα 18">
            <a:extLst>
              <a:ext uri="{FF2B5EF4-FFF2-40B4-BE49-F238E27FC236}">
                <a16:creationId xmlns:a16="http://schemas.microsoft.com/office/drawing/2014/main" id="{28CD41FF-1430-2C9B-D3D0-44D1C17EC268}"/>
              </a:ext>
            </a:extLst>
          </p:cNvPr>
          <p:cNvGrpSpPr/>
          <p:nvPr/>
        </p:nvGrpSpPr>
        <p:grpSpPr>
          <a:xfrm>
            <a:off x="983707" y="4340352"/>
            <a:ext cx="5963482" cy="1838582"/>
            <a:chOff x="3114259" y="4352860"/>
            <a:chExt cx="5963482" cy="1838582"/>
          </a:xfrm>
        </p:grpSpPr>
        <p:pic>
          <p:nvPicPr>
            <p:cNvPr id="8" name="Εικόνα 7">
              <a:extLst>
                <a:ext uri="{FF2B5EF4-FFF2-40B4-BE49-F238E27FC236}">
                  <a16:creationId xmlns:a16="http://schemas.microsoft.com/office/drawing/2014/main" id="{D80DE147-E2BA-D08D-C9CE-4AEA3F2AB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4259" y="4352860"/>
              <a:ext cx="5963482" cy="183858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E5AF9B-F4A1-FDA1-6AA3-19FB19B80D2F}"/>
                </a:ext>
              </a:extLst>
            </p:cNvPr>
            <p:cNvSpPr txBox="1"/>
            <p:nvPr/>
          </p:nvSpPr>
          <p:spPr>
            <a:xfrm>
              <a:off x="4337050" y="4995151"/>
              <a:ext cx="6014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Union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C5503A-9C8B-E327-DF74-1AF5C358C25D}"/>
                </a:ext>
              </a:extLst>
            </p:cNvPr>
            <p:cNvSpPr txBox="1"/>
            <p:nvPr/>
          </p:nvSpPr>
          <p:spPr>
            <a:xfrm>
              <a:off x="5971297" y="4995150"/>
              <a:ext cx="10368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Intersection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B6E145-8BDE-A759-B667-EB6B98FA9D79}"/>
                </a:ext>
              </a:extLst>
            </p:cNvPr>
            <p:cNvSpPr txBox="1"/>
            <p:nvPr/>
          </p:nvSpPr>
          <p:spPr>
            <a:xfrm>
              <a:off x="7974554" y="4995150"/>
              <a:ext cx="11031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Complement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6D765A-B4D5-0127-24C6-E0403F81C506}"/>
                </a:ext>
              </a:extLst>
            </p:cNvPr>
            <p:cNvSpPr txBox="1"/>
            <p:nvPr/>
          </p:nvSpPr>
          <p:spPr>
            <a:xfrm>
              <a:off x="5175299" y="5914439"/>
              <a:ext cx="9207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Difference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C8B53B-189A-776B-422E-20ECED158885}"/>
                </a:ext>
              </a:extLst>
            </p:cNvPr>
            <p:cNvSpPr txBox="1"/>
            <p:nvPr/>
          </p:nvSpPr>
          <p:spPr>
            <a:xfrm>
              <a:off x="6086905" y="5914435"/>
              <a:ext cx="18424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Symmetrical Difference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4F70457-0A40-EC4C-00ED-42E82F8C1D1E}"/>
                    </a:ext>
                  </a:extLst>
                </p:cNvPr>
                <p:cNvSpPr txBox="1"/>
                <p:nvPr/>
              </p:nvSpPr>
              <p:spPr>
                <a:xfrm>
                  <a:off x="3114259" y="4412989"/>
                  <a:ext cx="3305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2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4F70457-0A40-EC4C-00ED-42E82F8C1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4259" y="4412989"/>
                  <a:ext cx="33053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4BF699C-534A-C430-9354-A5F2CF4319A6}"/>
                    </a:ext>
                  </a:extLst>
                </p:cNvPr>
                <p:cNvSpPr txBox="1"/>
                <p:nvPr/>
              </p:nvSpPr>
              <p:spPr>
                <a:xfrm>
                  <a:off x="5175299" y="4412988"/>
                  <a:ext cx="3305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2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4BF699C-534A-C430-9354-A5F2CF431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5299" y="4412988"/>
                  <a:ext cx="33053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52005B9-A349-FDFC-E045-EFDD16552698}"/>
                    </a:ext>
                  </a:extLst>
                </p:cNvPr>
                <p:cNvSpPr txBox="1"/>
                <p:nvPr/>
              </p:nvSpPr>
              <p:spPr>
                <a:xfrm>
                  <a:off x="7236339" y="4412988"/>
                  <a:ext cx="3305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2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52005B9-A349-FDFC-E045-EFDD16552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339" y="4412988"/>
                  <a:ext cx="330539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860139B-6DC0-6906-666E-F8A7CAAF2B0F}"/>
                    </a:ext>
                  </a:extLst>
                </p:cNvPr>
                <p:cNvSpPr txBox="1"/>
                <p:nvPr/>
              </p:nvSpPr>
              <p:spPr>
                <a:xfrm>
                  <a:off x="4472503" y="5371839"/>
                  <a:ext cx="3305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2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860139B-6DC0-6906-666E-F8A7CAAF2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2503" y="5371839"/>
                  <a:ext cx="33053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D8B77AF-F791-EFBA-A530-371D1D8798EC}"/>
                    </a:ext>
                  </a:extLst>
                </p:cNvPr>
                <p:cNvSpPr txBox="1"/>
                <p:nvPr/>
              </p:nvSpPr>
              <p:spPr>
                <a:xfrm>
                  <a:off x="6070297" y="5371838"/>
                  <a:ext cx="3305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12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D8B77AF-F791-EFBA-A530-371D1D879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0297" y="5371838"/>
                  <a:ext cx="330539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Θέση περιεχομένου 2">
                <a:extLst>
                  <a:ext uri="{FF2B5EF4-FFF2-40B4-BE49-F238E27FC236}">
                    <a16:creationId xmlns:a16="http://schemas.microsoft.com/office/drawing/2014/main" id="{C78A0AB1-FDF0-8D55-2CD9-135D1B221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19920" y="1428427"/>
                <a:ext cx="3124560" cy="47504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l-GR" sz="1800" dirty="0">
                    <a:ea typeface="Cambria Math" panose="020405030504060302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l-GR" sz="1800" dirty="0"/>
                  <a:t>, </a:t>
                </a:r>
                <a:r>
                  <a:rPr lang="en-US" sz="1800" dirty="0"/>
                  <a:t>where</a:t>
                </a:r>
                <a:r>
                  <a:rPr lang="el-GR" sz="1800" dirty="0"/>
                  <a:t> </a:t>
                </a:r>
                <a14:m>
                  <m:oMath xmlns:m="http://schemas.openxmlformats.org/officeDocument/2006/math"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en-US" sz="1800" dirty="0"/>
                  <a:t> is an empty set.</a:t>
                </a:r>
                <a:r>
                  <a:rPr lang="el-GR" sz="1800" dirty="0"/>
                  <a:t> </a:t>
                </a:r>
                <a:endParaRPr lang="en-US" sz="18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l-GR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l-G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smtClean="0"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l-GR" sz="180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l-GR" sz="180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sz="180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l-GR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l-GR" sz="1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∩∅</m:t>
                    </m:r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l-GR" sz="18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l-GR" sz="180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sz="18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′=</m:t>
                    </m:r>
                    <m:r>
                      <m:rPr>
                        <m:sty m:val="p"/>
                      </m:rPr>
                      <a:rPr lang="el-G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sz="1800" dirty="0"/>
                  <a:t>.</a:t>
                </a: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20" name="Θέση περιεχομένου 2">
                <a:extLst>
                  <a:ext uri="{FF2B5EF4-FFF2-40B4-BE49-F238E27FC236}">
                    <a16:creationId xmlns:a16="http://schemas.microsoft.com/office/drawing/2014/main" id="{C78A0AB1-FDF0-8D55-2CD9-135D1B221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920" y="1428427"/>
                <a:ext cx="3124560" cy="4750499"/>
              </a:xfrm>
              <a:prstGeom prst="rect">
                <a:avLst/>
              </a:prstGeom>
              <a:blipFill>
                <a:blip r:embed="rId8"/>
                <a:stretch>
                  <a:fillRect l="-1170" t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99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8556CB8-B787-5429-2267-AFBC44EB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Probability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CE9C675-1243-28E0-3554-3515880F4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5011864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Classical Principle</a:t>
                </a:r>
                <a:r>
                  <a:rPr lang="en-US" sz="2000" dirty="0"/>
                  <a:t>: Given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sz="2000" dirty="0"/>
                  <a:t> </a:t>
                </a:r>
                <a:r>
                  <a:rPr lang="en-US" sz="2000" dirty="0"/>
                  <a:t>and an event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0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l-GR" sz="20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l-GR" sz="2000" dirty="0"/>
                  <a:t>, </a:t>
                </a:r>
                <a:r>
                  <a:rPr lang="en-US" sz="2000" dirty="0"/>
                  <a:t>where: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/>
                  <a:t> The number of possible outcomes described by event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l-GR" sz="1600" b="0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l-GR" sz="1600" dirty="0"/>
                  <a:t> </a:t>
                </a:r>
                <a:r>
                  <a:rPr lang="en-US" sz="1600" dirty="0"/>
                  <a:t>The total number of possible outcomes.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Example 1: The probability of throwing a dice and landing on 3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1600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={1,2,3,4,5,6})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Example 2: The probability of throwing a dice and landing on 3 or 6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,6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160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600" dirty="0">
                        <a:latin typeface="Cambria Math" panose="02040503050406030204" pitchFamily="18" charset="0"/>
                      </a:rPr>
                      <m:t>={1,2,3,4,5,6})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Example 3: Given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={1,2,3}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={2}</m:t>
                    </m:r>
                  </m:oMath>
                </a14:m>
                <a:r>
                  <a:rPr lang="en-US" sz="1600" dirty="0"/>
                  <a:t>, the probability of both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described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={2}</m:t>
                    </m:r>
                  </m:oMath>
                </a14:m>
                <a:r>
                  <a:rPr lang="en-US" sz="16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600" dirty="0"/>
                  <a:t>.</a:t>
                </a:r>
              </a:p>
              <a:p>
                <a:r>
                  <a:rPr lang="en-US" sz="2000" b="1" dirty="0"/>
                  <a:t>Axiomatic Principle</a:t>
                </a:r>
                <a:r>
                  <a:rPr lang="en-US" sz="2000" dirty="0"/>
                  <a:t>: Given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sz="2000" dirty="0"/>
                  <a:t> </a:t>
                </a:r>
                <a:r>
                  <a:rPr lang="en-US" sz="2000" dirty="0"/>
                  <a:t>and events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l-GR" sz="16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l-GR" sz="1600" dirty="0"/>
                  <a:t>.</a:t>
                </a:r>
                <a:r>
                  <a:rPr lang="en-US" sz="1600" dirty="0"/>
                  <a:t> </a:t>
                </a:r>
                <a:r>
                  <a:rPr lang="en-US" sz="2000" dirty="0"/>
                  <a:t>We can use this definition to prove the following:</a:t>
                </a:r>
                <a:endParaRPr lang="el-GR" sz="20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sz="1600" dirty="0"/>
                  <a:t>0.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then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  <m: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l-G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  <m: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l-G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CE9C675-1243-28E0-3554-3515880F4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5011864"/>
              </a:xfrm>
              <a:blipFill>
                <a:blip r:embed="rId2"/>
                <a:stretch>
                  <a:fillRect l="-522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44FE843-1982-4A87-AD98-0C745938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10C1024-851B-5905-F0CC-464DD61A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743EBD0-9DCC-C066-D8E2-5FAE0703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6D65260-567B-5E50-C84F-F79865F3A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5336"/>
                <a:ext cx="11003280" cy="4811014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events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, the probability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𝑜𝑢𝑡𝑐𝑜𝑚𝑒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if we known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𝑜𝑢𝑡𝑐𝑜𝑚𝑒</m:t>
                    </m:r>
                  </m:oMath>
                </a14:m>
                <a:r>
                  <a:rPr lang="en-US" sz="2000" dirty="0"/>
                  <a:t> is already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is named conditional probability and can be calculated using the</a:t>
                </a:r>
                <a:r>
                  <a:rPr lang="en-US" sz="2000" b="1" dirty="0"/>
                  <a:t> Bayes theorem</a:t>
                </a:r>
                <a:r>
                  <a:rPr lang="en-US" sz="2000" dirty="0"/>
                  <a:t>:</a:t>
                </a: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It’s obvious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Multiplication Rule</a:t>
                </a:r>
                <a:r>
                  <a:rPr lang="en-US" sz="2000" dirty="0"/>
                  <a:t>: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l-G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l-GR" sz="16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By combining both, we get: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r>
                  <a:rPr lang="en-US" sz="2000" dirty="0"/>
                  <a:t>By the multiplication rule, we can prove that: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6D65260-567B-5E50-C84F-F79865F3A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5336"/>
                <a:ext cx="11003280" cy="4811014"/>
              </a:xfrm>
              <a:blipFill>
                <a:blip r:embed="rId2"/>
                <a:stretch>
                  <a:fillRect l="-499" t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8A83C04C-F8B5-B871-A756-8E41757C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F0C9A62-91FA-58D3-6E57-EAE94527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2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E8663F-A0CE-1BA0-E3BF-288352DB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136525"/>
            <a:ext cx="10515600" cy="1325563"/>
          </a:xfrm>
        </p:spPr>
        <p:txBody>
          <a:bodyPr/>
          <a:lstStyle/>
          <a:p>
            <a:r>
              <a:rPr lang="en-US" dirty="0"/>
              <a:t>Independent Events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B4DEDB-F75E-741A-08C7-C555D738D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548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Two events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sz="2000" dirty="0"/>
                  <a:t>are called independent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In this case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From </a:t>
                </a:r>
                <a:r>
                  <a:rPr lang="en-US" sz="2000" i="1" dirty="0"/>
                  <a:t>Bayes </a:t>
                </a:r>
                <a:r>
                  <a:rPr lang="en-US" sz="2000" dirty="0"/>
                  <a:t>theorem: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are independent.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B4DEDB-F75E-741A-08C7-C555D738D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5488" cy="4351338"/>
              </a:xfrm>
              <a:blipFill>
                <a:blip r:embed="rId2"/>
                <a:stretch>
                  <a:fillRect l="-67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9EE5D764-6D94-1DE5-1BCF-C0FD50AD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092A09A-C7AA-EFF3-4E2A-EF54630F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BDC72CD-9196-BF8A-FAD2-D7CB290D7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771" y="1641475"/>
            <a:ext cx="2760237" cy="396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16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C3CF8B7-AF05-B586-E0EB-9CB07C33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Naïve Bayes Classifier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2A8D78A-E975-B283-BD96-97AFCCFE1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88"/>
            <a:ext cx="10756392" cy="250640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Naive Bayes is a classification algorithm that predicts the category of a data point using the bayes theorem. </a:t>
            </a:r>
          </a:p>
          <a:p>
            <a:r>
              <a:rPr lang="en-US" sz="2000" b="1" dirty="0"/>
              <a:t>It</a:t>
            </a:r>
            <a:r>
              <a:rPr lang="en-US" sz="2000" dirty="0"/>
              <a:t> </a:t>
            </a:r>
            <a:r>
              <a:rPr lang="en-US" sz="2000" b="1" dirty="0"/>
              <a:t>assumes</a:t>
            </a:r>
            <a:r>
              <a:rPr lang="en-US" sz="2000" dirty="0"/>
              <a:t> </a:t>
            </a:r>
            <a:r>
              <a:rPr lang="en-US" sz="2000" b="1" dirty="0"/>
              <a:t>that</a:t>
            </a:r>
            <a:r>
              <a:rPr lang="en-US" sz="2000" dirty="0"/>
              <a:t> </a:t>
            </a:r>
            <a:r>
              <a:rPr lang="en-US" sz="2000" b="1" dirty="0"/>
              <a:t>all features are independent of each other </a:t>
            </a:r>
            <a:r>
              <a:rPr lang="en-US" sz="2000" dirty="0"/>
              <a:t>(this is why it is called “Naive”).</a:t>
            </a:r>
          </a:p>
          <a:p>
            <a:r>
              <a:rPr lang="en-US" sz="2000" dirty="0"/>
              <a:t>Works only with categorical data, but it can be extended to work with continuous variables as well.</a:t>
            </a:r>
          </a:p>
          <a:p>
            <a:r>
              <a:rPr lang="en-US" sz="2000" dirty="0"/>
              <a:t>Applications: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Spam filtering.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Document categorization.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Sentiment analysis.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88F64FE9-2052-F8B9-0F06-B6197265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F01A9F17-95C1-B3A6-EEE5-6ABA5C6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7</a:t>
            </a:fld>
            <a:endParaRPr lang="en-US"/>
          </a:p>
        </p:txBody>
      </p:sp>
      <p:grpSp>
        <p:nvGrpSpPr>
          <p:cNvPr id="14" name="Ομάδα 13">
            <a:extLst>
              <a:ext uri="{FF2B5EF4-FFF2-40B4-BE49-F238E27FC236}">
                <a16:creationId xmlns:a16="http://schemas.microsoft.com/office/drawing/2014/main" id="{CC4F2081-09CE-D9D2-F94E-B6664E7F81C7}"/>
              </a:ext>
            </a:extLst>
          </p:cNvPr>
          <p:cNvGrpSpPr/>
          <p:nvPr/>
        </p:nvGrpSpPr>
        <p:grpSpPr>
          <a:xfrm>
            <a:off x="2976060" y="3099569"/>
            <a:ext cx="8259749" cy="3256781"/>
            <a:chOff x="2976060" y="3099569"/>
            <a:chExt cx="8259749" cy="3256781"/>
          </a:xfrm>
        </p:grpSpPr>
        <p:pic>
          <p:nvPicPr>
            <p:cNvPr id="7" name="Εικόνα 6" descr="Εικόνα που περιέχει κείμενο, στιγμιότυπο οθόνης, διάγραμμα, γραμματοσειρά&#10;&#10;Το περιεχόμενο που δημιουργείται από AI ενδέχεται να είναι εσφαλμένο.">
              <a:extLst>
                <a:ext uri="{FF2B5EF4-FFF2-40B4-BE49-F238E27FC236}">
                  <a16:creationId xmlns:a16="http://schemas.microsoft.com/office/drawing/2014/main" id="{39A3F513-315D-E34F-296C-D81513AF7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060" y="4127750"/>
              <a:ext cx="3223735" cy="1626773"/>
            </a:xfrm>
            <a:prstGeom prst="rect">
              <a:avLst/>
            </a:prstGeom>
          </p:spPr>
        </p:pic>
        <p:pic>
          <p:nvPicPr>
            <p:cNvPr id="9" name="Εικόνα 8" descr="Εικόνα που περιέχει διάγραμμα, στιγμιότυπο οθόνης, γραμματοσειρά, κείμενο&#10;&#10;Το περιεχόμενο που δημιουργείται από AI ενδέχεται να είναι εσφαλμένο.">
              <a:extLst>
                <a:ext uri="{FF2B5EF4-FFF2-40B4-BE49-F238E27FC236}">
                  <a16:creationId xmlns:a16="http://schemas.microsoft.com/office/drawing/2014/main" id="{CD0308CE-E851-AAD2-7279-D4A93A07F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3661" y="3099569"/>
              <a:ext cx="2384141" cy="1626773"/>
            </a:xfrm>
            <a:prstGeom prst="rect">
              <a:avLst/>
            </a:prstGeom>
          </p:spPr>
        </p:pic>
        <p:pic>
          <p:nvPicPr>
            <p:cNvPr id="11" name="Εικόνα 10" descr="Εικόνα που περιέχει κείμενο, στιγμιότυπο οθόνης, διάγραμμα, γραμματοσειρά&#10;&#10;Το περιεχόμενο που δημιουργείται από AI ενδέχεται να είναι εσφαλμένο.">
              <a:extLst>
                <a:ext uri="{FF2B5EF4-FFF2-40B4-BE49-F238E27FC236}">
                  <a16:creationId xmlns:a16="http://schemas.microsoft.com/office/drawing/2014/main" id="{A3AA5A43-F09E-5AC2-77A6-8DD68E90D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3661" y="4864206"/>
              <a:ext cx="2384141" cy="1492144"/>
            </a:xfrm>
            <a:prstGeom prst="rect">
              <a:avLst/>
            </a:prstGeom>
          </p:spPr>
        </p:pic>
        <p:pic>
          <p:nvPicPr>
            <p:cNvPr id="13" name="Εικόνα 12" descr="Εικόνα που περιέχει κείμενο&#10;&#10;Το περιεχόμενο που δημιουργείται από AI ενδέχεται να είναι εσφαλμένο.">
              <a:extLst>
                <a:ext uri="{FF2B5EF4-FFF2-40B4-BE49-F238E27FC236}">
                  <a16:creationId xmlns:a16="http://schemas.microsoft.com/office/drawing/2014/main" id="{709DB300-BDE8-18CD-65E9-D6085682A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51668" y="3752428"/>
              <a:ext cx="2384141" cy="19478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707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85335A0-4BE1-693C-25FB-B3FFC5443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Naïve Bayes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0299349-9FAC-8E31-11DE-E30A19AE9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482898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instance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features and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, the goal is to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choose the class with the maximum probability.</a:t>
                </a:r>
              </a:p>
              <a:p>
                <a:r>
                  <a:rPr lang="en-US" sz="2000" dirty="0"/>
                  <a:t>The Bayes theorem allows us to compute the reversed conditioned probability as follows: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dirty="0"/>
                  <a:t>By assuming that all features are independent, then we can compute: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Using the multiplication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∏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Finally, we can classify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as: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𝑎𝑟𝑔𝑚𝑎𝑥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nary>
                      <m:naryPr>
                        <m:chr m:val="∏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>
                    <a:hlinkClick r:id="rId2"/>
                  </a:rPr>
                  <a:t>https://www.geeksforgeeks.org/machine-learning/naive-bayes-classifiers/</a:t>
                </a:r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0299349-9FAC-8E31-11DE-E30A19AE9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4828983"/>
              </a:xfrm>
              <a:blipFill>
                <a:blip r:embed="rId3"/>
                <a:stretch>
                  <a:fillRect l="-522" t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5CA1F5D0-2580-76F2-6D1C-A45E34ED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CADD236-C714-7ED0-F08D-BD52F567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14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0EE1201-A41B-8475-F8CE-49CE5948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Gaussian Naïve Bayes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6B9318F-D40D-2B2D-AC1F-85DF069E1A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939272" cy="1966912"/>
              </a:xfrm>
            </p:spPr>
            <p:txBody>
              <a:bodyPr>
                <a:normAutofit lnSpcReduction="10000"/>
              </a:bodyPr>
              <a:lstStyle/>
              <a:p>
                <a:pPr fontAlgn="base"/>
                <a:r>
                  <a:rPr lang="en-US" sz="2000" dirty="0"/>
                  <a:t>Gaussian Naive Bayes (Gaussian NB) is a type of NB that can work with continuous variables.</a:t>
                </a:r>
              </a:p>
              <a:p>
                <a:pPr fontAlgn="base"/>
                <a:r>
                  <a:rPr lang="en-US" sz="2000" dirty="0"/>
                  <a:t>It assumes that each continuous variable follows a gaussian distribution. Therefore, for a continuous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we can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l-G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l-G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l-GR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l-GR" sz="2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l-G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l-G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sz="20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l-G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  <a:p>
                <a:pPr fontAlgn="base"/>
                <a:r>
                  <a:rPr lang="en-US" sz="2000" dirty="0">
                    <a:hlinkClick r:id="rId2"/>
                  </a:rPr>
                  <a:t>https://www.geeksforgeeks.org/machine-learning/gaussian-naive-bayes/</a:t>
                </a:r>
                <a:br>
                  <a:rPr lang="en-US" sz="2000" dirty="0"/>
                </a:br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6B9318F-D40D-2B2D-AC1F-85DF069E1A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939272" cy="1966912"/>
              </a:xfrm>
              <a:blipFill>
                <a:blip r:embed="rId3"/>
                <a:stretch>
                  <a:fillRect l="-502" t="-4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D016EEC-0E3D-C01F-0C84-86CEE9EC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18A596B-4F11-14BA-A04F-6198F6D3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Gaussian Distribution - an overview | ScienceDirect Topics">
            <a:extLst>
              <a:ext uri="{FF2B5EF4-FFF2-40B4-BE49-F238E27FC236}">
                <a16:creationId xmlns:a16="http://schemas.microsoft.com/office/drawing/2014/main" id="{2FD593CA-625B-A517-D2CC-6DB56A2E0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429000"/>
            <a:ext cx="4686300" cy="286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945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SVM kernels and its type. Support Vector Machines (SVMs) are a… | by  Abhishek Jain | Medium">
            <a:extLst>
              <a:ext uri="{FF2B5EF4-FFF2-40B4-BE49-F238E27FC236}">
                <a16:creationId xmlns:a16="http://schemas.microsoft.com/office/drawing/2014/main" id="{97237F86-2EDB-3714-F0DD-D8B1CD43C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248" y="4548993"/>
            <a:ext cx="4550669" cy="191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Τίτλος 1">
            <a:extLst>
              <a:ext uri="{FF2B5EF4-FFF2-40B4-BE49-F238E27FC236}">
                <a16:creationId xmlns:a16="http://schemas.microsoft.com/office/drawing/2014/main" id="{F0A4407C-567D-F712-7E5C-03D8FD6F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7315200" cy="1073149"/>
          </a:xfrm>
        </p:spPr>
        <p:txBody>
          <a:bodyPr>
            <a:normAutofit/>
          </a:bodyPr>
          <a:lstStyle/>
          <a:p>
            <a:r>
              <a:rPr lang="en-US" sz="4000" dirty="0"/>
              <a:t>Support Vector Machine (SVM)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97EFABF-936F-B9A5-78FF-6196A66638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24317"/>
                <a:ext cx="7555993" cy="3663442"/>
              </a:xfrm>
            </p:spPr>
            <p:txBody>
              <a:bodyPr>
                <a:normAutofit/>
              </a:bodyPr>
              <a:lstStyle/>
              <a:p>
                <a:pPr fontAlgn="base"/>
                <a:r>
                  <a:rPr lang="en-US" sz="2000" dirty="0"/>
                  <a:t>SVM is one of the most powerful binary classification/regression algorithms. </a:t>
                </a:r>
              </a:p>
              <a:p>
                <a:pPr fontAlgn="base"/>
                <a:r>
                  <a:rPr lang="en-US" sz="2000" dirty="0"/>
                  <a:t>In classification, it tries to find the best boundary known as hyperplane that separates different classes in the data.</a:t>
                </a:r>
              </a:p>
              <a:p>
                <a:pPr fontAlgn="base"/>
                <a:r>
                  <a:rPr lang="en-US" sz="2000" dirty="0">
                    <a:hlinkClick r:id="rId3"/>
                  </a:rPr>
                  <a:t>https://web.mit.edu/6.034/wwwbob/svm.pdf</a:t>
                </a:r>
                <a:br>
                  <a:rPr lang="en-US" sz="2000" dirty="0"/>
                </a:br>
                <a:r>
                  <a:rPr lang="en-US" sz="2000" dirty="0">
                    <a:hlinkClick r:id="rId4"/>
                  </a:rPr>
                  <a:t>https://www.youtube.com/watch?v=efR1C6CvhmE</a:t>
                </a:r>
                <a:br>
                  <a:rPr lang="en-US" sz="2000" dirty="0"/>
                </a:br>
                <a:r>
                  <a:rPr lang="en-US" sz="2000" dirty="0">
                    <a:hlinkClick r:id="rId5"/>
                  </a:rPr>
                  <a:t>https://www.youtube.com/watch?v=_PwhiWxHK8o&amp;t=658s</a:t>
                </a:r>
                <a:endParaRPr lang="en-US" sz="2000" dirty="0"/>
              </a:p>
              <a:p>
                <a:pPr fontAlgn="base"/>
                <a:r>
                  <a:rPr lang="en-US" sz="2000" dirty="0"/>
                  <a:t>SVM assumes that data can be separated linearly. </a:t>
                </a:r>
              </a:p>
              <a:p>
                <a:pPr fontAlgn="base"/>
                <a:r>
                  <a:rPr lang="en-US" sz="2000" dirty="0"/>
                  <a:t>For non-linear relationships, a kernel function is used to transform the input space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into a larger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, in which data can be separated linearly.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97EFABF-936F-B9A5-78FF-6196A6663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24317"/>
                <a:ext cx="7555993" cy="3663442"/>
              </a:xfrm>
              <a:blipFill>
                <a:blip r:embed="rId6"/>
                <a:stretch>
                  <a:fillRect l="-726" t="-1498" b="-1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BB2AA93-97AC-0CFD-A741-507BAE3DC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60717FF-0A40-7586-FCD6-9180D1B0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10</a:t>
            </a:fld>
            <a:endParaRPr lang="en-US"/>
          </a:p>
        </p:txBody>
      </p:sp>
      <p:pic>
        <p:nvPicPr>
          <p:cNvPr id="2050" name="Picture 2" descr="Support Vector Machine with Scikit-Learn: A Friendly Introduction | Towards  Data Science">
            <a:extLst>
              <a:ext uri="{FF2B5EF4-FFF2-40B4-BE49-F238E27FC236}">
                <a16:creationId xmlns:a16="http://schemas.microsoft.com/office/drawing/2014/main" id="{409D6E5B-FF55-4FCF-85BF-4DA49BBA3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2714"/>
            <a:ext cx="3490911" cy="29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upport vector machine - Wikipedia">
            <a:extLst>
              <a:ext uri="{FF2B5EF4-FFF2-40B4-BE49-F238E27FC236}">
                <a16:creationId xmlns:a16="http://schemas.microsoft.com/office/drawing/2014/main" id="{22D99A1C-6F16-FDAD-B679-BC7402192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305" y="3254814"/>
            <a:ext cx="3188495" cy="31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3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9DBFD54-568D-C32C-16BC-86FFE998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SVM Kernels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3C69D02-D1CD-4EE0-DE07-8EF984A9D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2552699" cy="1724025"/>
          </a:xfrm>
        </p:spPr>
        <p:txBody>
          <a:bodyPr>
            <a:normAutofit/>
          </a:bodyPr>
          <a:lstStyle/>
          <a:p>
            <a:r>
              <a:rPr lang="en-US" sz="2000" dirty="0"/>
              <a:t>Linear</a:t>
            </a:r>
          </a:p>
          <a:p>
            <a:r>
              <a:rPr lang="en-US" sz="2000" dirty="0"/>
              <a:t>RBF</a:t>
            </a:r>
          </a:p>
          <a:p>
            <a:r>
              <a:rPr lang="en-US" sz="2000" dirty="0"/>
              <a:t>Sigmoid</a:t>
            </a:r>
          </a:p>
          <a:p>
            <a:r>
              <a:rPr lang="en-US" sz="2000" dirty="0"/>
              <a:t>Polynomial</a:t>
            </a:r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20F70EF0-090A-98F2-B705-B786272E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E3C747C-9F87-76A8-4528-D43D60DB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11</a:t>
            </a:fld>
            <a:endParaRPr lang="en-US"/>
          </a:p>
        </p:txBody>
      </p:sp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4260498A-E1DF-8D4E-FC45-561C7A01727E}"/>
              </a:ext>
            </a:extLst>
          </p:cNvPr>
          <p:cNvGrpSpPr/>
          <p:nvPr/>
        </p:nvGrpSpPr>
        <p:grpSpPr>
          <a:xfrm>
            <a:off x="2677040" y="1000125"/>
            <a:ext cx="9248260" cy="4371975"/>
            <a:chOff x="2677040" y="1000125"/>
            <a:chExt cx="9248260" cy="4371975"/>
          </a:xfrm>
        </p:grpSpPr>
        <p:pic>
          <p:nvPicPr>
            <p:cNvPr id="3078" name="Picture 6" descr="1.4. Support Vector Machines — scikit-learn 1.7.2 documentation">
              <a:extLst>
                <a:ext uri="{FF2B5EF4-FFF2-40B4-BE49-F238E27FC236}">
                  <a16:creationId xmlns:a16="http://schemas.microsoft.com/office/drawing/2014/main" id="{FC1E4FB6-603E-A939-C2CB-C4635505CF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8011" y="1425177"/>
              <a:ext cx="4967289" cy="3725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Plot classification boundaries with different SVM Kernels — scikit-learn  1.7.2 documentation">
              <a:extLst>
                <a:ext uri="{FF2B5EF4-FFF2-40B4-BE49-F238E27FC236}">
                  <a16:creationId xmlns:a16="http://schemas.microsoft.com/office/drawing/2014/main" id="{57474703-D5A5-A12C-FF1B-51AE46C44D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3700" y="1000125"/>
              <a:ext cx="4371975" cy="4371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CB57A1-ED37-8905-4AA2-D06DD7832D0C}"/>
                </a:ext>
              </a:extLst>
            </p:cNvPr>
            <p:cNvSpPr txBox="1"/>
            <p:nvPr/>
          </p:nvSpPr>
          <p:spPr>
            <a:xfrm>
              <a:off x="2677040" y="5002768"/>
              <a:ext cx="5113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Each kernel transforms the input space differently.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467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D52D042-F358-91AA-F64C-06D210123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07061"/>
          </a:xfrm>
        </p:spPr>
        <p:txBody>
          <a:bodyPr/>
          <a:lstStyle/>
          <a:p>
            <a:r>
              <a:rPr lang="en-US" dirty="0"/>
              <a:t>Error Sensitivity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458D92B-4B1C-3589-F6B7-63120E0D1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040" y="1243586"/>
                <a:ext cx="6486144" cy="264261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Traditional SVM is too difficult to be implemented (requires a lot of computational memory).</a:t>
                </a:r>
              </a:p>
              <a:p>
                <a:r>
                  <a:rPr lang="en-US" sz="2000" dirty="0"/>
                  <a:t>We can use an iterative approach instead, which steadily converges into an approximation of the solution.</a:t>
                </a:r>
              </a:p>
              <a:p>
                <a:r>
                  <a:rPr lang="en-US" sz="2000" dirty="0"/>
                  <a:t>It requires an error tolerance</a:t>
                </a:r>
                <a:r>
                  <a:rPr lang="el-GR" sz="2000" dirty="0"/>
                  <a:t> </a:t>
                </a:r>
                <a:r>
                  <a:rPr lang="en-US" sz="2000" dirty="0" err="1"/>
                  <a:t>paraemeter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l-GR" sz="2000" dirty="0"/>
                  <a:t> </a:t>
                </a:r>
                <a:r>
                  <a:rPr lang="en-US" sz="2000" dirty="0"/>
                  <a:t>to stop training and 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parameter for regularization of misclassifications.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458D92B-4B1C-3589-F6B7-63120E0D1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040" y="1243586"/>
                <a:ext cx="6486144" cy="2642615"/>
              </a:xfrm>
              <a:blipFill>
                <a:blip r:embed="rId2"/>
                <a:stretch>
                  <a:fillRect l="-846" t="-2074" b="-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08961A3-D145-D3BD-2E06-A0C8C956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897BDAF-98E6-4D86-9C91-CA9FEC3F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12</a:t>
            </a:fld>
            <a:endParaRPr lang="en-US"/>
          </a:p>
        </p:txBody>
      </p:sp>
      <p:pic>
        <p:nvPicPr>
          <p:cNvPr id="4100" name="Picture 4" descr="Gamma Parameter in SVM - GeeksforGeeks">
            <a:extLst>
              <a:ext uri="{FF2B5EF4-FFF2-40B4-BE49-F238E27FC236}">
                <a16:creationId xmlns:a16="http://schemas.microsoft.com/office/drawing/2014/main" id="{034C5176-7E10-77D7-9BBD-735C303F3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08" y="4083875"/>
            <a:ext cx="6201464" cy="227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llustration of C and gamma parameters in SVM model | Download Scientific  Diagram">
            <a:extLst>
              <a:ext uri="{FF2B5EF4-FFF2-40B4-BE49-F238E27FC236}">
                <a16:creationId xmlns:a16="http://schemas.microsoft.com/office/drawing/2014/main" id="{A0D722C4-ADA9-1AD6-F57E-6FBF418E1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168" y="700706"/>
            <a:ext cx="4856615" cy="545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537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FC84099-250B-1454-C093-6C089BEC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SVM Strengths &amp; Weaknesses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3C8DE71-7006-4DA9-3CF4-CAEA77848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89"/>
            <a:ext cx="10515600" cy="4152328"/>
          </a:xfrm>
        </p:spPr>
        <p:txBody>
          <a:bodyPr>
            <a:normAutofit/>
          </a:bodyPr>
          <a:lstStyle/>
          <a:p>
            <a:r>
              <a:rPr lang="en-US" sz="2000" dirty="0"/>
              <a:t>Advantages: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High-Dimensional Performance</a:t>
            </a:r>
            <a:r>
              <a:rPr lang="en-US" sz="1600" dirty="0"/>
              <a:t>: SVM excels in high-dimensional spaces.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Nonlinear Capability</a:t>
            </a:r>
            <a:r>
              <a:rPr lang="en-US" sz="1600" dirty="0"/>
              <a:t>: Utilizing kernel functions like RBF and polynomial SVM effectively handles nonlinear relationships.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Outlier Resilience</a:t>
            </a:r>
            <a:r>
              <a:rPr lang="en-US" sz="1600" dirty="0"/>
              <a:t>: The soft margin feature allows SVM to ignore outliers, enhancing robustness in spam detection and anomaly detection.</a:t>
            </a:r>
          </a:p>
          <a:p>
            <a:r>
              <a:rPr lang="en-US" sz="2000" dirty="0"/>
              <a:t>Disadvantages: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Slow Training</a:t>
            </a:r>
            <a:r>
              <a:rPr lang="en-US" sz="1600" dirty="0"/>
              <a:t>: SVM can be slow in large datasets with many instances (rows) and features (columns).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Noise Sensitivity</a:t>
            </a:r>
            <a:r>
              <a:rPr lang="en-US" sz="1600" dirty="0"/>
              <a:t>: SVM struggles with noisy datasets and overlapping classes.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Limited Interpretability</a:t>
            </a:r>
            <a:r>
              <a:rPr lang="en-US" sz="1600" dirty="0"/>
              <a:t>: The complexity of the hyperplane in higher dimensions makes SVM less interpretable than other models.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Feature Scaling Sensitivity</a:t>
            </a:r>
            <a:r>
              <a:rPr lang="en-US" sz="1600" dirty="0"/>
              <a:t>: Proper feature scaling is essential, otherwise SVM models may perform poorly.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Overfitting</a:t>
            </a:r>
            <a:r>
              <a:rPr lang="en-US" sz="1600" dirty="0"/>
              <a:t>: The use of kernel function can increase the performance in the training set, but increases the risk of overfitting.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5F421F3-FE11-2E4E-B70A-E9AD9B59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AAADDBD-8362-A205-AA69-1F7AF09E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1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90EE-7223-F03E-E078-EFB97722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4722CF-E3A1-6C02-23E7-213CFB785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39AF8FCE-89C2-D810-BA56-DC8F238FF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Naïve Bayes &amp; SVM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6E749B5-B320-1AA1-1760-566CE6B2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08868B2-9FE7-07BC-FA61-1F84DE65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8188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4829</TotalTime>
  <Words>1441</Words>
  <Application>Microsoft Office PowerPoint</Application>
  <PresentationFormat>Ευρεία οθόνη</PresentationFormat>
  <Paragraphs>154</Paragraphs>
  <Slides>14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Θέμα του Office</vt:lpstr>
      <vt:lpstr>Machine Learning</vt:lpstr>
      <vt:lpstr>Sets</vt:lpstr>
      <vt:lpstr>Set Operations</vt:lpstr>
      <vt:lpstr>Probability Theory</vt:lpstr>
      <vt:lpstr>Bayes Theorem</vt:lpstr>
      <vt:lpstr>Independent Events</vt:lpstr>
      <vt:lpstr>Naïve Bayes Classifier</vt:lpstr>
      <vt:lpstr>Naïve Bayes Method</vt:lpstr>
      <vt:lpstr>Gaussian Naïve Bayes</vt:lpstr>
      <vt:lpstr>Support Vector Machine (SVM)</vt:lpstr>
      <vt:lpstr>SVM Kernels</vt:lpstr>
      <vt:lpstr>Error Sensitivity</vt:lpstr>
      <vt:lpstr>SVM Strengths &amp; Weaknesses</vt:lpstr>
      <vt:lpstr>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Kochliaridis</dc:creator>
  <cp:lastModifiedBy>Vasileios Kochliaridis</cp:lastModifiedBy>
  <cp:revision>72</cp:revision>
  <dcterms:created xsi:type="dcterms:W3CDTF">2025-10-22T08:27:29Z</dcterms:created>
  <dcterms:modified xsi:type="dcterms:W3CDTF">2025-12-09T12:21:59Z</dcterms:modified>
</cp:coreProperties>
</file>