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314" r:id="rId12"/>
    <p:sldId id="323" r:id="rId13"/>
    <p:sldId id="2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  <a:srgbClr val="1AAF54"/>
    <a:srgbClr val="000000"/>
    <a:srgbClr val="7E95A9"/>
    <a:srgbClr val="3E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Φωτεινό στυλ 2 - Έμφαση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5758FB7-9AC5-4552-8A53-C91805E547FA}" styleName="Στυλ με θέμα 1 - Έμφαση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Στυλ με θέμα 1 - Έμφαση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8D230F3-CF80-4859-8CE7-A43EE81993B5}" styleName="Φωτεινό στυλ 1 - Έμφαση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Φωτεινό στυλ 2 - Έμφαση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Φωτεινό στυλ 3 - Έμφαση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E574E-E298-4894-A198-54B8693C00D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EEC81-55A3-45B1-86BF-5CEFB88E3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80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6E3F2C7-4BFA-96D7-D7DB-89CE059E9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87FA496E-15E4-B6BD-2619-3D34222E0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DF0B0D9-EE98-037A-2344-7CC4B4E7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831-E9E5-441A-988F-2CF775A095F7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BBFB534-8947-8C37-4FA7-9FA9C424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DC8CE2F-F2D2-7280-2306-D7F692791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41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460618F-C768-41A8-48DE-BB108636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7AEF68D-C62B-FCBA-1472-10F022DE8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9CACAF7-E2AE-6617-78A1-EFF8C0D7D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617B9-7FDC-483F-873E-DA0B569A49AF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2F76099-BCF7-C484-CCA4-7360E1B4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E7E7D658-FD80-BF1C-12C2-96A60BE9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5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4DAC28B-5302-263A-BFA3-A9B067C6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41E70EB-D764-5148-416C-C22E4252D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90778B5-0C05-BA17-E905-83FD5C40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D5F0-2BFE-4CF8-8E92-6585B621437A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75BF08D-2CE8-E775-5227-75DC306C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D73FBE2-BDCD-71A0-40F6-879EAB92E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7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39AC0BF-ED31-BD2F-ADDC-10F1DC31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518A3B0-B3BB-D820-8653-9FF6BD585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E1AC07E0-13D4-AC1D-FDC2-1AFD08E33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3A1EF92E-745E-94D7-11C5-D264A7E0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ADA2-3B4C-46E9-8174-5D0E15805C71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687AF416-7FBD-C8A0-B475-79C435CB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8004D500-C8D4-2F31-DFA0-25EFC092F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8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4393112-FBEE-410C-70DA-170D9B76D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0FFF49C-A0C5-9203-D2A1-E1893DB81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71752245-D4AF-76ED-FDE1-EDFAD6F35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A1DE0065-EB8D-B3F7-D776-46B6D8B09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B3B07BD2-28E5-1381-56E6-FDBA5B435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7A1D7FF4-7624-31A5-1C91-857E16CE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38BB-A4D8-4872-B24E-5D3AC6E6DC33}" type="datetime1">
              <a:rPr lang="en-US" smtClean="0"/>
              <a:t>11/20/2025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04A2E9E-E9B6-CD71-8E7A-575739CB5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DE27359-0D89-C15A-9B92-9FC2FBE3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0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B25A365-3116-1AE4-20AD-C24E0088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2994D23B-458D-EF75-DA0D-79F7559A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5F4BD-973A-410F-8C3C-0269CFA833D8}" type="datetime1">
              <a:rPr lang="en-US" smtClean="0"/>
              <a:t>11/20/2025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FCE3F91F-411E-6138-2000-0C1B4A6A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2A25C88F-6C11-0912-3A92-4EF89619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2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274D46C-3FB2-E5C2-1A88-A86DF47DA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471D-D131-45DE-A009-59BE12540FC5}" type="datetime1">
              <a:rPr lang="en-US" smtClean="0"/>
              <a:t>11/20/2025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07EB22A4-CB01-7737-EAC5-469ACE78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48F6454-9E8B-A0B9-FE09-97AC2713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B8F319A-89EB-5A06-E3E7-4F31DF5DD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2F6087A-78D5-D13D-D00B-8ABBF6FF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EFCA236A-EF71-4BE2-0068-A7932DE46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B8F22118-6220-4D40-A2B9-5890D2C6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553-CE6B-4599-9928-D38612B86624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59E8D599-74CF-87BF-8586-22C44968D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8D3BB52-2005-14C4-8122-00625EA0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4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3225D27-9791-3105-6CF9-668B24BB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FB710D2D-77E8-9D9F-F582-BEBAF69B0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39E8FF25-A3C8-2EC5-165B-526B0903D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9C752309-981B-6AC1-FC07-F8C9580E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8521-FE12-480A-BC4B-DD515FBC730F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609E01FB-A5C2-62AA-DF55-231B81CE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6484544D-E8E1-4A5B-17F7-CB11B1C1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6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006B2C6-EEEC-C58E-69FA-F4D9739A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8CB615D6-C424-9ECA-8BD2-EE399612E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0FE6F3F-FE13-FB7A-51D8-B5770F49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2010-1B2A-440F-AFD4-664A5CC9F1F8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1BE53B9-0998-15D4-A075-4E2803BB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2BDF2C4-019D-FC39-4F9B-09A5D8336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51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97A29ED4-6DEF-6149-40E0-7D201F864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A5541CB6-75EF-2782-A141-A6FE8E5E1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F137CBE-93FC-E5E3-31F2-1F1A9FEC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C63D-8EAA-47D9-8532-DD60D85DB32C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C17E096-0B6B-1DBC-0F56-F1096F9B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28CD2A0-0861-531B-745E-990D44C8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4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F36916FB-0020-AB95-D03C-EC374918C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6860E355-EAA0-65F2-0BAF-DD2CA165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2B012A8-F0C5-ACC9-FC4F-F4144F37E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4F95B-A8D5-4244-9736-EEDE6971DA72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A9EF4B0-F0A6-6557-006E-B134CC405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0A72897-7FBD-FD58-B77B-3B037316E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1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DE5A4C6-24CC-B4BF-FFD4-07EF3EC0F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99ED8208-0A9E-336C-19B8-C5445430F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K-Nearest Neighbors Notes</a:t>
            </a:r>
          </a:p>
          <a:p>
            <a:endParaRPr lang="en-US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79200B8-EB55-E5BC-2B8F-EF918652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6CBEA11-E944-2EC7-870A-E6864FD2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6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87A7F4F-4810-AB51-440A-17C16CE7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Instance-based Learning (Lazy Learning)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C5D75FB-EAAB-35C5-B117-26F4727C0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088"/>
            <a:ext cx="10847832" cy="4714875"/>
          </a:xfrm>
        </p:spPr>
        <p:txBody>
          <a:bodyPr>
            <a:normAutofit/>
          </a:bodyPr>
          <a:lstStyle/>
          <a:p>
            <a:r>
              <a:rPr lang="en-US" sz="2000" b="1" dirty="0"/>
              <a:t>Hypothesis</a:t>
            </a:r>
            <a:r>
              <a:rPr lang="en-US" sz="2000" dirty="0"/>
              <a:t>: Similar instances (samples) have probably the same target.</a:t>
            </a:r>
          </a:p>
          <a:p>
            <a:r>
              <a:rPr lang="en-US" sz="2000" b="1" dirty="0"/>
              <a:t>Instance-based Learners</a:t>
            </a:r>
            <a:r>
              <a:rPr lang="en-US" sz="2000" dirty="0"/>
              <a:t>: Predict based on identical/similar instances.</a:t>
            </a:r>
            <a:endParaRPr lang="en-US" sz="1600" dirty="0"/>
          </a:p>
          <a:p>
            <a:r>
              <a:rPr lang="en-US" sz="2000" dirty="0"/>
              <a:t>For each new (unseen) sample, the classifier/regressor searches similar instances and utilizes voting/averaging to predict the targets.</a:t>
            </a:r>
          </a:p>
          <a:p>
            <a:r>
              <a:rPr lang="en-US" sz="2000" b="1" dirty="0"/>
              <a:t>Advantages</a:t>
            </a:r>
            <a:r>
              <a:rPr lang="en-US" sz="20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No training is required (Lazy).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Easy to adapt/fit on new training samples (The new instance is added to the training set; no training is required).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Easy to implement.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Less sensitive to outliers.</a:t>
            </a:r>
          </a:p>
          <a:p>
            <a:r>
              <a:rPr lang="en-US" sz="2000" b="1" dirty="0"/>
              <a:t>Disadvantages</a:t>
            </a:r>
            <a:r>
              <a:rPr lang="en-US" sz="20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Performance depends on the training set quality (e.g., the amount of noise).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Finding similar samples can be slow/time-consuming in large datasets.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Sensitive to irrelevant features and different feature scales.</a:t>
            </a:r>
          </a:p>
          <a:p>
            <a:endParaRPr lang="en-US" sz="200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F2B7B5AA-BF3F-C9FB-0D8E-DBC226F2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443A888A-65B3-AFFC-7D2F-A5C4098F9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12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72F2C17-E3A6-5B85-AE65-BDC2B42B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K-Nearest Neighbors (KNN)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8D3DC4D-B968-B807-BCDC-0911A1A508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9792"/>
                <a:ext cx="10515600" cy="180232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000" dirty="0"/>
                  <a:t>Assumes an instance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is presented as a point in a multi-dimensional 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Given instance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it searches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most similar samples (nearest neighbors: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US" sz="2000" dirty="0"/>
                  <a:t>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) using a distance metric. </a:t>
                </a:r>
              </a:p>
              <a:p>
                <a:r>
                  <a:rPr lang="en-US" sz="2000" dirty="0"/>
                  <a:t>It applies voting (in classification) and averaging (in regression) to predict the target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Quite popular in database systems.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8D3DC4D-B968-B807-BCDC-0911A1A508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9792"/>
                <a:ext cx="10515600" cy="1802320"/>
              </a:xfrm>
              <a:blipFill>
                <a:blip r:embed="rId2"/>
                <a:stretch>
                  <a:fillRect l="-464" t="-4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B0E4B924-BC22-CDA0-6A7E-43CFB85CC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2A6ADF44-ED72-661C-4FCC-82A933B5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3</a:t>
            </a:fld>
            <a:endParaRPr lang="en-US"/>
          </a:p>
        </p:txBody>
      </p:sp>
      <p:grpSp>
        <p:nvGrpSpPr>
          <p:cNvPr id="6" name="Ομάδα 5">
            <a:extLst>
              <a:ext uri="{FF2B5EF4-FFF2-40B4-BE49-F238E27FC236}">
                <a16:creationId xmlns:a16="http://schemas.microsoft.com/office/drawing/2014/main" id="{D4F3796E-09ED-B893-00AE-6A55EF510D97}"/>
              </a:ext>
            </a:extLst>
          </p:cNvPr>
          <p:cNvGrpSpPr/>
          <p:nvPr/>
        </p:nvGrpSpPr>
        <p:grpSpPr>
          <a:xfrm>
            <a:off x="187497" y="3113218"/>
            <a:ext cx="7338091" cy="3312027"/>
            <a:chOff x="1945836" y="2942614"/>
            <a:chExt cx="7714279" cy="3481819"/>
          </a:xfrm>
        </p:grpSpPr>
        <p:grpSp>
          <p:nvGrpSpPr>
            <p:cNvPr id="7" name="Ομάδα 6">
              <a:extLst>
                <a:ext uri="{FF2B5EF4-FFF2-40B4-BE49-F238E27FC236}">
                  <a16:creationId xmlns:a16="http://schemas.microsoft.com/office/drawing/2014/main" id="{6753241B-51A0-67A7-530E-14B78D3A9788}"/>
                </a:ext>
              </a:extLst>
            </p:cNvPr>
            <p:cNvGrpSpPr/>
            <p:nvPr/>
          </p:nvGrpSpPr>
          <p:grpSpPr>
            <a:xfrm>
              <a:off x="1945836" y="2942614"/>
              <a:ext cx="7714279" cy="3481819"/>
              <a:chOff x="1945836" y="2942614"/>
              <a:chExt cx="7714279" cy="3481819"/>
            </a:xfrm>
          </p:grpSpPr>
          <p:grpSp>
            <p:nvGrpSpPr>
              <p:cNvPr id="9" name="Ομάδα 8">
                <a:extLst>
                  <a:ext uri="{FF2B5EF4-FFF2-40B4-BE49-F238E27FC236}">
                    <a16:creationId xmlns:a16="http://schemas.microsoft.com/office/drawing/2014/main" id="{BA9ABF10-AE9D-08B9-3886-E7FBE94471D3}"/>
                  </a:ext>
                </a:extLst>
              </p:cNvPr>
              <p:cNvGrpSpPr/>
              <p:nvPr/>
            </p:nvGrpSpPr>
            <p:grpSpPr>
              <a:xfrm>
                <a:off x="1945836" y="2942614"/>
                <a:ext cx="7714279" cy="3481819"/>
                <a:chOff x="1945836" y="2942614"/>
                <a:chExt cx="7714279" cy="3481819"/>
              </a:xfrm>
            </p:grpSpPr>
            <p:pic>
              <p:nvPicPr>
                <p:cNvPr id="11" name="Εικόνα 10">
                  <a:extLst>
                    <a:ext uri="{FF2B5EF4-FFF2-40B4-BE49-F238E27FC236}">
                      <a16:creationId xmlns:a16="http://schemas.microsoft.com/office/drawing/2014/main" id="{4083DE78-1E01-01CC-F092-11DF2516A6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96477" y="2942614"/>
                  <a:ext cx="6963638" cy="3481819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AD0620B-8265-BADD-4C0B-0D6F8E6DD602}"/>
                    </a:ext>
                  </a:extLst>
                </p:cNvPr>
                <p:cNvSpPr txBox="1"/>
                <p:nvPr/>
              </p:nvSpPr>
              <p:spPr>
                <a:xfrm>
                  <a:off x="1945836" y="4380004"/>
                  <a:ext cx="1050609" cy="6794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Training </a:t>
                  </a:r>
                </a:p>
                <a:p>
                  <a:pPr algn="ctr"/>
                  <a:r>
                    <a:rPr lang="en-US" dirty="0"/>
                    <a:t>Set</a:t>
                  </a:r>
                </a:p>
              </p:txBody>
            </p:sp>
          </p:grpSp>
          <p:sp>
            <p:nvSpPr>
              <p:cNvPr id="10" name="Οβάλ 9">
                <a:extLst>
                  <a:ext uri="{FF2B5EF4-FFF2-40B4-BE49-F238E27FC236}">
                    <a16:creationId xmlns:a16="http://schemas.microsoft.com/office/drawing/2014/main" id="{83DBFA73-E90A-D702-6C88-931BCF97D248}"/>
                  </a:ext>
                </a:extLst>
              </p:cNvPr>
              <p:cNvSpPr/>
              <p:nvPr/>
            </p:nvSpPr>
            <p:spPr>
              <a:xfrm>
                <a:off x="3296412" y="4067485"/>
                <a:ext cx="955548" cy="955548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Οβάλ 7">
              <a:extLst>
                <a:ext uri="{FF2B5EF4-FFF2-40B4-BE49-F238E27FC236}">
                  <a16:creationId xmlns:a16="http://schemas.microsoft.com/office/drawing/2014/main" id="{492120F1-3AC8-5355-A2FB-B196DC469BED}"/>
                </a:ext>
              </a:extLst>
            </p:cNvPr>
            <p:cNvSpPr/>
            <p:nvPr/>
          </p:nvSpPr>
          <p:spPr>
            <a:xfrm>
              <a:off x="7198238" y="4067485"/>
              <a:ext cx="955548" cy="95554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Ομάδα 18">
            <a:extLst>
              <a:ext uri="{FF2B5EF4-FFF2-40B4-BE49-F238E27FC236}">
                <a16:creationId xmlns:a16="http://schemas.microsoft.com/office/drawing/2014/main" id="{209585AC-2C3C-E7B4-CCD4-74A608D008A5}"/>
              </a:ext>
            </a:extLst>
          </p:cNvPr>
          <p:cNvGrpSpPr/>
          <p:nvPr/>
        </p:nvGrpSpPr>
        <p:grpSpPr>
          <a:xfrm>
            <a:off x="7810927" y="3210178"/>
            <a:ext cx="3971544" cy="3062112"/>
            <a:chOff x="7810927" y="3210178"/>
            <a:chExt cx="3971544" cy="3062112"/>
          </a:xfrm>
        </p:grpSpPr>
        <p:pic>
          <p:nvPicPr>
            <p:cNvPr id="14" name="Εικόνα 13">
              <a:extLst>
                <a:ext uri="{FF2B5EF4-FFF2-40B4-BE49-F238E27FC236}">
                  <a16:creationId xmlns:a16="http://schemas.microsoft.com/office/drawing/2014/main" id="{679214A1-E6F6-31CF-2D68-16FDC2C4A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10927" y="3210178"/>
              <a:ext cx="3971544" cy="269278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46B50C1-AA1E-48CC-0EB5-7989FAD10927}"/>
                </a:ext>
              </a:extLst>
            </p:cNvPr>
            <p:cNvSpPr txBox="1"/>
            <p:nvPr/>
          </p:nvSpPr>
          <p:spPr>
            <a:xfrm>
              <a:off x="9070723" y="5902958"/>
              <a:ext cx="2146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KNN in Multi-class</a:t>
              </a:r>
            </a:p>
          </p:txBody>
        </p:sp>
        <p:sp>
          <p:nvSpPr>
            <p:cNvPr id="17" name="Οβάλ 16">
              <a:extLst>
                <a:ext uri="{FF2B5EF4-FFF2-40B4-BE49-F238E27FC236}">
                  <a16:creationId xmlns:a16="http://schemas.microsoft.com/office/drawing/2014/main" id="{E7907BE8-6C6C-1168-C289-972279333FD7}"/>
                </a:ext>
              </a:extLst>
            </p:cNvPr>
            <p:cNvSpPr/>
            <p:nvPr/>
          </p:nvSpPr>
          <p:spPr>
            <a:xfrm>
              <a:off x="9683496" y="4556568"/>
              <a:ext cx="125160" cy="12516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Οβάλ 17">
              <a:extLst>
                <a:ext uri="{FF2B5EF4-FFF2-40B4-BE49-F238E27FC236}">
                  <a16:creationId xmlns:a16="http://schemas.microsoft.com/office/drawing/2014/main" id="{A6F2FC2F-DF2F-2685-9A97-732914323524}"/>
                </a:ext>
              </a:extLst>
            </p:cNvPr>
            <p:cNvSpPr/>
            <p:nvPr/>
          </p:nvSpPr>
          <p:spPr>
            <a:xfrm>
              <a:off x="9372792" y="4245864"/>
              <a:ext cx="746568" cy="746568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2631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15E3DE6-7AE2-C694-A278-275AC0BD1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KNN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D49A96C-2D3E-EF4E-2671-1D79A5A4A0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4480"/>
                <a:ext cx="6815328" cy="4622483"/>
              </a:xfrm>
            </p:spPr>
            <p:txBody>
              <a:bodyPr>
                <a:normAutofit/>
              </a:bodyPr>
              <a:lstStyle/>
              <a:p>
                <a:r>
                  <a:rPr lang="en-US" sz="2000" i="1" dirty="0"/>
                  <a:t>Select an odd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i="1" dirty="0"/>
                  <a:t> number (Requires fine-tuning).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i="1" dirty="0"/>
                  <a:t> must be odd (e.g., 1, 3, 5, 7, …), to enable voting/averaging. </a:t>
                </a:r>
              </a:p>
              <a:p>
                <a:r>
                  <a:rPr lang="en-US" sz="2000" i="1" dirty="0"/>
                  <a:t>For each unknown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i="1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i="1" dirty="0"/>
                  <a:t>For each training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i="1" dirty="0"/>
                  <a:t>, compute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i="1" dirty="0"/>
                  <a:t>, using a distance metric (e.g., Euclidean Distance).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i="1" dirty="0"/>
                  <a:t>Select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i="1" dirty="0"/>
                  <a:t>-Nearest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i="1" dirty="0"/>
                  <a:t> (the ones with the minimum distance).</a:t>
                </a:r>
              </a:p>
              <a:p>
                <a:r>
                  <a:rPr lang="en-US" sz="2000" i="1" dirty="0"/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i="1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Classification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/>
                  <a:t> </a:t>
                </a:r>
                <a:r>
                  <a:rPr lang="el-GR" sz="1600" dirty="0"/>
                  <a:t>Πλειοψηφία των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Regression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1600" dirty="0"/>
              </a:p>
              <a:p>
                <a:r>
                  <a:rPr lang="en-US" sz="2000" b="1" dirty="0"/>
                  <a:t>KNN works for multi-class problems as well (multiple classes).</a:t>
                </a:r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D49A96C-2D3E-EF4E-2671-1D79A5A4A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4480"/>
                <a:ext cx="6815328" cy="4622483"/>
              </a:xfrm>
              <a:blipFill>
                <a:blip r:embed="rId2"/>
                <a:stretch>
                  <a:fillRect l="-805" t="-1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24530921-C644-F482-0FC7-1E8F6C15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9EFCB2C2-79C6-A4A4-EEA0-246FFEC0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2" descr="Figure">
            <a:extLst>
              <a:ext uri="{FF2B5EF4-FFF2-40B4-BE49-F238E27FC236}">
                <a16:creationId xmlns:a16="http://schemas.microsoft.com/office/drawing/2014/main" id="{DE4A1F96-8655-8D8B-E50F-32421553B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253207"/>
            <a:ext cx="3717330" cy="317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ontiers | Random kernel k-nearest neighbors regression">
            <a:extLst>
              <a:ext uri="{FF2B5EF4-FFF2-40B4-BE49-F238E27FC236}">
                <a16:creationId xmlns:a16="http://schemas.microsoft.com/office/drawing/2014/main" id="{27BE3B05-635D-BA9A-771F-6CE330144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463" y="3585368"/>
            <a:ext cx="3701267" cy="261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420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chine learning - Why does the overfitting decreases if we choose K to be  large in K-nearest neighbors? - Data Science Stack Exchange">
            <a:extLst>
              <a:ext uri="{FF2B5EF4-FFF2-40B4-BE49-F238E27FC236}">
                <a16:creationId xmlns:a16="http://schemas.microsoft.com/office/drawing/2014/main" id="{BD26C1E6-A22E-F9E2-A917-2FBCF23D1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655" y="4123944"/>
            <a:ext cx="6925466" cy="246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Τίτλος 1">
            <a:extLst>
              <a:ext uri="{FF2B5EF4-FFF2-40B4-BE49-F238E27FC236}">
                <a16:creationId xmlns:a16="http://schemas.microsoft.com/office/drawing/2014/main" id="{D105B2C6-3A69-5873-2834-27B1A8841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Selecting </a:t>
            </a:r>
            <a:r>
              <a:rPr lang="en-US" i="1" dirty="0"/>
              <a:t>K </a:t>
            </a:r>
            <a:r>
              <a:rPr lang="en-US" dirty="0"/>
              <a:t>Parameter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5C1AF767-BD3A-F601-D598-E4FE343AA6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8526"/>
                <a:ext cx="10939272" cy="3029839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Depending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, KNN produces different predictions.</a:t>
                </a:r>
              </a:p>
              <a:p>
                <a:r>
                  <a:rPr lang="en-US" sz="2000" dirty="0"/>
                  <a:t>Selecting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usually requires fine-tuning using </a:t>
                </a:r>
                <a:r>
                  <a:rPr lang="en-US" sz="2000" b="1" dirty="0"/>
                  <a:t>cross-validation</a:t>
                </a:r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Typical values: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rad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with a training set of </a:t>
                </a:r>
                <a:r>
                  <a:rPr lang="en-US" sz="2000" i="1" dirty="0"/>
                  <a:t>N </a:t>
                </a:r>
                <a:r>
                  <a:rPr lang="en-US" sz="2000" dirty="0"/>
                  <a:t>samples.</a:t>
                </a:r>
              </a:p>
              <a:p>
                <a:r>
                  <a:rPr lang="en-US" sz="2000" b="1" dirty="0"/>
                  <a:t>K should always be odd</a:t>
                </a:r>
                <a:r>
                  <a:rPr lang="en-US" sz="2000" dirty="0"/>
                  <a:t>. </a:t>
                </a:r>
              </a:p>
              <a:p>
                <a:r>
                  <a:rPr lang="en-US" sz="2000" b="1" dirty="0"/>
                  <a:t>Small values of </a:t>
                </a:r>
                <a:r>
                  <a:rPr lang="en-US" sz="2000" b="1" i="1" dirty="0"/>
                  <a:t>K </a:t>
                </a:r>
                <a:r>
                  <a:rPr lang="en-US" sz="2000" dirty="0"/>
                  <a:t>capture local patterns more precisely (since it considers only the most similar instances), but  might be sensitive to outliers, leading to overfitting.</a:t>
                </a:r>
              </a:p>
              <a:p>
                <a:r>
                  <a:rPr lang="en-US" sz="2000" b="1" dirty="0"/>
                  <a:t>Large values of </a:t>
                </a:r>
                <a:r>
                  <a:rPr lang="en-US" sz="2000" b="1" i="1" dirty="0"/>
                  <a:t>K</a:t>
                </a:r>
                <a:r>
                  <a:rPr lang="en-US" sz="2000" i="1" dirty="0"/>
                  <a:t> </a:t>
                </a:r>
                <a:r>
                  <a:rPr lang="en-US" sz="2000" dirty="0"/>
                  <a:t>smooth out the effect of outliers (since multiple similar instances are selected), but the local patterns might not be captured precisely, leading to underfitting.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5C1AF767-BD3A-F601-D598-E4FE343AA6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8526"/>
                <a:ext cx="10939272" cy="3029839"/>
              </a:xfrm>
              <a:blipFill>
                <a:blip r:embed="rId3"/>
                <a:stretch>
                  <a:fillRect l="-502" t="-2012" r="-669" b="-1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B818F5CA-E4F6-A2E3-E34C-5D062F43D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3E1B4ACC-BEBA-EF4A-8AC1-EDB547C0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64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96D575B-1AD2-952E-1E2D-F6E150B1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Distance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4920D1E7-BB91-3D20-D64B-264051FFF4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4168"/>
                <a:ext cx="5992368" cy="5012181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For two vector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features each:</a:t>
                </a:r>
              </a:p>
              <a:p>
                <a:r>
                  <a:rPr lang="en-US" sz="2000" b="1" dirty="0"/>
                  <a:t>Manhattan Distance: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</m:e>
                    </m:nary>
                  </m:oMath>
                </a14:m>
                <a:r>
                  <a:rPr lang="en-US" sz="2000" b="1" dirty="0"/>
                  <a:t>.</a:t>
                </a:r>
              </a:p>
              <a:p>
                <a:r>
                  <a:rPr lang="en-US" sz="2000" b="1" dirty="0"/>
                  <a:t>Euclidean Distance: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Cosine Distance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∗||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||</m:t>
                        </m:r>
                      </m:den>
                    </m:f>
                  </m:oMath>
                </a14:m>
                <a:r>
                  <a:rPr lang="en-US" sz="2000" dirty="0"/>
                  <a:t>, where: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/>
                  <a:t> is the dot product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||=</m:t>
                    </m:r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r>
                  <a:rPr lang="en-US" sz="1600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It is used mainly in text &amp; document analysis.</a:t>
                </a:r>
              </a:p>
              <a:p>
                <a:r>
                  <a:rPr lang="en-US" sz="2000" dirty="0"/>
                  <a:t>The distance of Categorical variables (e.g.,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𝑐𝑜𝑙𝑜𝑟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𝑤h𝑖𝑡𝑒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𝑦𝑒𝑙𝑙𝑜𝑤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𝑏𝑙𝑎𝑐𝑘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can be computed as 0 if the two variables have the same value else 1 (</a:t>
                </a:r>
                <a:r>
                  <a:rPr lang="en-US" sz="2000" b="1" dirty="0"/>
                  <a:t>one-hot encoding</a:t>
                </a:r>
                <a:r>
                  <a:rPr lang="en-US" sz="2000" dirty="0"/>
                  <a:t>).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4920D1E7-BB91-3D20-D64B-264051FFF4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4168"/>
                <a:ext cx="5992368" cy="5012181"/>
              </a:xfrm>
              <a:blipFill>
                <a:blip r:embed="rId2"/>
                <a:stretch>
                  <a:fillRect l="-916" t="-973" r="-203" b="-1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BD9BF260-17C0-C0E3-63EF-64A89824A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F4465CBC-EC16-E8BE-C0F7-DD7D3F6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6</a:t>
            </a:fld>
            <a:endParaRPr lang="en-US"/>
          </a:p>
        </p:txBody>
      </p:sp>
      <p:pic>
        <p:nvPicPr>
          <p:cNvPr id="3074" name="Picture 2" descr="9 Distance Measures in Data Science | TDS Archive">
            <a:extLst>
              <a:ext uri="{FF2B5EF4-FFF2-40B4-BE49-F238E27FC236}">
                <a16:creationId xmlns:a16="http://schemas.microsoft.com/office/drawing/2014/main" id="{AD1263D8-3174-6007-AF2F-3395F2774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357" y="813816"/>
            <a:ext cx="5193738" cy="523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837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1DF43A0-C26F-1994-5CC7-4C25220D2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K-D Tree &amp; Ball Tree 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AF894DD-2E85-80DA-F809-7A7B25E1C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9704832" cy="482898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Calculating every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(brute-force) is a time-consuming process.</a:t>
                </a:r>
              </a:p>
              <a:p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training samples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 features, it achieves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000" dirty="0"/>
                  <a:t> time complexity during fitting, but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𝑁𝐷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when predicting a new unseen sample.</a:t>
                </a:r>
              </a:p>
              <a:p>
                <a:r>
                  <a:rPr lang="en-US" sz="2000" dirty="0"/>
                  <a:t>For a dataset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=1,000,000</m:t>
                    </m:r>
                  </m:oMath>
                </a14:m>
                <a:r>
                  <a:rPr lang="en-US" sz="2000" dirty="0"/>
                  <a:t> instances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sz="2000" dirty="0"/>
                  <a:t> features, it requires: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1 Billion distance calculations.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 Million comparisons (to find the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 nearest instances).</a:t>
                </a:r>
              </a:p>
              <a:p>
                <a:r>
                  <a:rPr lang="en-US" sz="2000" dirty="0"/>
                  <a:t>K-D Trees and Ball Trees are data structures which fit on the training set, to speed up the calculation of the distances during prediction.</a:t>
                </a:r>
              </a:p>
              <a:p>
                <a:r>
                  <a:rPr lang="en-US" sz="2000" dirty="0"/>
                  <a:t>Their goal is split the dataset into multiple spatial maps that enable faster computation of nearest instances.</a:t>
                </a:r>
              </a:p>
              <a:p>
                <a:r>
                  <a:rPr lang="en-US" sz="2000" dirty="0"/>
                  <a:t>Ball Tree structure is overall better and more robust to outliers than KD-Tree, but it is more complex, harder to implement and requires further fitting time.</a:t>
                </a:r>
              </a:p>
              <a:p>
                <a:r>
                  <a:rPr lang="en-US" sz="2000" dirty="0"/>
                  <a:t>These structures achieve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𝐿𝑜𝑔𝑁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during fitting time, but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𝑙𝑜𝑔𝑁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when predicting.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AF894DD-2E85-80DA-F809-7A7B25E1C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9704832" cy="4828983"/>
              </a:xfrm>
              <a:blipFill>
                <a:blip r:embed="rId2"/>
                <a:stretch>
                  <a:fillRect l="-565" t="-1010" b="-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0C057AB2-2F63-B24A-C33A-611FBAA2C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95177B6B-8F73-78E9-C9AA-21F18357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0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B189B41-C030-BE36-AD5C-B7BFD822B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069"/>
            <a:ext cx="10515600" cy="1047220"/>
          </a:xfrm>
        </p:spPr>
        <p:txBody>
          <a:bodyPr>
            <a:normAutofit/>
          </a:bodyPr>
          <a:lstStyle/>
          <a:p>
            <a:r>
              <a:rPr lang="en-US" sz="4000" dirty="0"/>
              <a:t>K-D Tree vs Ball Tree Visualization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E5B52CDA-F124-B8F4-4894-CA2E4D45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2E16632F-CD80-724F-7C33-FCF0F5087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8</a:t>
            </a:fld>
            <a:endParaRPr lang="en-US"/>
          </a:p>
        </p:txBody>
      </p:sp>
      <p:pic>
        <p:nvPicPr>
          <p:cNvPr id="4098" name="Picture 2" descr="Kd -Tree and Ball Tree Algorithms | by NithyaSri | Medium">
            <a:extLst>
              <a:ext uri="{FF2B5EF4-FFF2-40B4-BE49-F238E27FC236}">
                <a16:creationId xmlns:a16="http://schemas.microsoft.com/office/drawing/2014/main" id="{0E697D04-4856-6D01-4FA6-40E7CD27C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319" y="1225685"/>
            <a:ext cx="4496562" cy="220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Kd-tree and Nearest neighbor (NN) search (2D case) | Alexey Abramov | Salzi  | Blog">
            <a:extLst>
              <a:ext uri="{FF2B5EF4-FFF2-40B4-BE49-F238E27FC236}">
                <a16:creationId xmlns:a16="http://schemas.microsoft.com/office/drawing/2014/main" id="{1608A7A0-483A-06D2-89EA-E46A6FA0A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014" y="1089050"/>
            <a:ext cx="3077113" cy="318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KD Tree - Searching in N-dimensions, Part I - CodeProject">
            <a:extLst>
              <a:ext uri="{FF2B5EF4-FFF2-40B4-BE49-F238E27FC236}">
                <a16:creationId xmlns:a16="http://schemas.microsoft.com/office/drawing/2014/main" id="{96DF4277-8CC9-8F54-2300-8855B0947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819" y="4337298"/>
            <a:ext cx="2807038" cy="208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The steps of building a Balltree. | Download Scientific Diagram">
            <a:extLst>
              <a:ext uri="{FF2B5EF4-FFF2-40B4-BE49-F238E27FC236}">
                <a16:creationId xmlns:a16="http://schemas.microsoft.com/office/drawing/2014/main" id="{BAD01DC0-A110-8590-3367-F8C8F202E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128" y="3731870"/>
            <a:ext cx="3710944" cy="253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C2576180-30C4-AFF9-CFB5-5F5CEE4D6BE1}"/>
              </a:ext>
            </a:extLst>
          </p:cNvPr>
          <p:cNvSpPr/>
          <p:nvPr/>
        </p:nvSpPr>
        <p:spPr>
          <a:xfrm>
            <a:off x="5156071" y="3180341"/>
            <a:ext cx="8298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vs</a:t>
            </a:r>
            <a:endParaRPr lang="el-G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019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0B3E580-8101-06A9-6A4E-1DA5F89D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8187"/>
          </a:xfrm>
        </p:spPr>
        <p:txBody>
          <a:bodyPr/>
          <a:lstStyle/>
          <a:p>
            <a:r>
              <a:rPr lang="en-US" sz="4000" dirty="0"/>
              <a:t>Scaling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2DF050B8-B138-5C1E-F5B5-1B13D7E694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2752" y="1124712"/>
                <a:ext cx="9046464" cy="52316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𝐾𝑁𝑁</m:t>
                    </m:r>
                  </m:oMath>
                </a14:m>
                <a:r>
                  <a:rPr lang="en-US" sz="2000" dirty="0"/>
                  <a:t> performs poorly when different features present different value ranges.</a:t>
                </a:r>
              </a:p>
              <a:p>
                <a:r>
                  <a:rPr lang="en-US" sz="2000" dirty="0"/>
                  <a:t>Given instances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with features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and ranges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en-US" sz="2000" dirty="0"/>
                  <a:t>, [0,1]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[0, 10]</m:t>
                    </m:r>
                  </m:oMath>
                </a14:m>
                <a:r>
                  <a:rPr lang="en-US" sz="2000" dirty="0"/>
                  <a:t> respectively,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affects 10 times more the distances than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together.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Given instances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=(0.5, 1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.0, 5.0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=(0.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5, 1.0, 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0.0 0.0, 6.0</m:t>
                        </m:r>
                      </m:e>
                    </m:d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 look identical (since their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/>
                  <a:t> are the same), but: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𝑀𝑎𝑛h𝑎𝑡𝑡𝑎𝑛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0.5−0.5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1.0−1.0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5.0−9.0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=0+0+4=4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𝑀𝑎𝑛h𝑎𝑡𝑡𝑎𝑛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0.5−0.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1.0−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.0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5.0−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.0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=0+0+4=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Because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600" dirty="0"/>
                  <a:t> has larger value range,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is closer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dirty="0"/>
                  <a:t>.</a:t>
                </a:r>
              </a:p>
              <a:p>
                <a:r>
                  <a:rPr lang="en-US" sz="2000" dirty="0"/>
                  <a:t>Scaling the features into the same range before fitting </a:t>
                </a:r>
                <a:r>
                  <a:rPr lang="en-US" sz="2000" i="1" dirty="0"/>
                  <a:t>KNN</a:t>
                </a:r>
                <a:r>
                  <a:rPr lang="en-US" sz="2000" dirty="0"/>
                  <a:t> can address this issue.</a:t>
                </a:r>
              </a:p>
              <a:p>
                <a:r>
                  <a:rPr lang="en-US" sz="2000" dirty="0"/>
                  <a:t>Min-Max Scaling: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Scales features in range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[0, 1.0]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All features have the same scale (range), so their contribution is equal.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For instance,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0.5, 1, 0.5</m:t>
                        </m:r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=(0.5, 1.0, 0.9)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0.0, 0.0, 0.6</m:t>
                        </m:r>
                      </m:e>
                    </m:d>
                  </m:oMath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Now,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𝑀𝑎𝑛h𝑎𝑡𝑡𝑎𝑛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US" sz="1600" dirty="0"/>
                  <a:t>, while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𝑀𝑎𝑛h𝑎𝑡𝑡𝑎𝑛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=1.6</m:t>
                    </m:r>
                  </m:oMath>
                </a14:m>
                <a:r>
                  <a:rPr lang="en-US" sz="1600" dirty="0"/>
                  <a:t> (Since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600" dirty="0"/>
                  <a:t> have equal contribution).</a:t>
                </a:r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2DF050B8-B138-5C1E-F5B5-1B13D7E69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2752" y="1124712"/>
                <a:ext cx="9046464" cy="5231638"/>
              </a:xfrm>
              <a:blipFill>
                <a:blip r:embed="rId2"/>
                <a:stretch>
                  <a:fillRect l="-606" t="-1166" r="-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7CFD0DFB-9D58-14C6-3065-00D65FA0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E7E08AEB-8A43-9710-6F7E-A45C7563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9</a:t>
            </a:fld>
            <a:endParaRPr lang="en-US"/>
          </a:p>
        </p:txBody>
      </p:sp>
      <p:pic>
        <p:nvPicPr>
          <p:cNvPr id="12" name="Εικόνα 11">
            <a:extLst>
              <a:ext uri="{FF2B5EF4-FFF2-40B4-BE49-F238E27FC236}">
                <a16:creationId xmlns:a16="http://schemas.microsoft.com/office/drawing/2014/main" id="{F3095686-36E2-3FC3-54D0-AD7138294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224" y="3429000"/>
            <a:ext cx="2635984" cy="276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1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BA69EF9-BCE7-6552-CDF9-5CFA55214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Scaling Visualization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5227B50E-8E85-628C-D7BF-069F56E5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DA7D5C1D-4AEB-2C91-C01B-706EAF8B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10</a:t>
            </a:fld>
            <a:endParaRPr lang="en-US"/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F6246851-3404-BF85-190C-5B73D69DC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59" y="1567105"/>
            <a:ext cx="8952481" cy="431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64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54CCCC3-B3A6-FAA8-E336-4AAFF8DC3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401" y="55816"/>
            <a:ext cx="10515600" cy="1187767"/>
          </a:xfrm>
        </p:spPr>
        <p:txBody>
          <a:bodyPr>
            <a:normAutofit/>
          </a:bodyPr>
          <a:lstStyle/>
          <a:p>
            <a:r>
              <a:rPr lang="en-US" sz="4000" dirty="0"/>
              <a:t>Weighted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82A939C-36D5-08CA-71F8-883C580829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6401" y="1070164"/>
                <a:ext cx="6682807" cy="5477891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In classification, KNN considers that each neighbor (nearest point) is equal.</a:t>
                </a:r>
              </a:p>
              <a:p>
                <a:r>
                  <a:rPr lang="en-US" sz="2000" dirty="0"/>
                  <a:t>However, neighbors that are closer to the unknown instance should probably affect more the outcome of the result.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Major issue with imbalanced classes, where the majority class dominates the dataset.</a:t>
                </a:r>
              </a:p>
              <a:p>
                <a:r>
                  <a:rPr lang="en-US" sz="2000" b="1" dirty="0"/>
                  <a:t>Weighted KNN</a:t>
                </a:r>
                <a:r>
                  <a:rPr lang="en-US" sz="2000" dirty="0"/>
                  <a:t>: Weights each neighbor based on its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𝑑𝑖𝑠𝑡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the unknown instance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={1,2,…,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are its neighbors.</a:t>
                </a:r>
              </a:p>
              <a:p>
                <a:r>
                  <a:rPr lang="en-US" sz="2000" dirty="0"/>
                  <a:t>Then, we sum all weights for each class separately and pick the class with the highest score.</a:t>
                </a:r>
              </a:p>
              <a:p>
                <a:r>
                  <a:rPr lang="en-US" sz="2000" dirty="0"/>
                  <a:t>Advantages: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Improved accuracy </a:t>
                </a:r>
                <a:r>
                  <a:rPr lang="en-US" sz="1600" dirty="0"/>
                  <a:t>when the dataset has varying densities (overlapping classes at multiple regions).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Reduced bias </a:t>
                </a:r>
                <a:r>
                  <a:rPr lang="en-US" sz="1600" dirty="0"/>
                  <a:t>towards the majority class in case of imbalanced classes.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82A939C-36D5-08CA-71F8-883C580829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401" y="1070164"/>
                <a:ext cx="6682807" cy="5477891"/>
              </a:xfrm>
              <a:blipFill>
                <a:blip r:embed="rId2"/>
                <a:stretch>
                  <a:fillRect l="-820" t="-1114" r="-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98C6CCD0-90D1-C1C9-31D5-13732A6D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131660E-2A27-CF02-B06B-3690A9FFA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11</a:t>
            </a:fld>
            <a:endParaRPr lang="en-US"/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CB29782D-ACD9-FB4B-24F1-739321D9C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776605"/>
            <a:ext cx="4657479" cy="460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8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A4F4EF3C-3E4F-6BA5-7DD2-72E8B783FA9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36525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Weighted KNN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A4F4EF3C-3E4F-6BA5-7DD2-72E8B783FA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36525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79468A14-2C3D-11DF-AF0F-4E1A8C28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126D5A49-5A1E-854A-B1FD-0F311D00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12</a:t>
            </a:fld>
            <a:endParaRPr lang="en-US"/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A558DAA4-5ED7-A958-3358-A9B022452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69" y="1462088"/>
            <a:ext cx="4381927" cy="46412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Οβάλ 7">
            <a:extLst>
              <a:ext uri="{FF2B5EF4-FFF2-40B4-BE49-F238E27FC236}">
                <a16:creationId xmlns:a16="http://schemas.microsoft.com/office/drawing/2014/main" id="{46690F67-D1C4-AC0F-F9A8-CFE44E30635D}"/>
              </a:ext>
            </a:extLst>
          </p:cNvPr>
          <p:cNvSpPr/>
          <p:nvPr/>
        </p:nvSpPr>
        <p:spPr>
          <a:xfrm>
            <a:off x="5668853" y="1956816"/>
            <a:ext cx="192024" cy="219456"/>
          </a:xfrm>
          <a:prstGeom prst="ellipse">
            <a:avLst/>
          </a:prstGeom>
          <a:noFill/>
          <a:ln w="38100">
            <a:solidFill>
              <a:srgbClr val="1AAF5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8C8824-3A6C-58BC-540C-5EB8C081E5B3}"/>
                  </a:ext>
                </a:extLst>
              </p:cNvPr>
              <p:cNvSpPr txBox="1"/>
              <p:nvPr/>
            </p:nvSpPr>
            <p:spPr>
              <a:xfrm>
                <a:off x="5764865" y="1715057"/>
                <a:ext cx="2230098" cy="659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8C8824-3A6C-58BC-540C-5EB8C081E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865" y="1715057"/>
                <a:ext cx="2230098" cy="6594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76F0F4-E5BA-9729-5C73-29B9A913DF11}"/>
                  </a:ext>
                </a:extLst>
              </p:cNvPr>
              <p:cNvSpPr txBox="1"/>
              <p:nvPr/>
            </p:nvSpPr>
            <p:spPr>
              <a:xfrm>
                <a:off x="5559552" y="1332130"/>
                <a:ext cx="1734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𝐸𝑢𝑐𝑙𝑖𝑑𝑒𝑎𝑛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76F0F4-E5BA-9729-5C73-29B9A913D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552" y="1332130"/>
                <a:ext cx="173483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Σύμβολο πολλαπλασιασμού 10">
            <a:extLst>
              <a:ext uri="{FF2B5EF4-FFF2-40B4-BE49-F238E27FC236}">
                <a16:creationId xmlns:a16="http://schemas.microsoft.com/office/drawing/2014/main" id="{D516F84F-26F4-EF5F-B818-44935D68D955}"/>
              </a:ext>
            </a:extLst>
          </p:cNvPr>
          <p:cNvSpPr/>
          <p:nvPr/>
        </p:nvSpPr>
        <p:spPr>
          <a:xfrm>
            <a:off x="5668853" y="2478332"/>
            <a:ext cx="261031" cy="36512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97654-0241-D88B-AF44-47E7BF5A62A1}"/>
                  </a:ext>
                </a:extLst>
              </p:cNvPr>
              <p:cNvSpPr txBox="1"/>
              <p:nvPr/>
            </p:nvSpPr>
            <p:spPr>
              <a:xfrm>
                <a:off x="5860877" y="2327795"/>
                <a:ext cx="1723357" cy="659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97654-0241-D88B-AF44-47E7BF5A6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877" y="2327795"/>
                <a:ext cx="1723357" cy="6597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73230D-6052-8583-EE60-A503DF1987A2}"/>
                  </a:ext>
                </a:extLst>
              </p:cNvPr>
              <p:cNvSpPr txBox="1"/>
              <p:nvPr/>
            </p:nvSpPr>
            <p:spPr>
              <a:xfrm>
                <a:off x="5655309" y="3016509"/>
                <a:ext cx="1928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73230D-6052-8583-EE60-A503DF198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309" y="3016509"/>
                <a:ext cx="1928925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872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90EE-7223-F03E-E078-EFB97722E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94722CF-E3A1-6C02-23E7-213CFB7852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39AF8FCE-89C2-D810-BA56-DC8F238FF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K-Nearest Neighbors Notes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16E749B5-B320-1AA1-1760-566CE6B2E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108868B2-9FE7-07BC-FA61-1F84DE65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81882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4660</TotalTime>
  <Words>1176</Words>
  <Application>Microsoft Office PowerPoint</Application>
  <PresentationFormat>Ευρεία οθόνη</PresentationFormat>
  <Paragraphs>117</Paragraphs>
  <Slides>13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Wingdings</vt:lpstr>
      <vt:lpstr>Θέμα του Office</vt:lpstr>
      <vt:lpstr>Machine Learning</vt:lpstr>
      <vt:lpstr>Instance-based Learning (Lazy Learning)</vt:lpstr>
      <vt:lpstr>K-Nearest Neighbors (KNN)</vt:lpstr>
      <vt:lpstr>KNN Implementation</vt:lpstr>
      <vt:lpstr>Selecting K Parameter</vt:lpstr>
      <vt:lpstr>Distance Metrics</vt:lpstr>
      <vt:lpstr>K-D Tree &amp; Ball Tree Structures</vt:lpstr>
      <vt:lpstr>K-D Tree vs Ball Tree Visualization</vt:lpstr>
      <vt:lpstr>Scaling</vt:lpstr>
      <vt:lpstr>Scaling Visualization</vt:lpstr>
      <vt:lpstr>Weighted KNN</vt:lpstr>
      <vt:lpstr>Weighted KNN Example, K=5</vt:lpstr>
      <vt:lpstr>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Vasileios Kochliaridis</dc:creator>
  <cp:lastModifiedBy>Vasileios Kochliaridis</cp:lastModifiedBy>
  <cp:revision>61</cp:revision>
  <dcterms:created xsi:type="dcterms:W3CDTF">2025-10-22T08:27:29Z</dcterms:created>
  <dcterms:modified xsi:type="dcterms:W3CDTF">2025-11-20T13:34:43Z</dcterms:modified>
</cp:coreProperties>
</file>