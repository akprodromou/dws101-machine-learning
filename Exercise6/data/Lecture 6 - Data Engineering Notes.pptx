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95" r:id="rId4"/>
    <p:sldId id="296" r:id="rId5"/>
    <p:sldId id="297" r:id="rId6"/>
    <p:sldId id="326" r:id="rId7"/>
    <p:sldId id="324" r:id="rId8"/>
    <p:sldId id="325" r:id="rId9"/>
    <p:sldId id="308" r:id="rId10"/>
    <p:sldId id="298" r:id="rId11"/>
    <p:sldId id="327" r:id="rId12"/>
    <p:sldId id="299" r:id="rId13"/>
    <p:sldId id="300" r:id="rId14"/>
    <p:sldId id="301" r:id="rId15"/>
    <p:sldId id="302" r:id="rId16"/>
    <p:sldId id="315" r:id="rId17"/>
    <p:sldId id="328" r:id="rId18"/>
    <p:sldId id="303" r:id="rId19"/>
    <p:sldId id="309" r:id="rId20"/>
    <p:sldId id="329" r:id="rId21"/>
    <p:sldId id="304" r:id="rId22"/>
    <p:sldId id="330" r:id="rId23"/>
    <p:sldId id="307" r:id="rId24"/>
    <p:sldId id="305" r:id="rId25"/>
    <p:sldId id="311" r:id="rId26"/>
    <p:sldId id="312" r:id="rId27"/>
    <p:sldId id="316" r:id="rId28"/>
    <p:sldId id="321" r:id="rId29"/>
    <p:sldId id="310" r:id="rId30"/>
    <p:sldId id="313" r:id="rId31"/>
    <p:sldId id="317" r:id="rId32"/>
    <p:sldId id="322"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A72E"/>
    <a:srgbClr val="1AAF54"/>
    <a:srgbClr val="000000"/>
    <a:srgbClr val="7E95A9"/>
    <a:srgbClr val="3E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Φωτεινό στυλ 2 - Έμφαση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5758FB7-9AC5-4552-8A53-C91805E547FA}" styleName="Στυλ με θέμα 1 - Έμφαση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Στυλ με θέμα 1 - Έμφαση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8D230F3-CF80-4859-8CE7-A43EE81993B5}" styleName="Φωτεινό στυλ 1 - Έμφαση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Φωτεινό στυλ 2 - Έμφαση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Φωτεινό στυλ 3 - Έμφαση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99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E574E-E298-4894-A198-54B8693C00DC}" type="datetimeFigureOut">
              <a:rPr lang="en-US" smtClean="0"/>
              <a:t>11/27/2025</a:t>
            </a:fld>
            <a:endParaRPr lang="en-US"/>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1EEC81-55A3-45B1-86BF-5CEFB88E3DC3}" type="slidenum">
              <a:rPr lang="en-US" smtClean="0"/>
              <a:t>‹#›</a:t>
            </a:fld>
            <a:endParaRPr lang="en-US"/>
          </a:p>
        </p:txBody>
      </p:sp>
    </p:spTree>
    <p:extLst>
      <p:ext uri="{BB962C8B-B14F-4D97-AF65-F5344CB8AC3E}">
        <p14:creationId xmlns:p14="http://schemas.microsoft.com/office/powerpoint/2010/main" val="1355080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6E3F2C7-4BFA-96D7-D7DB-89CE059E9AC5}"/>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endParaRPr lang="en-US"/>
          </a:p>
        </p:txBody>
      </p:sp>
      <p:sp>
        <p:nvSpPr>
          <p:cNvPr id="3" name="Υπότιτλος 2">
            <a:extLst>
              <a:ext uri="{FF2B5EF4-FFF2-40B4-BE49-F238E27FC236}">
                <a16:creationId xmlns:a16="http://schemas.microsoft.com/office/drawing/2014/main" id="{87FA496E-15E4-B6BD-2619-3D34222E01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a:p>
        </p:txBody>
      </p:sp>
      <p:sp>
        <p:nvSpPr>
          <p:cNvPr id="4" name="Θέση ημερομηνίας 3">
            <a:extLst>
              <a:ext uri="{FF2B5EF4-FFF2-40B4-BE49-F238E27FC236}">
                <a16:creationId xmlns:a16="http://schemas.microsoft.com/office/drawing/2014/main" id="{1DF0B0D9-EE98-037A-2344-7CC4B4E7CACF}"/>
              </a:ext>
            </a:extLst>
          </p:cNvPr>
          <p:cNvSpPr>
            <a:spLocks noGrp="1"/>
          </p:cNvSpPr>
          <p:nvPr>
            <p:ph type="dt" sz="half" idx="10"/>
          </p:nvPr>
        </p:nvSpPr>
        <p:spPr/>
        <p:txBody>
          <a:bodyPr/>
          <a:lstStyle/>
          <a:p>
            <a:fld id="{7E5F2831-E9E5-441A-988F-2CF775A095F7}" type="datetime1">
              <a:rPr lang="en-US" smtClean="0"/>
              <a:t>11/27/2025</a:t>
            </a:fld>
            <a:endParaRPr lang="en-US"/>
          </a:p>
        </p:txBody>
      </p:sp>
      <p:sp>
        <p:nvSpPr>
          <p:cNvPr id="5" name="Θέση υποσέλιδου 4">
            <a:extLst>
              <a:ext uri="{FF2B5EF4-FFF2-40B4-BE49-F238E27FC236}">
                <a16:creationId xmlns:a16="http://schemas.microsoft.com/office/drawing/2014/main" id="{FBBFB534-8947-8C37-4FA7-9FA9C42490CD}"/>
              </a:ext>
            </a:extLst>
          </p:cNvPr>
          <p:cNvSpPr>
            <a:spLocks noGrp="1"/>
          </p:cNvSpPr>
          <p:nvPr>
            <p:ph type="ftr" sz="quarter" idx="11"/>
          </p:nvPr>
        </p:nvSpPr>
        <p:spPr/>
        <p:txBody>
          <a:body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3DC8CE2F-F2D2-7280-2306-D7F692791B61}"/>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549841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60618F-C768-41A8-48DE-BB1086369791}"/>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A7AEF68D-C62B-FCBA-1472-10F022DE8E64}"/>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D9CACAF7-E2AE-6617-78A1-EFF8C0D7DA30}"/>
              </a:ext>
            </a:extLst>
          </p:cNvPr>
          <p:cNvSpPr>
            <a:spLocks noGrp="1"/>
          </p:cNvSpPr>
          <p:nvPr>
            <p:ph type="dt" sz="half" idx="10"/>
          </p:nvPr>
        </p:nvSpPr>
        <p:spPr/>
        <p:txBody>
          <a:bodyPr/>
          <a:lstStyle/>
          <a:p>
            <a:fld id="{F34617B9-7FDC-483F-873E-DA0B569A49AF}" type="datetime1">
              <a:rPr lang="en-US" smtClean="0"/>
              <a:t>11/27/2025</a:t>
            </a:fld>
            <a:endParaRPr lang="en-US"/>
          </a:p>
        </p:txBody>
      </p:sp>
      <p:sp>
        <p:nvSpPr>
          <p:cNvPr id="5" name="Θέση υποσέλιδου 4">
            <a:extLst>
              <a:ext uri="{FF2B5EF4-FFF2-40B4-BE49-F238E27FC236}">
                <a16:creationId xmlns:a16="http://schemas.microsoft.com/office/drawing/2014/main" id="{52F76099-BCF7-C484-CCA4-7360E1B4DA86}"/>
              </a:ext>
            </a:extLst>
          </p:cNvPr>
          <p:cNvSpPr>
            <a:spLocks noGrp="1"/>
          </p:cNvSpPr>
          <p:nvPr>
            <p:ph type="ftr" sz="quarter" idx="11"/>
          </p:nvPr>
        </p:nvSpPr>
        <p:spPr/>
        <p:txBody>
          <a:body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E7E7D658-FD80-BF1C-12C2-96A60BE98717}"/>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1715559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4DAC28B-5302-263A-BFA3-A9B067C6F5A6}"/>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341E70EB-D764-5148-416C-C22E4252D3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490778B5-0C05-BA17-E905-83FD5C40A084}"/>
              </a:ext>
            </a:extLst>
          </p:cNvPr>
          <p:cNvSpPr>
            <a:spLocks noGrp="1"/>
          </p:cNvSpPr>
          <p:nvPr>
            <p:ph type="dt" sz="half" idx="10"/>
          </p:nvPr>
        </p:nvSpPr>
        <p:spPr/>
        <p:txBody>
          <a:bodyPr/>
          <a:lstStyle/>
          <a:p>
            <a:fld id="{D0F9D5F0-2BFE-4CF8-8E92-6585B621437A}" type="datetime1">
              <a:rPr lang="en-US" smtClean="0"/>
              <a:t>11/27/2025</a:t>
            </a:fld>
            <a:endParaRPr lang="en-US"/>
          </a:p>
        </p:txBody>
      </p:sp>
      <p:sp>
        <p:nvSpPr>
          <p:cNvPr id="5" name="Θέση υποσέλιδου 4">
            <a:extLst>
              <a:ext uri="{FF2B5EF4-FFF2-40B4-BE49-F238E27FC236}">
                <a16:creationId xmlns:a16="http://schemas.microsoft.com/office/drawing/2014/main" id="{D75BF08D-2CE8-E775-5227-75DC306CD34A}"/>
              </a:ext>
            </a:extLst>
          </p:cNvPr>
          <p:cNvSpPr>
            <a:spLocks noGrp="1"/>
          </p:cNvSpPr>
          <p:nvPr>
            <p:ph type="ftr" sz="quarter" idx="11"/>
          </p:nvPr>
        </p:nvSpPr>
        <p:spPr/>
        <p:txBody>
          <a:body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DD73FBE2-BDCD-71A0-40F6-879EAB92E3C4}"/>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4165973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39AC0BF-ED31-BD2F-ADDC-10F1DC314EE1}"/>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F518A3B0-B3BB-D820-8653-9FF6BD5855F4}"/>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περιεχομένου 3">
            <a:extLst>
              <a:ext uri="{FF2B5EF4-FFF2-40B4-BE49-F238E27FC236}">
                <a16:creationId xmlns:a16="http://schemas.microsoft.com/office/drawing/2014/main" id="{E1AC07E0-13D4-AC1D-FDC2-1AFD08E33B0C}"/>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ημερομηνίας 4">
            <a:extLst>
              <a:ext uri="{FF2B5EF4-FFF2-40B4-BE49-F238E27FC236}">
                <a16:creationId xmlns:a16="http://schemas.microsoft.com/office/drawing/2014/main" id="{3A1EF92E-745E-94D7-11C5-D264A7E06C6B}"/>
              </a:ext>
            </a:extLst>
          </p:cNvPr>
          <p:cNvSpPr>
            <a:spLocks noGrp="1"/>
          </p:cNvSpPr>
          <p:nvPr>
            <p:ph type="dt" sz="half" idx="10"/>
          </p:nvPr>
        </p:nvSpPr>
        <p:spPr/>
        <p:txBody>
          <a:bodyPr/>
          <a:lstStyle/>
          <a:p>
            <a:fld id="{CA70ADA2-3B4C-46E9-8174-5D0E15805C71}" type="datetime1">
              <a:rPr lang="en-US" smtClean="0"/>
              <a:t>11/27/2025</a:t>
            </a:fld>
            <a:endParaRPr lang="en-US"/>
          </a:p>
        </p:txBody>
      </p:sp>
      <p:sp>
        <p:nvSpPr>
          <p:cNvPr id="6" name="Θέση υποσέλιδου 5">
            <a:extLst>
              <a:ext uri="{FF2B5EF4-FFF2-40B4-BE49-F238E27FC236}">
                <a16:creationId xmlns:a16="http://schemas.microsoft.com/office/drawing/2014/main" id="{687AF416-7FBD-C8A0-B475-79C435CBE94E}"/>
              </a:ext>
            </a:extLst>
          </p:cNvPr>
          <p:cNvSpPr>
            <a:spLocks noGrp="1"/>
          </p:cNvSpPr>
          <p:nvPr>
            <p:ph type="ftr" sz="quarter" idx="11"/>
          </p:nvPr>
        </p:nvSpPr>
        <p:spPr/>
        <p:txBody>
          <a:bodyPr/>
          <a:lstStyle/>
          <a:p>
            <a:r>
              <a:rPr lang="el-GR"/>
              <a:t>Βασίλειος Κοχλιαρίδης</a:t>
            </a:r>
            <a:endParaRPr lang="en-US"/>
          </a:p>
        </p:txBody>
      </p:sp>
      <p:sp>
        <p:nvSpPr>
          <p:cNvPr id="7" name="Θέση αριθμού διαφάνειας 6">
            <a:extLst>
              <a:ext uri="{FF2B5EF4-FFF2-40B4-BE49-F238E27FC236}">
                <a16:creationId xmlns:a16="http://schemas.microsoft.com/office/drawing/2014/main" id="{8004D500-C8D4-2F31-DFA0-25EFC092F99D}"/>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4024382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4393112-FBEE-410C-70DA-170D9B76DB69}"/>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E0FFF49C-A0C5-9203-D2A1-E1893DB81D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71752245-D4AF-76ED-FDE1-EDFAD6F35906}"/>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κειμένου 4">
            <a:extLst>
              <a:ext uri="{FF2B5EF4-FFF2-40B4-BE49-F238E27FC236}">
                <a16:creationId xmlns:a16="http://schemas.microsoft.com/office/drawing/2014/main" id="{A1DE0065-EB8D-B3F7-D776-46B6D8B09D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B3B07BD2-28E5-1381-56E6-FDBA5B435BA4}"/>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7" name="Θέση ημερομηνίας 6">
            <a:extLst>
              <a:ext uri="{FF2B5EF4-FFF2-40B4-BE49-F238E27FC236}">
                <a16:creationId xmlns:a16="http://schemas.microsoft.com/office/drawing/2014/main" id="{7A1D7FF4-7624-31A5-1C91-857E16CE0E01}"/>
              </a:ext>
            </a:extLst>
          </p:cNvPr>
          <p:cNvSpPr>
            <a:spLocks noGrp="1"/>
          </p:cNvSpPr>
          <p:nvPr>
            <p:ph type="dt" sz="half" idx="10"/>
          </p:nvPr>
        </p:nvSpPr>
        <p:spPr/>
        <p:txBody>
          <a:bodyPr/>
          <a:lstStyle/>
          <a:p>
            <a:fld id="{91DA38BB-A4D8-4872-B24E-5D3AC6E6DC33}" type="datetime1">
              <a:rPr lang="en-US" smtClean="0"/>
              <a:t>11/27/2025</a:t>
            </a:fld>
            <a:endParaRPr lang="en-US"/>
          </a:p>
        </p:txBody>
      </p:sp>
      <p:sp>
        <p:nvSpPr>
          <p:cNvPr id="8" name="Θέση υποσέλιδου 7">
            <a:extLst>
              <a:ext uri="{FF2B5EF4-FFF2-40B4-BE49-F238E27FC236}">
                <a16:creationId xmlns:a16="http://schemas.microsoft.com/office/drawing/2014/main" id="{304A2E9E-E9B6-CD71-8E7A-575739CB5B26}"/>
              </a:ext>
            </a:extLst>
          </p:cNvPr>
          <p:cNvSpPr>
            <a:spLocks noGrp="1"/>
          </p:cNvSpPr>
          <p:nvPr>
            <p:ph type="ftr" sz="quarter" idx="11"/>
          </p:nvPr>
        </p:nvSpPr>
        <p:spPr/>
        <p:txBody>
          <a:bodyPr/>
          <a:lstStyle/>
          <a:p>
            <a:r>
              <a:rPr lang="el-GR"/>
              <a:t>Βασίλειος Κοχλιαρίδης</a:t>
            </a:r>
            <a:endParaRPr lang="en-US"/>
          </a:p>
        </p:txBody>
      </p:sp>
      <p:sp>
        <p:nvSpPr>
          <p:cNvPr id="9" name="Θέση αριθμού διαφάνειας 8">
            <a:extLst>
              <a:ext uri="{FF2B5EF4-FFF2-40B4-BE49-F238E27FC236}">
                <a16:creationId xmlns:a16="http://schemas.microsoft.com/office/drawing/2014/main" id="{8DE27359-0D89-C15A-9B92-9FC2FBE34761}"/>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193100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B25A365-3116-1AE4-20AD-C24E0088E9A1}"/>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ημερομηνίας 2">
            <a:extLst>
              <a:ext uri="{FF2B5EF4-FFF2-40B4-BE49-F238E27FC236}">
                <a16:creationId xmlns:a16="http://schemas.microsoft.com/office/drawing/2014/main" id="{2994D23B-458D-EF75-DA0D-79F7559A1001}"/>
              </a:ext>
            </a:extLst>
          </p:cNvPr>
          <p:cNvSpPr>
            <a:spLocks noGrp="1"/>
          </p:cNvSpPr>
          <p:nvPr>
            <p:ph type="dt" sz="half" idx="10"/>
          </p:nvPr>
        </p:nvSpPr>
        <p:spPr/>
        <p:txBody>
          <a:bodyPr/>
          <a:lstStyle/>
          <a:p>
            <a:fld id="{BB45F4BD-973A-410F-8C3C-0269CFA833D8}" type="datetime1">
              <a:rPr lang="en-US" smtClean="0"/>
              <a:t>11/27/2025</a:t>
            </a:fld>
            <a:endParaRPr lang="en-US"/>
          </a:p>
        </p:txBody>
      </p:sp>
      <p:sp>
        <p:nvSpPr>
          <p:cNvPr id="4" name="Θέση υποσέλιδου 3">
            <a:extLst>
              <a:ext uri="{FF2B5EF4-FFF2-40B4-BE49-F238E27FC236}">
                <a16:creationId xmlns:a16="http://schemas.microsoft.com/office/drawing/2014/main" id="{FCE3F91F-411E-6138-2000-0C1B4A6A7881}"/>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2A25C88F-6C11-0912-3A92-4EF896194A44}"/>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1593925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274D46C-3FB2-E5C2-1A88-A86DF47DAEC4}"/>
              </a:ext>
            </a:extLst>
          </p:cNvPr>
          <p:cNvSpPr>
            <a:spLocks noGrp="1"/>
          </p:cNvSpPr>
          <p:nvPr>
            <p:ph type="dt" sz="half" idx="10"/>
          </p:nvPr>
        </p:nvSpPr>
        <p:spPr/>
        <p:txBody>
          <a:bodyPr/>
          <a:lstStyle/>
          <a:p>
            <a:fld id="{1E2B471D-D131-45DE-A009-59BE12540FC5}" type="datetime1">
              <a:rPr lang="en-US" smtClean="0"/>
              <a:t>11/27/2025</a:t>
            </a:fld>
            <a:endParaRPr lang="en-US"/>
          </a:p>
        </p:txBody>
      </p:sp>
      <p:sp>
        <p:nvSpPr>
          <p:cNvPr id="3" name="Θέση υποσέλιδου 2">
            <a:extLst>
              <a:ext uri="{FF2B5EF4-FFF2-40B4-BE49-F238E27FC236}">
                <a16:creationId xmlns:a16="http://schemas.microsoft.com/office/drawing/2014/main" id="{07EB22A4-CB01-7737-EAC5-469ACE780A62}"/>
              </a:ext>
            </a:extLst>
          </p:cNvPr>
          <p:cNvSpPr>
            <a:spLocks noGrp="1"/>
          </p:cNvSpPr>
          <p:nvPr>
            <p:ph type="ftr" sz="quarter" idx="11"/>
          </p:nvPr>
        </p:nvSpPr>
        <p:spPr/>
        <p:txBody>
          <a:bodyPr/>
          <a:lstStyle/>
          <a:p>
            <a:r>
              <a:rPr lang="el-GR"/>
              <a:t>Βασίλειος Κοχλιαρίδης</a:t>
            </a:r>
            <a:endParaRPr lang="en-US"/>
          </a:p>
        </p:txBody>
      </p:sp>
      <p:sp>
        <p:nvSpPr>
          <p:cNvPr id="4" name="Θέση αριθμού διαφάνειας 3">
            <a:extLst>
              <a:ext uri="{FF2B5EF4-FFF2-40B4-BE49-F238E27FC236}">
                <a16:creationId xmlns:a16="http://schemas.microsoft.com/office/drawing/2014/main" id="{548F6454-9E8B-A0B9-FE09-97AC27133185}"/>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2582479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B8F319A-89EB-5A06-E3E7-4F31DF5DD198}"/>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id="{22F6087A-78D5-D13D-D00B-8ABBF6FF75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κειμένου 3">
            <a:extLst>
              <a:ext uri="{FF2B5EF4-FFF2-40B4-BE49-F238E27FC236}">
                <a16:creationId xmlns:a16="http://schemas.microsoft.com/office/drawing/2014/main" id="{EFCA236A-EF71-4BE2-0068-A7932DE46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B8F22118-6220-4D40-A2B9-5890D2C6CAA9}"/>
              </a:ext>
            </a:extLst>
          </p:cNvPr>
          <p:cNvSpPr>
            <a:spLocks noGrp="1"/>
          </p:cNvSpPr>
          <p:nvPr>
            <p:ph type="dt" sz="half" idx="10"/>
          </p:nvPr>
        </p:nvSpPr>
        <p:spPr/>
        <p:txBody>
          <a:bodyPr/>
          <a:lstStyle/>
          <a:p>
            <a:fld id="{104C3553-CE6B-4599-9928-D38612B86624}" type="datetime1">
              <a:rPr lang="en-US" smtClean="0"/>
              <a:t>11/27/2025</a:t>
            </a:fld>
            <a:endParaRPr lang="en-US"/>
          </a:p>
        </p:txBody>
      </p:sp>
      <p:sp>
        <p:nvSpPr>
          <p:cNvPr id="6" name="Θέση υποσέλιδου 5">
            <a:extLst>
              <a:ext uri="{FF2B5EF4-FFF2-40B4-BE49-F238E27FC236}">
                <a16:creationId xmlns:a16="http://schemas.microsoft.com/office/drawing/2014/main" id="{59E8D599-74CF-87BF-8586-22C44968DB68}"/>
              </a:ext>
            </a:extLst>
          </p:cNvPr>
          <p:cNvSpPr>
            <a:spLocks noGrp="1"/>
          </p:cNvSpPr>
          <p:nvPr>
            <p:ph type="ftr" sz="quarter" idx="11"/>
          </p:nvPr>
        </p:nvSpPr>
        <p:spPr/>
        <p:txBody>
          <a:bodyPr/>
          <a:lstStyle/>
          <a:p>
            <a:r>
              <a:rPr lang="el-GR"/>
              <a:t>Βασίλειος Κοχλιαρίδης</a:t>
            </a:r>
            <a:endParaRPr lang="en-US"/>
          </a:p>
        </p:txBody>
      </p:sp>
      <p:sp>
        <p:nvSpPr>
          <p:cNvPr id="7" name="Θέση αριθμού διαφάνειας 6">
            <a:extLst>
              <a:ext uri="{FF2B5EF4-FFF2-40B4-BE49-F238E27FC236}">
                <a16:creationId xmlns:a16="http://schemas.microsoft.com/office/drawing/2014/main" id="{78D3BB52-2005-14C4-8122-00625EA0C5B7}"/>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3331745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3225D27-9791-3105-6CF9-668B24BBD92D}"/>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εικόνας 2">
            <a:extLst>
              <a:ext uri="{FF2B5EF4-FFF2-40B4-BE49-F238E27FC236}">
                <a16:creationId xmlns:a16="http://schemas.microsoft.com/office/drawing/2014/main" id="{FB710D2D-77E8-9D9F-F582-BEBAF69B01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Θέση κειμένου 3">
            <a:extLst>
              <a:ext uri="{FF2B5EF4-FFF2-40B4-BE49-F238E27FC236}">
                <a16:creationId xmlns:a16="http://schemas.microsoft.com/office/drawing/2014/main" id="{39E8FF25-A3C8-2EC5-165B-526B0903D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9C752309-981B-6AC1-FC07-F8C9580E9C53}"/>
              </a:ext>
            </a:extLst>
          </p:cNvPr>
          <p:cNvSpPr>
            <a:spLocks noGrp="1"/>
          </p:cNvSpPr>
          <p:nvPr>
            <p:ph type="dt" sz="half" idx="10"/>
          </p:nvPr>
        </p:nvSpPr>
        <p:spPr/>
        <p:txBody>
          <a:bodyPr/>
          <a:lstStyle/>
          <a:p>
            <a:fld id="{FCFC8521-FE12-480A-BC4B-DD515FBC730F}" type="datetime1">
              <a:rPr lang="en-US" smtClean="0"/>
              <a:t>11/27/2025</a:t>
            </a:fld>
            <a:endParaRPr lang="en-US"/>
          </a:p>
        </p:txBody>
      </p:sp>
      <p:sp>
        <p:nvSpPr>
          <p:cNvPr id="6" name="Θέση υποσέλιδου 5">
            <a:extLst>
              <a:ext uri="{FF2B5EF4-FFF2-40B4-BE49-F238E27FC236}">
                <a16:creationId xmlns:a16="http://schemas.microsoft.com/office/drawing/2014/main" id="{609E01FB-A5C2-62AA-DF55-231B81CEF9B9}"/>
              </a:ext>
            </a:extLst>
          </p:cNvPr>
          <p:cNvSpPr>
            <a:spLocks noGrp="1"/>
          </p:cNvSpPr>
          <p:nvPr>
            <p:ph type="ftr" sz="quarter" idx="11"/>
          </p:nvPr>
        </p:nvSpPr>
        <p:spPr/>
        <p:txBody>
          <a:bodyPr/>
          <a:lstStyle/>
          <a:p>
            <a:r>
              <a:rPr lang="el-GR"/>
              <a:t>Βασίλειος Κοχλιαρίδης</a:t>
            </a:r>
            <a:endParaRPr lang="en-US"/>
          </a:p>
        </p:txBody>
      </p:sp>
      <p:sp>
        <p:nvSpPr>
          <p:cNvPr id="7" name="Θέση αριθμού διαφάνειας 6">
            <a:extLst>
              <a:ext uri="{FF2B5EF4-FFF2-40B4-BE49-F238E27FC236}">
                <a16:creationId xmlns:a16="http://schemas.microsoft.com/office/drawing/2014/main" id="{6484544D-E8E1-4A5B-17F7-CB11B1C1D064}"/>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4160163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006B2C6-EEEC-C58E-69FA-F4D9739AFAD7}"/>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id="{8CB615D6-C424-9ECA-8BD2-EE399612E2D2}"/>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50FE6F3F-FE13-FB7A-51D8-B5770F490725}"/>
              </a:ext>
            </a:extLst>
          </p:cNvPr>
          <p:cNvSpPr>
            <a:spLocks noGrp="1"/>
          </p:cNvSpPr>
          <p:nvPr>
            <p:ph type="dt" sz="half" idx="10"/>
          </p:nvPr>
        </p:nvSpPr>
        <p:spPr/>
        <p:txBody>
          <a:bodyPr/>
          <a:lstStyle/>
          <a:p>
            <a:fld id="{7E042010-1B2A-440F-AFD4-664A5CC9F1F8}" type="datetime1">
              <a:rPr lang="en-US" smtClean="0"/>
              <a:t>11/27/2025</a:t>
            </a:fld>
            <a:endParaRPr lang="en-US"/>
          </a:p>
        </p:txBody>
      </p:sp>
      <p:sp>
        <p:nvSpPr>
          <p:cNvPr id="5" name="Θέση υποσέλιδου 4">
            <a:extLst>
              <a:ext uri="{FF2B5EF4-FFF2-40B4-BE49-F238E27FC236}">
                <a16:creationId xmlns:a16="http://schemas.microsoft.com/office/drawing/2014/main" id="{21BE53B9-0998-15D4-A075-4E2803BB0E22}"/>
              </a:ext>
            </a:extLst>
          </p:cNvPr>
          <p:cNvSpPr>
            <a:spLocks noGrp="1"/>
          </p:cNvSpPr>
          <p:nvPr>
            <p:ph type="ftr" sz="quarter" idx="11"/>
          </p:nvPr>
        </p:nvSpPr>
        <p:spPr/>
        <p:txBody>
          <a:body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82BDF2C4-019D-FC39-4F9B-09A5D8336A40}"/>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3444551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97A29ED4-6DEF-6149-40E0-7D201F864E13}"/>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id="{A5541CB6-75EF-2782-A141-A6FE8E5E1516}"/>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EF137CBE-93FC-E5E3-31F2-1F1A9FEC96ED}"/>
              </a:ext>
            </a:extLst>
          </p:cNvPr>
          <p:cNvSpPr>
            <a:spLocks noGrp="1"/>
          </p:cNvSpPr>
          <p:nvPr>
            <p:ph type="dt" sz="half" idx="10"/>
          </p:nvPr>
        </p:nvSpPr>
        <p:spPr/>
        <p:txBody>
          <a:bodyPr/>
          <a:lstStyle/>
          <a:p>
            <a:fld id="{0AACC63D-8EAA-47D9-8532-DD60D85DB32C}" type="datetime1">
              <a:rPr lang="en-US" smtClean="0"/>
              <a:t>11/27/2025</a:t>
            </a:fld>
            <a:endParaRPr lang="en-US"/>
          </a:p>
        </p:txBody>
      </p:sp>
      <p:sp>
        <p:nvSpPr>
          <p:cNvPr id="5" name="Θέση υποσέλιδου 4">
            <a:extLst>
              <a:ext uri="{FF2B5EF4-FFF2-40B4-BE49-F238E27FC236}">
                <a16:creationId xmlns:a16="http://schemas.microsoft.com/office/drawing/2014/main" id="{7C17E096-0B6B-1DBC-0F56-F1096F9B4A9E}"/>
              </a:ext>
            </a:extLst>
          </p:cNvPr>
          <p:cNvSpPr>
            <a:spLocks noGrp="1"/>
          </p:cNvSpPr>
          <p:nvPr>
            <p:ph type="ftr" sz="quarter" idx="11"/>
          </p:nvPr>
        </p:nvSpPr>
        <p:spPr/>
        <p:txBody>
          <a:body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328CD2A0-0861-531B-745E-990D44C8BC12}"/>
              </a:ext>
            </a:extLst>
          </p:cNvPr>
          <p:cNvSpPr>
            <a:spLocks noGrp="1"/>
          </p:cNvSpPr>
          <p:nvPr>
            <p:ph type="sldNum" sz="quarter" idx="12"/>
          </p:nvPr>
        </p:nvSpPr>
        <p:spPr/>
        <p:txBody>
          <a:bodyPr/>
          <a:lstStyle/>
          <a:p>
            <a:fld id="{4ACA1919-B5C6-4827-8B15-372F46BB4020}" type="slidenum">
              <a:rPr lang="en-US" smtClean="0"/>
              <a:t>‹#›</a:t>
            </a:fld>
            <a:endParaRPr lang="en-US"/>
          </a:p>
        </p:txBody>
      </p:sp>
    </p:spTree>
    <p:extLst>
      <p:ext uri="{BB962C8B-B14F-4D97-AF65-F5344CB8AC3E}">
        <p14:creationId xmlns:p14="http://schemas.microsoft.com/office/powerpoint/2010/main" val="3269644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F36916FB-0020-AB95-D03C-EC374918C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id="{6860E355-EAA0-65F2-0BAF-DD2CA165B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id="{02B012A8-F0C5-ACC9-FC4F-F4144F37E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B4F95B-A8D5-4244-9736-EEDE6971DA72}" type="datetime1">
              <a:rPr lang="en-US" smtClean="0"/>
              <a:t>11/27/2025</a:t>
            </a:fld>
            <a:endParaRPr lang="en-US"/>
          </a:p>
        </p:txBody>
      </p:sp>
      <p:sp>
        <p:nvSpPr>
          <p:cNvPr id="5" name="Θέση υποσέλιδου 4">
            <a:extLst>
              <a:ext uri="{FF2B5EF4-FFF2-40B4-BE49-F238E27FC236}">
                <a16:creationId xmlns:a16="http://schemas.microsoft.com/office/drawing/2014/main" id="{9A9EF4B0-F0A6-6557-006E-B134CC405C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l-GR"/>
              <a:t>Βασίλειος Κοχλιαρίδης</a:t>
            </a:r>
            <a:endParaRPr lang="en-US"/>
          </a:p>
        </p:txBody>
      </p:sp>
      <p:sp>
        <p:nvSpPr>
          <p:cNvPr id="6" name="Θέση αριθμού διαφάνειας 5">
            <a:extLst>
              <a:ext uri="{FF2B5EF4-FFF2-40B4-BE49-F238E27FC236}">
                <a16:creationId xmlns:a16="http://schemas.microsoft.com/office/drawing/2014/main" id="{C0A72897-7FBD-FD58-B77B-3B037316EC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CA1919-B5C6-4827-8B15-372F46BB4020}" type="slidenum">
              <a:rPr lang="en-US" smtClean="0"/>
              <a:t>‹#›</a:t>
            </a:fld>
            <a:endParaRPr lang="en-US"/>
          </a:p>
        </p:txBody>
      </p:sp>
    </p:spTree>
    <p:extLst>
      <p:ext uri="{BB962C8B-B14F-4D97-AF65-F5344CB8AC3E}">
        <p14:creationId xmlns:p14="http://schemas.microsoft.com/office/powerpoint/2010/main" val="1450113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video" Target="https://www.youtube.com/embed/cOUTpqlX-Xs?feature=oembed"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1.png"/><Relationship Id="rId2" Type="http://schemas.openxmlformats.org/officeDocument/2006/relationships/hyperlink" Target="https://www.geeksforgeeks.org/maths/covariance-matrix/"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video" Target="https://www.youtube.com/embed/FgakZw6K1QQ?feature=oembe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DE5A4C6-24CC-B4BF-FFD4-07EF3EC0FABA}"/>
              </a:ext>
            </a:extLst>
          </p:cNvPr>
          <p:cNvSpPr>
            <a:spLocks noGrp="1"/>
          </p:cNvSpPr>
          <p:nvPr>
            <p:ph type="ctrTitle"/>
          </p:nvPr>
        </p:nvSpPr>
        <p:spPr/>
        <p:txBody>
          <a:bodyPr/>
          <a:lstStyle/>
          <a:p>
            <a:r>
              <a:rPr lang="en-US" dirty="0"/>
              <a:t>Machine Learning</a:t>
            </a:r>
          </a:p>
        </p:txBody>
      </p:sp>
      <p:sp>
        <p:nvSpPr>
          <p:cNvPr id="3" name="Υπότιτλος 2">
            <a:extLst>
              <a:ext uri="{FF2B5EF4-FFF2-40B4-BE49-F238E27FC236}">
                <a16:creationId xmlns:a16="http://schemas.microsoft.com/office/drawing/2014/main" id="{99ED8208-0A9E-336C-19B8-C5445430FF75}"/>
              </a:ext>
            </a:extLst>
          </p:cNvPr>
          <p:cNvSpPr>
            <a:spLocks noGrp="1"/>
          </p:cNvSpPr>
          <p:nvPr>
            <p:ph type="subTitle" idx="1"/>
          </p:nvPr>
        </p:nvSpPr>
        <p:spPr/>
        <p:txBody>
          <a:bodyPr/>
          <a:lstStyle/>
          <a:p>
            <a:r>
              <a:rPr lang="en-US" dirty="0"/>
              <a:t>Data Engineering Notes</a:t>
            </a:r>
          </a:p>
          <a:p>
            <a:endParaRPr lang="en-US" dirty="0"/>
          </a:p>
        </p:txBody>
      </p:sp>
      <p:sp>
        <p:nvSpPr>
          <p:cNvPr id="4" name="Θέση υποσέλιδου 3">
            <a:extLst>
              <a:ext uri="{FF2B5EF4-FFF2-40B4-BE49-F238E27FC236}">
                <a16:creationId xmlns:a16="http://schemas.microsoft.com/office/drawing/2014/main" id="{D79200B8-EB55-E5BC-2B8F-EF918652454F}"/>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66CBEA11-E944-2EC7-870A-E6864FD22BA3}"/>
              </a:ext>
            </a:extLst>
          </p:cNvPr>
          <p:cNvSpPr>
            <a:spLocks noGrp="1"/>
          </p:cNvSpPr>
          <p:nvPr>
            <p:ph type="sldNum" sz="quarter" idx="12"/>
          </p:nvPr>
        </p:nvSpPr>
        <p:spPr/>
        <p:txBody>
          <a:bodyPr/>
          <a:lstStyle/>
          <a:p>
            <a:fld id="{4ACA1919-B5C6-4827-8B15-372F46BB4020}" type="slidenum">
              <a:rPr lang="en-US" smtClean="0"/>
              <a:t>1</a:t>
            </a:fld>
            <a:endParaRPr lang="en-US"/>
          </a:p>
        </p:txBody>
      </p:sp>
    </p:spTree>
    <p:extLst>
      <p:ext uri="{BB962C8B-B14F-4D97-AF65-F5344CB8AC3E}">
        <p14:creationId xmlns:p14="http://schemas.microsoft.com/office/powerpoint/2010/main" val="894967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92236E2-88DA-13AD-BE02-728581F4810B}"/>
              </a:ext>
            </a:extLst>
          </p:cNvPr>
          <p:cNvSpPr>
            <a:spLocks noGrp="1"/>
          </p:cNvSpPr>
          <p:nvPr>
            <p:ph type="title"/>
          </p:nvPr>
        </p:nvSpPr>
        <p:spPr>
          <a:xfrm>
            <a:off x="608076" y="136525"/>
            <a:ext cx="10515600" cy="1115601"/>
          </a:xfrm>
        </p:spPr>
        <p:txBody>
          <a:bodyPr>
            <a:normAutofit/>
          </a:bodyPr>
          <a:lstStyle/>
          <a:p>
            <a:r>
              <a:rPr lang="en-US" sz="4000" dirty="0"/>
              <a:t>Variable Types</a:t>
            </a:r>
          </a:p>
        </p:txBody>
      </p:sp>
      <p:sp>
        <p:nvSpPr>
          <p:cNvPr id="3" name="Θέση περιεχομένου 2">
            <a:extLst>
              <a:ext uri="{FF2B5EF4-FFF2-40B4-BE49-F238E27FC236}">
                <a16:creationId xmlns:a16="http://schemas.microsoft.com/office/drawing/2014/main" id="{FE0A1472-3A6A-4223-6B78-7DC762FA6957}"/>
              </a:ext>
            </a:extLst>
          </p:cNvPr>
          <p:cNvSpPr>
            <a:spLocks noGrp="1"/>
          </p:cNvSpPr>
          <p:nvPr>
            <p:ph idx="1"/>
          </p:nvPr>
        </p:nvSpPr>
        <p:spPr>
          <a:xfrm>
            <a:off x="528067" y="1252126"/>
            <a:ext cx="7853933" cy="5285834"/>
          </a:xfrm>
        </p:spPr>
        <p:txBody>
          <a:bodyPr>
            <a:normAutofit/>
          </a:bodyPr>
          <a:lstStyle/>
          <a:p>
            <a:r>
              <a:rPr lang="en-US" sz="2000" b="1" dirty="0"/>
              <a:t>Quantitative (Numerical) Variables:</a:t>
            </a:r>
          </a:p>
          <a:p>
            <a:pPr lvl="1">
              <a:buFont typeface="Wingdings" panose="05000000000000000000" pitchFamily="2" charset="2"/>
              <a:buChar char="Ø"/>
            </a:pPr>
            <a:r>
              <a:rPr lang="en-US" sz="1600" b="1" dirty="0"/>
              <a:t>Discrete</a:t>
            </a:r>
            <a:r>
              <a:rPr lang="en-US" sz="1600" dirty="0"/>
              <a:t>: usually counts of individual items (e.g., age, number of students, etc.).</a:t>
            </a:r>
          </a:p>
          <a:p>
            <a:pPr lvl="1">
              <a:buFont typeface="Wingdings" panose="05000000000000000000" pitchFamily="2" charset="2"/>
              <a:buChar char="Ø"/>
            </a:pPr>
            <a:r>
              <a:rPr lang="en-US" sz="1600" b="1" dirty="0"/>
              <a:t>Continuous</a:t>
            </a:r>
            <a:r>
              <a:rPr lang="en-US" sz="1600" dirty="0"/>
              <a:t>: any value within a range, which often represent measurements (e.g., weight of a person, temperature, etc.).</a:t>
            </a:r>
          </a:p>
          <a:p>
            <a:r>
              <a:rPr lang="en-US" sz="2000" b="1" dirty="0"/>
              <a:t>Categorical (Qualitative) Variables:</a:t>
            </a:r>
          </a:p>
          <a:p>
            <a:pPr lvl="1">
              <a:buFont typeface="Wingdings" panose="05000000000000000000" pitchFamily="2" charset="2"/>
              <a:buChar char="Ø"/>
            </a:pPr>
            <a:r>
              <a:rPr lang="en-US" sz="1600" b="1" dirty="0"/>
              <a:t>Ordinal</a:t>
            </a:r>
            <a:r>
              <a:rPr lang="en-US" sz="1600" dirty="0"/>
              <a:t>: categories that can be ordered (e.g., size of clothes, size of products, etc.).</a:t>
            </a:r>
            <a:endParaRPr lang="en-US" sz="1600" b="1" dirty="0"/>
          </a:p>
          <a:p>
            <a:pPr lvl="1">
              <a:buFont typeface="Wingdings" panose="05000000000000000000" pitchFamily="2" charset="2"/>
              <a:buChar char="Ø"/>
            </a:pPr>
            <a:r>
              <a:rPr lang="en-US" sz="1600" b="1" dirty="0"/>
              <a:t>Nominal</a:t>
            </a:r>
            <a:r>
              <a:rPr lang="en-US" sz="1600" dirty="0"/>
              <a:t>: two or more categories with no specified order (e.g., product types, type of weather, etc.,)</a:t>
            </a:r>
          </a:p>
          <a:p>
            <a:r>
              <a:rPr lang="en-US" sz="2000" dirty="0"/>
              <a:t>Each variable can furthered be categorized as:</a:t>
            </a:r>
          </a:p>
          <a:p>
            <a:pPr lvl="1">
              <a:buFont typeface="Wingdings" panose="05000000000000000000" pitchFamily="2" charset="2"/>
              <a:buChar char="Ø"/>
            </a:pPr>
            <a:r>
              <a:rPr lang="en-US" sz="1600" b="1" dirty="0"/>
              <a:t>Independent (Inputs)</a:t>
            </a:r>
            <a:r>
              <a:rPr lang="en-US" sz="1600" dirty="0"/>
              <a:t>: a variable that is observed within an experiment/environment.</a:t>
            </a:r>
          </a:p>
          <a:p>
            <a:pPr lvl="1">
              <a:buFont typeface="Wingdings" panose="05000000000000000000" pitchFamily="2" charset="2"/>
              <a:buChar char="Ø"/>
            </a:pPr>
            <a:r>
              <a:rPr lang="en-US" sz="1600" b="1" dirty="0"/>
              <a:t>Dependent (Targets)</a:t>
            </a:r>
            <a:r>
              <a:rPr lang="en-US" sz="1600" dirty="0"/>
              <a:t>: a variable that depends on one or multiple independent variables.</a:t>
            </a:r>
          </a:p>
          <a:p>
            <a:pPr lvl="1">
              <a:buFont typeface="Wingdings" panose="05000000000000000000" pitchFamily="2" charset="2"/>
              <a:buChar char="Ø"/>
            </a:pPr>
            <a:r>
              <a:rPr lang="en-US" sz="1600" dirty="0"/>
              <a:t>For example: the temperature</a:t>
            </a:r>
            <a:r>
              <a:rPr lang="en-US" sz="1600" b="1" dirty="0"/>
              <a:t> (dependent) </a:t>
            </a:r>
            <a:r>
              <a:rPr lang="en-US" sz="1600" dirty="0"/>
              <a:t>can be predicted by measuring altitude, latitude, continentality, air mass circulation, vegetation density, or other geographical factors (</a:t>
            </a:r>
            <a:r>
              <a:rPr lang="en-US" sz="1600" b="1" dirty="0"/>
              <a:t>independent</a:t>
            </a:r>
            <a:r>
              <a:rPr lang="en-US" sz="1600" dirty="0"/>
              <a:t>).</a:t>
            </a:r>
          </a:p>
          <a:p>
            <a:endParaRPr lang="en-US" sz="2000" dirty="0"/>
          </a:p>
        </p:txBody>
      </p:sp>
      <p:sp>
        <p:nvSpPr>
          <p:cNvPr id="4" name="Θέση υποσέλιδου 3">
            <a:extLst>
              <a:ext uri="{FF2B5EF4-FFF2-40B4-BE49-F238E27FC236}">
                <a16:creationId xmlns:a16="http://schemas.microsoft.com/office/drawing/2014/main" id="{22508C64-16AD-8BA0-EE7E-5BDACBAF5C94}"/>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0C673191-773B-EBDD-94AF-02727F692C69}"/>
              </a:ext>
            </a:extLst>
          </p:cNvPr>
          <p:cNvSpPr>
            <a:spLocks noGrp="1"/>
          </p:cNvSpPr>
          <p:nvPr>
            <p:ph type="sldNum" sz="quarter" idx="12"/>
          </p:nvPr>
        </p:nvSpPr>
        <p:spPr/>
        <p:txBody>
          <a:bodyPr/>
          <a:lstStyle/>
          <a:p>
            <a:fld id="{4ACA1919-B5C6-4827-8B15-372F46BB4020}" type="slidenum">
              <a:rPr lang="en-US" smtClean="0"/>
              <a:t>2</a:t>
            </a:fld>
            <a:endParaRPr lang="en-US"/>
          </a:p>
        </p:txBody>
      </p:sp>
      <p:pic>
        <p:nvPicPr>
          <p:cNvPr id="2052" name="Picture 4" descr="Variable and its types: continuous, descrete, ordinal, nominal">
            <a:extLst>
              <a:ext uri="{FF2B5EF4-FFF2-40B4-BE49-F238E27FC236}">
                <a16:creationId xmlns:a16="http://schemas.microsoft.com/office/drawing/2014/main" id="{8AE1B66D-8485-1726-154D-7C5801F24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6919" y="2714625"/>
            <a:ext cx="3930853" cy="223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156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8FDEA7C-EE96-713C-D866-F3DBF1C8217C}"/>
              </a:ext>
            </a:extLst>
          </p:cNvPr>
          <p:cNvSpPr>
            <a:spLocks noGrp="1"/>
          </p:cNvSpPr>
          <p:nvPr>
            <p:ph type="title"/>
          </p:nvPr>
        </p:nvSpPr>
        <p:spPr>
          <a:xfrm>
            <a:off x="838200" y="22098"/>
            <a:ext cx="10515600" cy="1325563"/>
          </a:xfrm>
        </p:spPr>
        <p:txBody>
          <a:bodyPr/>
          <a:lstStyle/>
          <a:p>
            <a:r>
              <a:rPr lang="en-US" dirty="0"/>
              <a:t>Categorical Variables Encoding</a:t>
            </a:r>
          </a:p>
        </p:txBody>
      </p:sp>
      <p:sp>
        <p:nvSpPr>
          <p:cNvPr id="3" name="Θέση περιεχομένου 2">
            <a:extLst>
              <a:ext uri="{FF2B5EF4-FFF2-40B4-BE49-F238E27FC236}">
                <a16:creationId xmlns:a16="http://schemas.microsoft.com/office/drawing/2014/main" id="{D3C9FB70-C919-1160-537B-FCBD81DF2380}"/>
              </a:ext>
            </a:extLst>
          </p:cNvPr>
          <p:cNvSpPr>
            <a:spLocks noGrp="1"/>
          </p:cNvSpPr>
          <p:nvPr>
            <p:ph idx="1"/>
          </p:nvPr>
        </p:nvSpPr>
        <p:spPr>
          <a:xfrm>
            <a:off x="838200" y="1347662"/>
            <a:ext cx="10515600" cy="4829302"/>
          </a:xfrm>
        </p:spPr>
        <p:txBody>
          <a:bodyPr>
            <a:normAutofit/>
          </a:bodyPr>
          <a:lstStyle/>
          <a:p>
            <a:r>
              <a:rPr lang="en-US" sz="2000" dirty="0"/>
              <a:t>Statistical and Tree-based algorithms can easily work with categorical variables.</a:t>
            </a:r>
          </a:p>
          <a:p>
            <a:r>
              <a:rPr lang="en-US" sz="2000" dirty="0"/>
              <a:t>However,  algorithms such as KNN, Linear/Logistic regression, SVMs and NNs work only with numeric values.</a:t>
            </a:r>
          </a:p>
          <a:p>
            <a:pPr lvl="1">
              <a:buFont typeface="Wingdings" panose="05000000000000000000" pitchFamily="2" charset="2"/>
              <a:buChar char="Ø"/>
            </a:pPr>
            <a:r>
              <a:rPr lang="en-US" sz="1600" dirty="0"/>
              <a:t>The categorical values must be encoded (converted) into numerical ones.</a:t>
            </a:r>
          </a:p>
          <a:p>
            <a:r>
              <a:rPr lang="en-US" sz="2000" dirty="0"/>
              <a:t>Popular Encoding Methods: </a:t>
            </a:r>
          </a:p>
          <a:p>
            <a:pPr lvl="1">
              <a:buFont typeface="Wingdings" panose="05000000000000000000" pitchFamily="2" charset="2"/>
              <a:buChar char="Ø"/>
            </a:pPr>
            <a:r>
              <a:rPr lang="en-US" sz="1600" dirty="0"/>
              <a:t>Ordinal Encoding</a:t>
            </a:r>
          </a:p>
          <a:p>
            <a:pPr lvl="1">
              <a:buFont typeface="Wingdings" panose="05000000000000000000" pitchFamily="2" charset="2"/>
              <a:buChar char="Ø"/>
            </a:pPr>
            <a:r>
              <a:rPr lang="en-US" sz="1600" dirty="0"/>
              <a:t>One-Hot Encoding</a:t>
            </a:r>
          </a:p>
          <a:p>
            <a:pPr lvl="1">
              <a:buFont typeface="Wingdings" panose="05000000000000000000" pitchFamily="2" charset="2"/>
              <a:buChar char="Ø"/>
            </a:pPr>
            <a:r>
              <a:rPr lang="en-US" sz="1600" dirty="0"/>
              <a:t>Frequency Encoding</a:t>
            </a:r>
          </a:p>
          <a:p>
            <a:pPr lvl="1">
              <a:buFont typeface="Wingdings" panose="05000000000000000000" pitchFamily="2" charset="2"/>
              <a:buChar char="Ø"/>
            </a:pPr>
            <a:r>
              <a:rPr lang="en-US" sz="1600" dirty="0"/>
              <a:t>Target Encoding</a:t>
            </a:r>
          </a:p>
        </p:txBody>
      </p:sp>
      <p:sp>
        <p:nvSpPr>
          <p:cNvPr id="4" name="Θέση υποσέλιδου 3">
            <a:extLst>
              <a:ext uri="{FF2B5EF4-FFF2-40B4-BE49-F238E27FC236}">
                <a16:creationId xmlns:a16="http://schemas.microsoft.com/office/drawing/2014/main" id="{DA25441E-6E21-4B76-1ECC-5CD35A93B3D1}"/>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5EED95F6-0B56-60D0-73D8-A0F7E89C4C8A}"/>
              </a:ext>
            </a:extLst>
          </p:cNvPr>
          <p:cNvSpPr>
            <a:spLocks noGrp="1"/>
          </p:cNvSpPr>
          <p:nvPr>
            <p:ph type="sldNum" sz="quarter" idx="12"/>
          </p:nvPr>
        </p:nvSpPr>
        <p:spPr/>
        <p:txBody>
          <a:bodyPr/>
          <a:lstStyle/>
          <a:p>
            <a:fld id="{4ACA1919-B5C6-4827-8B15-372F46BB4020}" type="slidenum">
              <a:rPr lang="en-US" smtClean="0"/>
              <a:t>3</a:t>
            </a:fld>
            <a:endParaRPr lang="en-US"/>
          </a:p>
        </p:txBody>
      </p:sp>
    </p:spTree>
    <p:extLst>
      <p:ext uri="{BB962C8B-B14F-4D97-AF65-F5344CB8AC3E}">
        <p14:creationId xmlns:p14="http://schemas.microsoft.com/office/powerpoint/2010/main" val="207598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10443E7-AD6D-CBC5-619E-06C794C37049}"/>
              </a:ext>
            </a:extLst>
          </p:cNvPr>
          <p:cNvSpPr>
            <a:spLocks noGrp="1"/>
          </p:cNvSpPr>
          <p:nvPr>
            <p:ph type="title"/>
          </p:nvPr>
        </p:nvSpPr>
        <p:spPr>
          <a:xfrm>
            <a:off x="838200" y="136525"/>
            <a:ext cx="10515600" cy="1325563"/>
          </a:xfrm>
        </p:spPr>
        <p:txBody>
          <a:bodyPr/>
          <a:lstStyle/>
          <a:p>
            <a:r>
              <a:rPr lang="en-US" dirty="0"/>
              <a:t>Ordinal Encoding</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FCE6DF55-1926-B396-C0EA-BB44385245E9}"/>
                  </a:ext>
                </a:extLst>
              </p:cNvPr>
              <p:cNvSpPr>
                <a:spLocks noGrp="1"/>
              </p:cNvSpPr>
              <p:nvPr>
                <p:ph idx="1"/>
              </p:nvPr>
            </p:nvSpPr>
            <p:spPr>
              <a:xfrm>
                <a:off x="838200" y="1618488"/>
                <a:ext cx="10515600" cy="4828032"/>
              </a:xfrm>
            </p:spPr>
            <p:txBody>
              <a:bodyPr>
                <a:normAutofit/>
              </a:bodyPr>
              <a:lstStyle/>
              <a:p>
                <a:r>
                  <a:rPr lang="en-US" sz="2000" dirty="0"/>
                  <a:t>Assigns a unique number to each unique category (e.g., 0,1,2,3…).</a:t>
                </a:r>
              </a:p>
              <a:p>
                <a:r>
                  <a:rPr lang="en-US" sz="2000" dirty="0"/>
                  <a:t>It is effective for ordinal categories.</a:t>
                </a:r>
              </a:p>
              <a:p>
                <a:r>
                  <a:rPr lang="en-US" sz="2000" b="1" dirty="0"/>
                  <a:t>Good Example</a:t>
                </a:r>
                <a:r>
                  <a:rPr lang="en-US" sz="2000" dirty="0"/>
                  <a:t>: variable </a:t>
                </a:r>
                <a14:m>
                  <m:oMath xmlns:m="http://schemas.openxmlformats.org/officeDocument/2006/math">
                    <m:r>
                      <a:rPr lang="en-US" sz="2000" b="0" i="1" smtClean="0">
                        <a:latin typeface="Cambria Math" panose="02040503050406030204" pitchFamily="18" charset="0"/>
                      </a:rPr>
                      <m:t>𝑥</m:t>
                    </m:r>
                    <m:r>
                      <a:rPr lang="en-US" sz="2000" dirty="0">
                        <a:latin typeface="Cambria Math" panose="02040503050406030204" pitchFamily="18" charset="0"/>
                        <a:ea typeface="Cambria Math" panose="02040503050406030204" pitchFamily="18" charset="0"/>
                      </a:rPr>
                      <m:t>∈</m:t>
                    </m:r>
                    <m:r>
                      <a:rPr lang="en-US" sz="2000" b="0" i="0" dirty="0" smtClean="0">
                        <a:latin typeface="Cambria Math" panose="02040503050406030204" pitchFamily="18" charset="0"/>
                        <a:ea typeface="Cambria Math" panose="02040503050406030204" pitchFamily="18" charset="0"/>
                      </a:rPr>
                      <m:t>{</m:t>
                    </m:r>
                    <m:r>
                      <m:rPr>
                        <m:sty m:val="p"/>
                      </m:rPr>
                      <a:rPr lang="en-US" sz="2000" b="0" i="0" dirty="0" smtClean="0">
                        <a:latin typeface="Cambria Math" panose="02040503050406030204" pitchFamily="18" charset="0"/>
                        <a:ea typeface="Cambria Math" panose="02040503050406030204" pitchFamily="18" charset="0"/>
                      </a:rPr>
                      <m:t>Small</m:t>
                    </m:r>
                    <m:r>
                      <a:rPr lang="en-US" sz="2000" b="0" i="0" dirty="0" smtClean="0">
                        <a:latin typeface="Cambria Math" panose="02040503050406030204" pitchFamily="18" charset="0"/>
                        <a:ea typeface="Cambria Math" panose="02040503050406030204" pitchFamily="18" charset="0"/>
                      </a:rPr>
                      <m:t>, </m:t>
                    </m:r>
                    <m:r>
                      <m:rPr>
                        <m:sty m:val="p"/>
                      </m:rPr>
                      <a:rPr lang="en-US" sz="2000" b="0" i="0" dirty="0" smtClean="0">
                        <a:latin typeface="Cambria Math" panose="02040503050406030204" pitchFamily="18" charset="0"/>
                        <a:ea typeface="Cambria Math" panose="02040503050406030204" pitchFamily="18" charset="0"/>
                      </a:rPr>
                      <m:t>Medium</m:t>
                    </m:r>
                    <m:r>
                      <a:rPr lang="en-US" sz="2000" b="0" i="0" dirty="0" smtClean="0">
                        <a:latin typeface="Cambria Math" panose="02040503050406030204" pitchFamily="18" charset="0"/>
                        <a:ea typeface="Cambria Math" panose="02040503050406030204" pitchFamily="18" charset="0"/>
                      </a:rPr>
                      <m:t>, </m:t>
                    </m:r>
                    <m:r>
                      <m:rPr>
                        <m:sty m:val="p"/>
                      </m:rPr>
                      <a:rPr lang="en-US" sz="2000" b="0" i="0" dirty="0" smtClean="0">
                        <a:latin typeface="Cambria Math" panose="02040503050406030204" pitchFamily="18" charset="0"/>
                        <a:ea typeface="Cambria Math" panose="02040503050406030204" pitchFamily="18" charset="0"/>
                      </a:rPr>
                      <m:t>Large</m:t>
                    </m:r>
                    <m:r>
                      <a:rPr lang="en-US" sz="2000" b="0" i="0" dirty="0" smtClean="0">
                        <a:latin typeface="Cambria Math" panose="02040503050406030204" pitchFamily="18" charset="0"/>
                        <a:ea typeface="Cambria Math" panose="02040503050406030204" pitchFamily="18" charset="0"/>
                      </a:rPr>
                      <m:t>}</m:t>
                    </m:r>
                  </m:oMath>
                </a14:m>
                <a:r>
                  <a:rPr lang="en-US" sz="2000" dirty="0"/>
                  <a:t> can be encoded as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𝑆𝑚𝑎𝑙𝑙</m:t>
                    </m:r>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𝑀𝑒𝑑𝑖𝑢𝑚</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𝐿𝑎𝑟𝑔𝑒</m:t>
                    </m:r>
                    <m:r>
                      <a:rPr lang="en-US" sz="2000" b="0" i="1" smtClean="0">
                        <a:latin typeface="Cambria Math" panose="02040503050406030204" pitchFamily="18" charset="0"/>
                        <a:ea typeface="Cambria Math" panose="02040503050406030204" pitchFamily="18" charset="0"/>
                      </a:rPr>
                      <m:t>}</m:t>
                    </m:r>
                  </m:oMath>
                </a14:m>
                <a:r>
                  <a:rPr lang="en-US" sz="2000" dirty="0"/>
                  <a:t>, because:</a:t>
                </a:r>
              </a:p>
              <a:p>
                <a:pPr lvl="1">
                  <a:buFont typeface="Wingdings" panose="05000000000000000000" pitchFamily="2" charset="2"/>
                  <a:buChar char="Ø"/>
                </a:pPr>
                <a:r>
                  <a:rPr lang="en-US" sz="1600" dirty="0"/>
                  <a:t>Medium is larger than small (1&gt;0).</a:t>
                </a:r>
              </a:p>
              <a:p>
                <a:pPr lvl="1">
                  <a:buFont typeface="Wingdings" panose="05000000000000000000" pitchFamily="2" charset="2"/>
                  <a:buChar char="Ø"/>
                </a:pPr>
                <a:r>
                  <a:rPr lang="en-US" sz="1600" dirty="0"/>
                  <a:t>Large is larger than medium (2&gt;1).</a:t>
                </a:r>
              </a:p>
              <a:p>
                <a:pPr lvl="1">
                  <a:buFont typeface="Wingdings" panose="05000000000000000000" pitchFamily="2" charset="2"/>
                  <a:buChar char="Ø"/>
                </a:pPr>
                <a:r>
                  <a:rPr lang="en-US" sz="1600" dirty="0"/>
                  <a:t>Large is way larger than small (2&gt;0).</a:t>
                </a:r>
              </a:p>
              <a:p>
                <a:r>
                  <a:rPr lang="en-US" sz="2000" b="1" dirty="0"/>
                  <a:t>Bad Example</a:t>
                </a:r>
                <a:r>
                  <a:rPr lang="en-US" sz="2000" dirty="0"/>
                  <a:t>: variable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𝐵𝑙𝑢𝑒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𝑅𝑒𝑑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𝐺𝑟𝑒𝑒𝑛</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𝑌𝑒𝑙𝑙𝑜𝑤</m:t>
                    </m:r>
                    <m:r>
                      <a:rPr lang="en-US" sz="2000" b="0" i="1" smtClean="0">
                        <a:latin typeface="Cambria Math" panose="02040503050406030204" pitchFamily="18" charset="0"/>
                        <a:ea typeface="Cambria Math" panose="02040503050406030204" pitchFamily="18" charset="0"/>
                      </a:rPr>
                      <m:t>}</m:t>
                    </m:r>
                  </m:oMath>
                </a14:m>
                <a:r>
                  <a:rPr lang="en-US" sz="2000" dirty="0"/>
                  <a:t> cannot be encoded as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𝐵𝑙𝑢𝑒</m:t>
                    </m:r>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𝑅𝑒𝑑</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𝐺𝑟𝑒𝑒𝑛</m:t>
                    </m:r>
                    <m:r>
                      <a:rPr lang="en-US" sz="2000" b="0" i="1" smtClean="0">
                        <a:latin typeface="Cambria Math" panose="02040503050406030204" pitchFamily="18" charset="0"/>
                        <a:ea typeface="Cambria Math" panose="02040503050406030204" pitchFamily="18" charset="0"/>
                      </a:rPr>
                      <m:t>,3:</m:t>
                    </m:r>
                    <m:r>
                      <a:rPr lang="en-US" sz="2000" b="0" i="1" smtClean="0">
                        <a:latin typeface="Cambria Math" panose="02040503050406030204" pitchFamily="18" charset="0"/>
                        <a:ea typeface="Cambria Math" panose="02040503050406030204" pitchFamily="18" charset="0"/>
                      </a:rPr>
                      <m:t>𝑌𝑒𝑙𝑙𝑜𝑤</m:t>
                    </m:r>
                    <m:r>
                      <a:rPr lang="en-US" sz="2000" b="0" i="1" smtClean="0">
                        <a:latin typeface="Cambria Math" panose="02040503050406030204" pitchFamily="18" charset="0"/>
                        <a:ea typeface="Cambria Math" panose="02040503050406030204" pitchFamily="18" charset="0"/>
                      </a:rPr>
                      <m:t>}</m:t>
                    </m:r>
                  </m:oMath>
                </a14:m>
                <a:r>
                  <a:rPr lang="en-US" sz="2000" dirty="0"/>
                  <a:t>, as now the algorithm can assume that the distance between green and blue is larger (2 from 0) than green and yellow (2 from 3). </a:t>
                </a:r>
              </a:p>
              <a:p>
                <a:r>
                  <a:rPr lang="en-US" sz="2000" dirty="0"/>
                  <a:t>For instance, consider KNN and a color variable. </a:t>
                </a:r>
              </a:p>
              <a:p>
                <a:pPr lvl="1">
                  <a:buFont typeface="Wingdings" panose="05000000000000000000" pitchFamily="2" charset="2"/>
                  <a:buChar char="Ø"/>
                </a:pPr>
                <a:r>
                  <a:rPr lang="en-US" sz="1600" dirty="0"/>
                  <a:t>Obviously, 2 instances are similar if they have the same color.</a:t>
                </a:r>
              </a:p>
              <a:p>
                <a:pPr lvl="1">
                  <a:buFont typeface="Wingdings" panose="05000000000000000000" pitchFamily="2" charset="2"/>
                  <a:buChar char="Ø"/>
                </a:pPr>
                <a:r>
                  <a:rPr lang="en-US" sz="1600" dirty="0"/>
                  <a:t>However, KNN will be affected by neighbors whose color is “closer” to the unknown instance’s color, which is a wrong assumption.</a:t>
                </a:r>
              </a:p>
            </p:txBody>
          </p:sp>
        </mc:Choice>
        <mc:Fallback xmlns="">
          <p:sp>
            <p:nvSpPr>
              <p:cNvPr id="3" name="Θέση περιεχομένου 2">
                <a:extLst>
                  <a:ext uri="{FF2B5EF4-FFF2-40B4-BE49-F238E27FC236}">
                    <a16:creationId xmlns:a16="http://schemas.microsoft.com/office/drawing/2014/main" id="{FCE6DF55-1926-B396-C0EA-BB44385245E9}"/>
                  </a:ext>
                </a:extLst>
              </p:cNvPr>
              <p:cNvSpPr>
                <a:spLocks noGrp="1" noRot="1" noChangeAspect="1" noMove="1" noResize="1" noEditPoints="1" noAdjustHandles="1" noChangeArrowheads="1" noChangeShapeType="1" noTextEdit="1"/>
              </p:cNvSpPr>
              <p:nvPr>
                <p:ph idx="1"/>
              </p:nvPr>
            </p:nvSpPr>
            <p:spPr>
              <a:xfrm>
                <a:off x="838200" y="1618488"/>
                <a:ext cx="10515600" cy="4828032"/>
              </a:xfrm>
              <a:blipFill>
                <a:blip r:embed="rId2"/>
                <a:stretch>
                  <a:fillRect l="-522" t="-1263" r="-348"/>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865FFCEC-F48F-41AB-373C-B00F9E44E665}"/>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E735C18E-E9BC-1D81-C4CF-EF0BFF3DB414}"/>
              </a:ext>
            </a:extLst>
          </p:cNvPr>
          <p:cNvSpPr>
            <a:spLocks noGrp="1"/>
          </p:cNvSpPr>
          <p:nvPr>
            <p:ph type="sldNum" sz="quarter" idx="12"/>
          </p:nvPr>
        </p:nvSpPr>
        <p:spPr/>
        <p:txBody>
          <a:bodyPr/>
          <a:lstStyle/>
          <a:p>
            <a:fld id="{4ACA1919-B5C6-4827-8B15-372F46BB4020}" type="slidenum">
              <a:rPr lang="en-US" smtClean="0"/>
              <a:t>4</a:t>
            </a:fld>
            <a:endParaRPr lang="en-US"/>
          </a:p>
        </p:txBody>
      </p:sp>
    </p:spTree>
    <p:extLst>
      <p:ext uri="{BB962C8B-B14F-4D97-AF65-F5344CB8AC3E}">
        <p14:creationId xmlns:p14="http://schemas.microsoft.com/office/powerpoint/2010/main" val="170806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803DECE-8E4F-A60D-DD82-90150AF3C258}"/>
              </a:ext>
            </a:extLst>
          </p:cNvPr>
          <p:cNvSpPr>
            <a:spLocks noGrp="1"/>
          </p:cNvSpPr>
          <p:nvPr>
            <p:ph type="title"/>
          </p:nvPr>
        </p:nvSpPr>
        <p:spPr>
          <a:xfrm>
            <a:off x="838200" y="136525"/>
            <a:ext cx="10515600" cy="1325563"/>
          </a:xfrm>
        </p:spPr>
        <p:txBody>
          <a:bodyPr/>
          <a:lstStyle/>
          <a:p>
            <a:r>
              <a:rPr lang="en-US" dirty="0"/>
              <a:t>One-Hot Encoding</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6C492C5A-EA2F-3CD9-6251-468D1CAA2984}"/>
                  </a:ext>
                </a:extLst>
              </p:cNvPr>
              <p:cNvSpPr>
                <a:spLocks noGrp="1"/>
              </p:cNvSpPr>
              <p:nvPr>
                <p:ph idx="1"/>
              </p:nvPr>
            </p:nvSpPr>
            <p:spPr>
              <a:xfrm>
                <a:off x="838200" y="1554480"/>
                <a:ext cx="10515600" cy="4622483"/>
              </a:xfrm>
            </p:spPr>
            <p:txBody>
              <a:bodyPr>
                <a:normAutofit/>
              </a:bodyPr>
              <a:lstStyle/>
              <a:p>
                <a:r>
                  <a:rPr lang="en-US" sz="2000" dirty="0"/>
                  <a:t>Given categorical variable with </a:t>
                </a:r>
                <a14:m>
                  <m:oMath xmlns:m="http://schemas.openxmlformats.org/officeDocument/2006/math">
                    <m:r>
                      <a:rPr lang="en-US" sz="2000" b="0" i="1" smtClean="0">
                        <a:latin typeface="Cambria Math" panose="02040503050406030204" pitchFamily="18" charset="0"/>
                      </a:rPr>
                      <m:t>𝑁</m:t>
                    </m:r>
                  </m:oMath>
                </a14:m>
                <a:r>
                  <a:rPr lang="en-US" sz="2000" dirty="0"/>
                  <a:t> unique categories, it encodes each category as a binary vector (one-hot vector) of size </a:t>
                </a:r>
                <a14:m>
                  <m:oMath xmlns:m="http://schemas.openxmlformats.org/officeDocument/2006/math">
                    <m:r>
                      <a:rPr lang="en-US" sz="2000" b="0" i="1" smtClean="0">
                        <a:latin typeface="Cambria Math" panose="02040503050406030204" pitchFamily="18" charset="0"/>
                      </a:rPr>
                      <m:t>𝑁</m:t>
                    </m:r>
                  </m:oMath>
                </a14:m>
                <a:r>
                  <a:rPr lang="en-US" sz="2000" dirty="0"/>
                  <a:t>.</a:t>
                </a:r>
              </a:p>
              <a:p>
                <a:r>
                  <a:rPr lang="en-US" sz="2000" dirty="0"/>
                  <a:t>Each position of the vector represents a category and equals to 0 or 1, where:</a:t>
                </a:r>
              </a:p>
              <a:p>
                <a:pPr lvl="1">
                  <a:buFont typeface="Wingdings" panose="05000000000000000000" pitchFamily="2" charset="2"/>
                  <a:buChar char="Ø"/>
                </a:pPr>
                <a:r>
                  <a:rPr lang="en-US" sz="1600" dirty="0"/>
                  <a:t>0 indicates absence of the category.</a:t>
                </a:r>
              </a:p>
              <a:p>
                <a:pPr lvl="1">
                  <a:buFont typeface="Wingdings" panose="05000000000000000000" pitchFamily="2" charset="2"/>
                  <a:buChar char="Ø"/>
                </a:pPr>
                <a:r>
                  <a:rPr lang="en-US" sz="1600" dirty="0"/>
                  <a:t>1 indicates presence of that category.</a:t>
                </a:r>
              </a:p>
              <a:p>
                <a:r>
                  <a:rPr lang="en-US" sz="2000" dirty="0"/>
                  <a:t>For example, a variable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𝐵𝑙𝑢𝑒</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𝑅𝑒𝑑</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𝐺𝑟𝑒𝑒𝑛</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𝑌𝑒𝑙𝑙𝑜𝑤</m:t>
                    </m:r>
                    <m:r>
                      <a:rPr lang="en-US" sz="2000" i="1">
                        <a:latin typeface="Cambria Math" panose="02040503050406030204" pitchFamily="18" charset="0"/>
                        <a:ea typeface="Cambria Math" panose="02040503050406030204" pitchFamily="18" charset="0"/>
                      </a:rPr>
                      <m:t>}</m:t>
                    </m:r>
                  </m:oMath>
                </a14:m>
                <a:r>
                  <a:rPr lang="en-US" sz="2000" dirty="0"/>
                  <a:t> can be encoded as: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𝐵𝑙𝑢𝑒</m:t>
                    </m:r>
                    <m:r>
                      <a:rPr lang="en-US" sz="2000" b="0" i="1" smtClean="0">
                        <a:latin typeface="Cambria Math" panose="02040503050406030204" pitchFamily="18" charset="0"/>
                      </a:rPr>
                      <m:t>:0001, </m:t>
                    </m:r>
                    <m:r>
                      <a:rPr lang="en-US" sz="2000" b="0" i="1" smtClean="0">
                        <a:latin typeface="Cambria Math" panose="02040503050406030204" pitchFamily="18" charset="0"/>
                      </a:rPr>
                      <m:t>𝑅𝑒𝑑</m:t>
                    </m:r>
                    <m:r>
                      <a:rPr lang="en-US" sz="2000" b="0" i="1" smtClean="0">
                        <a:latin typeface="Cambria Math" panose="02040503050406030204" pitchFamily="18" charset="0"/>
                      </a:rPr>
                      <m:t>:0010, </m:t>
                    </m:r>
                    <m:r>
                      <a:rPr lang="en-US" sz="2000" b="0" i="1" smtClean="0">
                        <a:latin typeface="Cambria Math" panose="02040503050406030204" pitchFamily="18" charset="0"/>
                      </a:rPr>
                      <m:t>𝐺𝑟𝑒𝑒𝑛</m:t>
                    </m:r>
                    <m:r>
                      <a:rPr lang="en-US" sz="2000" b="0" i="1" smtClean="0">
                        <a:latin typeface="Cambria Math" panose="02040503050406030204" pitchFamily="18" charset="0"/>
                      </a:rPr>
                      <m:t>:0100, </m:t>
                    </m:r>
                    <m:r>
                      <a:rPr lang="en-US" sz="2000" b="0" i="1" smtClean="0">
                        <a:latin typeface="Cambria Math" panose="02040503050406030204" pitchFamily="18" charset="0"/>
                      </a:rPr>
                      <m:t>𝑌𝑒𝑙𝑙𝑜𝑤</m:t>
                    </m:r>
                    <m:r>
                      <a:rPr lang="en-US" sz="2000" b="0" i="1" smtClean="0">
                        <a:latin typeface="Cambria Math" panose="02040503050406030204" pitchFamily="18" charset="0"/>
                      </a:rPr>
                      <m:t>:1000}</m:t>
                    </m:r>
                  </m:oMath>
                </a14:m>
                <a:r>
                  <a:rPr lang="en-US" sz="2000" dirty="0"/>
                  <a:t>.</a:t>
                </a:r>
              </a:p>
              <a:p>
                <a:pPr lvl="1">
                  <a:buFont typeface="Wingdings" panose="05000000000000000000" pitchFamily="2" charset="2"/>
                  <a:buChar char="Ø"/>
                </a:pPr>
                <a:r>
                  <a:rPr lang="en-US" sz="1600" dirty="0"/>
                  <a:t>An alternative method, named Dummy encoding, encodes </a:t>
                </a:r>
                <a14:m>
                  <m:oMath xmlns:m="http://schemas.openxmlformats.org/officeDocument/2006/math">
                    <m:r>
                      <a:rPr lang="en-US" sz="1600" b="0" i="1" smtClean="0">
                        <a:latin typeface="Cambria Math" panose="02040503050406030204" pitchFamily="18" charset="0"/>
                      </a:rPr>
                      <m:t>𝑥</m:t>
                    </m:r>
                  </m:oMath>
                </a14:m>
                <a:r>
                  <a:rPr lang="en-US" sz="1600" dirty="0"/>
                  <a:t> as </a:t>
                </a:r>
                <a14:m>
                  <m:oMath xmlns:m="http://schemas.openxmlformats.org/officeDocument/2006/math">
                    <m:r>
                      <a:rPr lang="en-US" sz="1600" b="0" i="1" smtClean="0">
                        <a:latin typeface="Cambria Math" panose="02040503050406030204" pitchFamily="18" charset="0"/>
                      </a:rPr>
                      <m:t>𝑁</m:t>
                    </m:r>
                    <m:r>
                      <a:rPr lang="en-US" sz="1600" b="0" i="1" smtClean="0">
                        <a:latin typeface="Cambria Math" panose="02040503050406030204" pitchFamily="18" charset="0"/>
                      </a:rPr>
                      <m:t>−1</m:t>
                    </m:r>
                  </m:oMath>
                </a14:m>
                <a:r>
                  <a:rPr lang="en-US" sz="1600" dirty="0"/>
                  <a:t> dimensional vector: </a:t>
                </a:r>
                <a14:m>
                  <m:oMath xmlns:m="http://schemas.openxmlformats.org/officeDocument/2006/math">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𝐵𝑙𝑢𝑒</m:t>
                        </m:r>
                        <m:r>
                          <a:rPr lang="en-US" sz="1600" i="1">
                            <a:latin typeface="Cambria Math" panose="02040503050406030204" pitchFamily="18" charset="0"/>
                          </a:rPr>
                          <m:t>:000, </m:t>
                        </m:r>
                        <m:r>
                          <a:rPr lang="en-US" sz="1600" i="1">
                            <a:latin typeface="Cambria Math" panose="02040503050406030204" pitchFamily="18" charset="0"/>
                          </a:rPr>
                          <m:t>𝑅𝑒𝑑</m:t>
                        </m:r>
                        <m:r>
                          <a:rPr lang="en-US" sz="1600" i="1">
                            <a:latin typeface="Cambria Math" panose="02040503050406030204" pitchFamily="18" charset="0"/>
                          </a:rPr>
                          <m:t>:001, </m:t>
                        </m:r>
                        <m:r>
                          <a:rPr lang="en-US" sz="1600" i="1">
                            <a:latin typeface="Cambria Math" panose="02040503050406030204" pitchFamily="18" charset="0"/>
                          </a:rPr>
                          <m:t>𝐺𝑟𝑒𝑒𝑛</m:t>
                        </m:r>
                        <m:r>
                          <a:rPr lang="en-US" sz="1600" i="1">
                            <a:latin typeface="Cambria Math" panose="02040503050406030204" pitchFamily="18" charset="0"/>
                          </a:rPr>
                          <m:t>:010, </m:t>
                        </m:r>
                        <m:r>
                          <a:rPr lang="en-US" sz="1600" i="1">
                            <a:latin typeface="Cambria Math" panose="02040503050406030204" pitchFamily="18" charset="0"/>
                          </a:rPr>
                          <m:t>𝑌𝑒𝑙𝑙𝑜𝑤</m:t>
                        </m:r>
                        <m:r>
                          <a:rPr lang="en-US" sz="1600" i="1">
                            <a:latin typeface="Cambria Math" panose="02040503050406030204" pitchFamily="18" charset="0"/>
                          </a:rPr>
                          <m:t>:100</m:t>
                        </m:r>
                      </m:e>
                    </m:d>
                    <m:r>
                      <a:rPr lang="en-US" sz="1600" b="0" i="0" smtClean="0">
                        <a:latin typeface="Cambria Math" panose="02040503050406030204" pitchFamily="18" charset="0"/>
                      </a:rPr>
                      <m:t>, </m:t>
                    </m:r>
                  </m:oMath>
                </a14:m>
                <a:r>
                  <a:rPr lang="en-US" sz="1600" dirty="0"/>
                  <a:t>reducing the input size to 1.</a:t>
                </a:r>
              </a:p>
              <a:p>
                <a:r>
                  <a:rPr lang="en-US" sz="2000" dirty="0"/>
                  <a:t>All categorical variables can be transformed into one-hot vectors. </a:t>
                </a:r>
              </a:p>
              <a:p>
                <a:r>
                  <a:rPr lang="en-US" sz="2000" b="1" dirty="0"/>
                  <a:t>Disadvantage</a:t>
                </a:r>
                <a:r>
                  <a:rPr lang="en-US" sz="2000" dirty="0"/>
                  <a:t>: For categorical variables with multiple unique categories, the input size would increase a lot, destabilizing the performance and slowing down the training process.</a:t>
                </a:r>
              </a:p>
              <a:p>
                <a:pPr lvl="1">
                  <a:buFont typeface="Wingdings" panose="05000000000000000000" pitchFamily="2" charset="2"/>
                  <a:buChar char="Ø"/>
                </a:pPr>
                <a:r>
                  <a:rPr lang="en-US" sz="1600" dirty="0"/>
                  <a:t>For example, a variable with 1000 unique categories would increase the input size by 1000.</a:t>
                </a:r>
              </a:p>
            </p:txBody>
          </p:sp>
        </mc:Choice>
        <mc:Fallback xmlns="">
          <p:sp>
            <p:nvSpPr>
              <p:cNvPr id="3" name="Θέση περιεχομένου 2">
                <a:extLst>
                  <a:ext uri="{FF2B5EF4-FFF2-40B4-BE49-F238E27FC236}">
                    <a16:creationId xmlns:a16="http://schemas.microsoft.com/office/drawing/2014/main" id="{6C492C5A-EA2F-3CD9-6251-468D1CAA2984}"/>
                  </a:ext>
                </a:extLst>
              </p:cNvPr>
              <p:cNvSpPr>
                <a:spLocks noGrp="1" noRot="1" noChangeAspect="1" noMove="1" noResize="1" noEditPoints="1" noAdjustHandles="1" noChangeArrowheads="1" noChangeShapeType="1" noTextEdit="1"/>
              </p:cNvSpPr>
              <p:nvPr>
                <p:ph idx="1"/>
              </p:nvPr>
            </p:nvSpPr>
            <p:spPr>
              <a:xfrm>
                <a:off x="838200" y="1554480"/>
                <a:ext cx="10515600" cy="4622483"/>
              </a:xfrm>
              <a:blipFill>
                <a:blip r:embed="rId2"/>
                <a:stretch>
                  <a:fillRect l="-522" t="-1187"/>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F164432E-FBBA-E83B-8644-E0A57BE5479F}"/>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192B1639-B7B6-502A-18C0-585761F915B0}"/>
              </a:ext>
            </a:extLst>
          </p:cNvPr>
          <p:cNvSpPr>
            <a:spLocks noGrp="1"/>
          </p:cNvSpPr>
          <p:nvPr>
            <p:ph type="sldNum" sz="quarter" idx="12"/>
          </p:nvPr>
        </p:nvSpPr>
        <p:spPr/>
        <p:txBody>
          <a:bodyPr/>
          <a:lstStyle/>
          <a:p>
            <a:fld id="{4ACA1919-B5C6-4827-8B15-372F46BB4020}" type="slidenum">
              <a:rPr lang="en-US" smtClean="0"/>
              <a:t>5</a:t>
            </a:fld>
            <a:endParaRPr lang="en-US"/>
          </a:p>
        </p:txBody>
      </p:sp>
    </p:spTree>
    <p:extLst>
      <p:ext uri="{BB962C8B-B14F-4D97-AF65-F5344CB8AC3E}">
        <p14:creationId xmlns:p14="http://schemas.microsoft.com/office/powerpoint/2010/main" val="2886801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8DC8B62-FE6E-E7A4-69A5-B2FB46C9F807}"/>
              </a:ext>
            </a:extLst>
          </p:cNvPr>
          <p:cNvSpPr>
            <a:spLocks noGrp="1"/>
          </p:cNvSpPr>
          <p:nvPr>
            <p:ph type="title"/>
          </p:nvPr>
        </p:nvSpPr>
        <p:spPr>
          <a:xfrm>
            <a:off x="838200" y="136525"/>
            <a:ext cx="10515600" cy="1325563"/>
          </a:xfrm>
        </p:spPr>
        <p:txBody>
          <a:bodyPr/>
          <a:lstStyle/>
          <a:p>
            <a:r>
              <a:rPr lang="en-US" dirty="0"/>
              <a:t>Ordinal vs One-Hot Encoding</a:t>
            </a:r>
          </a:p>
        </p:txBody>
      </p:sp>
      <p:sp>
        <p:nvSpPr>
          <p:cNvPr id="4" name="Θέση υποσέλιδου 3">
            <a:extLst>
              <a:ext uri="{FF2B5EF4-FFF2-40B4-BE49-F238E27FC236}">
                <a16:creationId xmlns:a16="http://schemas.microsoft.com/office/drawing/2014/main" id="{1AD5AC89-880F-E91E-4966-A5FEB95AD065}"/>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8FB5A8F7-B6B2-B080-81FF-0BE9BB9D07A5}"/>
              </a:ext>
            </a:extLst>
          </p:cNvPr>
          <p:cNvSpPr>
            <a:spLocks noGrp="1"/>
          </p:cNvSpPr>
          <p:nvPr>
            <p:ph type="sldNum" sz="quarter" idx="12"/>
          </p:nvPr>
        </p:nvSpPr>
        <p:spPr/>
        <p:txBody>
          <a:bodyPr/>
          <a:lstStyle/>
          <a:p>
            <a:fld id="{4ACA1919-B5C6-4827-8B15-372F46BB4020}" type="slidenum">
              <a:rPr lang="en-US" smtClean="0"/>
              <a:t>6</a:t>
            </a:fld>
            <a:endParaRPr lang="en-US"/>
          </a:p>
        </p:txBody>
      </p:sp>
      <p:pic>
        <p:nvPicPr>
          <p:cNvPr id="3074" name="Picture 2" descr="Label Encoding Vs One-Hot Encoding Vs Ordinal Encoding | Kaggle">
            <a:extLst>
              <a:ext uri="{FF2B5EF4-FFF2-40B4-BE49-F238E27FC236}">
                <a16:creationId xmlns:a16="http://schemas.microsoft.com/office/drawing/2014/main" id="{35205C30-D8A1-8F3A-6809-A12524B0D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1462088"/>
            <a:ext cx="9105900" cy="2557240"/>
          </a:xfrm>
          <a:prstGeom prst="rect">
            <a:avLst/>
          </a:prstGeom>
          <a:noFill/>
          <a:extLst>
            <a:ext uri="{909E8E84-426E-40DD-AFC4-6F175D3DCCD1}">
              <a14:hiddenFill xmlns:a14="http://schemas.microsoft.com/office/drawing/2010/main">
                <a:solidFill>
                  <a:srgbClr val="FFFFFF"/>
                </a:solidFill>
              </a14:hiddenFill>
            </a:ext>
          </a:extLst>
        </p:spPr>
      </p:pic>
      <p:pic>
        <p:nvPicPr>
          <p:cNvPr id="7" name="Εικόνα 6">
            <a:extLst>
              <a:ext uri="{FF2B5EF4-FFF2-40B4-BE49-F238E27FC236}">
                <a16:creationId xmlns:a16="http://schemas.microsoft.com/office/drawing/2014/main" id="{A4244145-595A-0BB0-824F-D22BBE5E448E}"/>
              </a:ext>
            </a:extLst>
          </p:cNvPr>
          <p:cNvPicPr>
            <a:picLocks noChangeAspect="1"/>
          </p:cNvPicPr>
          <p:nvPr/>
        </p:nvPicPr>
        <p:blipFill>
          <a:blip r:embed="rId3"/>
          <a:stretch>
            <a:fillRect/>
          </a:stretch>
        </p:blipFill>
        <p:spPr>
          <a:xfrm>
            <a:off x="1842312" y="4121821"/>
            <a:ext cx="7787463" cy="2188764"/>
          </a:xfrm>
          <a:prstGeom prst="rect">
            <a:avLst/>
          </a:prstGeom>
        </p:spPr>
      </p:pic>
    </p:spTree>
    <p:extLst>
      <p:ext uri="{BB962C8B-B14F-4D97-AF65-F5344CB8AC3E}">
        <p14:creationId xmlns:p14="http://schemas.microsoft.com/office/powerpoint/2010/main" val="2517220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86C4-407A-8351-60C4-103063092DD2}"/>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8CE11F4D-E374-3FEE-BEE7-94E46A1F4C34}"/>
              </a:ext>
            </a:extLst>
          </p:cNvPr>
          <p:cNvSpPr>
            <a:spLocks noGrp="1"/>
          </p:cNvSpPr>
          <p:nvPr>
            <p:ph type="title"/>
          </p:nvPr>
        </p:nvSpPr>
        <p:spPr>
          <a:xfrm>
            <a:off x="838200" y="136525"/>
            <a:ext cx="10515600" cy="1325563"/>
          </a:xfrm>
        </p:spPr>
        <p:txBody>
          <a:bodyPr/>
          <a:lstStyle/>
          <a:p>
            <a:r>
              <a:rPr lang="en-US" dirty="0"/>
              <a:t>Frequency Encoding</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BA336AD9-7C56-E9C0-6B56-CE559141E28F}"/>
                  </a:ext>
                </a:extLst>
              </p:cNvPr>
              <p:cNvSpPr>
                <a:spLocks noGrp="1"/>
              </p:cNvSpPr>
              <p:nvPr>
                <p:ph idx="1"/>
              </p:nvPr>
            </p:nvSpPr>
            <p:spPr>
              <a:xfrm>
                <a:off x="838199" y="1462087"/>
                <a:ext cx="10772775" cy="4824413"/>
              </a:xfrm>
            </p:spPr>
            <p:txBody>
              <a:bodyPr>
                <a:normAutofit/>
              </a:bodyPr>
              <a:lstStyle/>
              <a:p>
                <a:r>
                  <a:rPr lang="en-US" sz="2000" dirty="0"/>
                  <a:t>Replaces each category with its frequency of appearance in the dataset.</a:t>
                </a:r>
              </a:p>
              <a:p>
                <a:r>
                  <a:rPr lang="en-US" sz="2000" dirty="0"/>
                  <a:t>Two variations:</a:t>
                </a:r>
              </a:p>
              <a:p>
                <a:pPr lvl="1">
                  <a:buFont typeface="Wingdings" panose="05000000000000000000" pitchFamily="2" charset="2"/>
                  <a:buChar char="Ø"/>
                </a:pPr>
                <a:r>
                  <a:rPr lang="en-US" sz="1600" dirty="0"/>
                  <a:t>Count Encoding: replaces the category with its counts.</a:t>
                </a:r>
              </a:p>
              <a:p>
                <a:pPr lvl="1">
                  <a:buFont typeface="Wingdings" panose="05000000000000000000" pitchFamily="2" charset="2"/>
                  <a:buChar char="Ø"/>
                </a:pPr>
                <a:r>
                  <a:rPr lang="en-US" sz="1600" dirty="0"/>
                  <a:t>Mean Encoding: replaces the category with its mean appearance </a:t>
                </a:r>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𝑐𝑜𝑢𝑛𝑡𝑠</m:t>
                        </m:r>
                      </m:num>
                      <m:den>
                        <m:r>
                          <a:rPr lang="en-US" sz="1600" b="0" i="1" smtClean="0">
                            <a:latin typeface="Cambria Math" panose="02040503050406030204" pitchFamily="18" charset="0"/>
                          </a:rPr>
                          <m:t>𝑑𝑎𝑡𝑎𝑠𝑒𝑡</m:t>
                        </m:r>
                        <m:r>
                          <a:rPr lang="en-US" sz="1600" b="0" i="1" smtClean="0">
                            <a:latin typeface="Cambria Math" panose="02040503050406030204" pitchFamily="18" charset="0"/>
                          </a:rPr>
                          <m:t> </m:t>
                        </m:r>
                        <m:r>
                          <a:rPr lang="en-US" sz="1600" b="0" i="1" smtClean="0">
                            <a:latin typeface="Cambria Math" panose="02040503050406030204" pitchFamily="18" charset="0"/>
                          </a:rPr>
                          <m:t>𝑠𝑖𝑧𝑒</m:t>
                        </m:r>
                      </m:den>
                    </m:f>
                  </m:oMath>
                </a14:m>
                <a:r>
                  <a:rPr lang="en-US" sz="1600" dirty="0"/>
                  <a:t>.</a:t>
                </a:r>
              </a:p>
              <a:p>
                <a:r>
                  <a:rPr lang="en-US" sz="2000" b="1" dirty="0"/>
                  <a:t>Advantages</a:t>
                </a:r>
                <a:r>
                  <a:rPr lang="en-US" sz="2000" dirty="0"/>
                  <a:t>:</a:t>
                </a:r>
              </a:p>
              <a:p>
                <a:pPr lvl="1">
                  <a:buFont typeface="Wingdings" panose="05000000000000000000" pitchFamily="2" charset="2"/>
                  <a:buChar char="Ø"/>
                </a:pPr>
                <a:r>
                  <a:rPr lang="en-US" sz="1600" dirty="0"/>
                  <a:t>Reduces the dimensionality (compared to the one-hot encoding).</a:t>
                </a:r>
              </a:p>
              <a:p>
                <a:pPr lvl="1">
                  <a:buFont typeface="Wingdings" panose="05000000000000000000" pitchFamily="2" charset="2"/>
                  <a:buChar char="Ø"/>
                </a:pPr>
                <a:r>
                  <a:rPr lang="en-US" sz="1600" dirty="0"/>
                  <a:t>Does not imply ordering.</a:t>
                </a:r>
              </a:p>
              <a:p>
                <a:pPr>
                  <a:buFont typeface="Wingdings" panose="05000000000000000000" pitchFamily="2" charset="2"/>
                  <a:buChar char="Ø"/>
                </a:pPr>
                <a:r>
                  <a:rPr lang="en-US" sz="2000" b="1" dirty="0"/>
                  <a:t>Disadvantages</a:t>
                </a:r>
                <a:r>
                  <a:rPr lang="en-US" sz="2000" dirty="0"/>
                  <a:t>:</a:t>
                </a:r>
              </a:p>
              <a:p>
                <a:pPr lvl="1">
                  <a:buFont typeface="Wingdings" panose="05000000000000000000" pitchFamily="2" charset="2"/>
                  <a:buChar char="Ø"/>
                </a:pPr>
                <a:r>
                  <a:rPr lang="en-US" sz="1600" dirty="0"/>
                  <a:t>Does not have physical interpretation.</a:t>
                </a:r>
              </a:p>
              <a:p>
                <a:pPr lvl="1">
                  <a:buFont typeface="Wingdings" panose="05000000000000000000" pitchFamily="2" charset="2"/>
                  <a:buChar char="Ø"/>
                </a:pPr>
                <a:r>
                  <a:rPr lang="en-US" sz="1600" dirty="0"/>
                  <a:t>Introduces ordering. </a:t>
                </a:r>
              </a:p>
              <a:p>
                <a:pPr lvl="1">
                  <a:buFont typeface="Wingdings" panose="05000000000000000000" pitchFamily="2" charset="2"/>
                  <a:buChar char="Ø"/>
                </a:pPr>
                <a:r>
                  <a:rPr lang="en-US" sz="1600" dirty="0"/>
                  <a:t>Lower risk of misleading a model.</a:t>
                </a:r>
              </a:p>
            </p:txBody>
          </p:sp>
        </mc:Choice>
        <mc:Fallback xmlns="">
          <p:sp>
            <p:nvSpPr>
              <p:cNvPr id="3" name="Θέση περιεχομένου 2">
                <a:extLst>
                  <a:ext uri="{FF2B5EF4-FFF2-40B4-BE49-F238E27FC236}">
                    <a16:creationId xmlns:a16="http://schemas.microsoft.com/office/drawing/2014/main" id="{BA336AD9-7C56-E9C0-6B56-CE559141E28F}"/>
                  </a:ext>
                </a:extLst>
              </p:cNvPr>
              <p:cNvSpPr>
                <a:spLocks noGrp="1" noRot="1" noChangeAspect="1" noMove="1" noResize="1" noEditPoints="1" noAdjustHandles="1" noChangeArrowheads="1" noChangeShapeType="1" noTextEdit="1"/>
              </p:cNvSpPr>
              <p:nvPr>
                <p:ph idx="1"/>
              </p:nvPr>
            </p:nvSpPr>
            <p:spPr>
              <a:xfrm>
                <a:off x="838199" y="1462087"/>
                <a:ext cx="10772775" cy="4824413"/>
              </a:xfrm>
              <a:blipFill>
                <a:blip r:embed="rId2"/>
                <a:stretch>
                  <a:fillRect l="-452" t="-1264"/>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3E76158F-1565-A930-8F89-B9B182080991}"/>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459D878B-1042-3A36-CEE0-734BF5DBA87A}"/>
              </a:ext>
            </a:extLst>
          </p:cNvPr>
          <p:cNvSpPr>
            <a:spLocks noGrp="1"/>
          </p:cNvSpPr>
          <p:nvPr>
            <p:ph type="sldNum" sz="quarter" idx="12"/>
          </p:nvPr>
        </p:nvSpPr>
        <p:spPr/>
        <p:txBody>
          <a:bodyPr/>
          <a:lstStyle/>
          <a:p>
            <a:fld id="{4ACA1919-B5C6-4827-8B15-372F46BB4020}" type="slidenum">
              <a:rPr lang="en-US" smtClean="0"/>
              <a:t>7</a:t>
            </a:fld>
            <a:endParaRPr lang="en-US"/>
          </a:p>
        </p:txBody>
      </p:sp>
      <p:pic>
        <p:nvPicPr>
          <p:cNvPr id="4098" name="Picture 2" descr="Feature processors | Elastic Docs">
            <a:extLst>
              <a:ext uri="{FF2B5EF4-FFF2-40B4-BE49-F238E27FC236}">
                <a16:creationId xmlns:a16="http://schemas.microsoft.com/office/drawing/2014/main" id="{A062411C-FAF9-ED76-DBFD-15B43136A8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1138" y="3932808"/>
            <a:ext cx="6410324" cy="2423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81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4D43-C3E0-2DD6-73B9-D5CB072802E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03C4625-1CB4-74C1-C99B-6E550C778B70}"/>
              </a:ext>
            </a:extLst>
          </p:cNvPr>
          <p:cNvSpPr>
            <a:spLocks noGrp="1"/>
          </p:cNvSpPr>
          <p:nvPr>
            <p:ph type="title"/>
          </p:nvPr>
        </p:nvSpPr>
        <p:spPr>
          <a:xfrm>
            <a:off x="838200" y="142261"/>
            <a:ext cx="10515600" cy="1325563"/>
          </a:xfrm>
        </p:spPr>
        <p:txBody>
          <a:bodyPr/>
          <a:lstStyle/>
          <a:p>
            <a:r>
              <a:rPr lang="en-US" dirty="0"/>
              <a:t>Target Encoding</a:t>
            </a:r>
          </a:p>
        </p:txBody>
      </p:sp>
      <p:sp>
        <p:nvSpPr>
          <p:cNvPr id="3" name="Θέση περιεχομένου 2">
            <a:extLst>
              <a:ext uri="{FF2B5EF4-FFF2-40B4-BE49-F238E27FC236}">
                <a16:creationId xmlns:a16="http://schemas.microsoft.com/office/drawing/2014/main" id="{35F48D18-5FA3-6741-E154-2D924304D0B6}"/>
              </a:ext>
            </a:extLst>
          </p:cNvPr>
          <p:cNvSpPr>
            <a:spLocks noGrp="1"/>
          </p:cNvSpPr>
          <p:nvPr>
            <p:ph idx="1"/>
          </p:nvPr>
        </p:nvSpPr>
        <p:spPr>
          <a:xfrm>
            <a:off x="838200" y="1467824"/>
            <a:ext cx="10515600" cy="565804"/>
          </a:xfrm>
        </p:spPr>
        <p:txBody>
          <a:bodyPr>
            <a:normAutofit/>
          </a:bodyPr>
          <a:lstStyle/>
          <a:p>
            <a:r>
              <a:rPr lang="en-US" sz="2000" dirty="0"/>
              <a:t>Similar to the frequency encoding, but it uses the target frequency instead.</a:t>
            </a:r>
          </a:p>
        </p:txBody>
      </p:sp>
      <p:sp>
        <p:nvSpPr>
          <p:cNvPr id="4" name="Θέση υποσέλιδου 3">
            <a:extLst>
              <a:ext uri="{FF2B5EF4-FFF2-40B4-BE49-F238E27FC236}">
                <a16:creationId xmlns:a16="http://schemas.microsoft.com/office/drawing/2014/main" id="{5D14DD90-5BF2-6E46-8F69-D3C22FFA9875}"/>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E1C7E4A1-F278-C7B6-2261-D1703B85F66A}"/>
              </a:ext>
            </a:extLst>
          </p:cNvPr>
          <p:cNvSpPr>
            <a:spLocks noGrp="1"/>
          </p:cNvSpPr>
          <p:nvPr>
            <p:ph type="sldNum" sz="quarter" idx="12"/>
          </p:nvPr>
        </p:nvSpPr>
        <p:spPr/>
        <p:txBody>
          <a:bodyPr/>
          <a:lstStyle/>
          <a:p>
            <a:fld id="{4ACA1919-B5C6-4827-8B15-372F46BB4020}" type="slidenum">
              <a:rPr lang="en-US" smtClean="0"/>
              <a:t>8</a:t>
            </a:fld>
            <a:endParaRPr lang="en-US"/>
          </a:p>
        </p:txBody>
      </p:sp>
      <p:pic>
        <p:nvPicPr>
          <p:cNvPr id="7" name="Εικόνα 6">
            <a:extLst>
              <a:ext uri="{FF2B5EF4-FFF2-40B4-BE49-F238E27FC236}">
                <a16:creationId xmlns:a16="http://schemas.microsoft.com/office/drawing/2014/main" id="{C978F8B4-D6C5-7432-CE51-4C67656AAD33}"/>
              </a:ext>
            </a:extLst>
          </p:cNvPr>
          <p:cNvPicPr>
            <a:picLocks noChangeAspect="1"/>
          </p:cNvPicPr>
          <p:nvPr/>
        </p:nvPicPr>
        <p:blipFill>
          <a:blip r:embed="rId2"/>
          <a:stretch>
            <a:fillRect/>
          </a:stretch>
        </p:blipFill>
        <p:spPr>
          <a:xfrm>
            <a:off x="1795273" y="2101997"/>
            <a:ext cx="8189976" cy="2246195"/>
          </a:xfrm>
          <a:prstGeom prst="rect">
            <a:avLst/>
          </a:prstGeom>
        </p:spPr>
      </p:pic>
      <p:sp>
        <p:nvSpPr>
          <p:cNvPr id="8" name="Θέση περιεχομένου 2">
            <a:extLst>
              <a:ext uri="{FF2B5EF4-FFF2-40B4-BE49-F238E27FC236}">
                <a16:creationId xmlns:a16="http://schemas.microsoft.com/office/drawing/2014/main" id="{07FBDA81-7677-E356-B649-7A30F10B5C5C}"/>
              </a:ext>
            </a:extLst>
          </p:cNvPr>
          <p:cNvSpPr txBox="1">
            <a:spLocks/>
          </p:cNvSpPr>
          <p:nvPr/>
        </p:nvSpPr>
        <p:spPr>
          <a:xfrm>
            <a:off x="838200" y="4556106"/>
            <a:ext cx="10515600" cy="20275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In this example, Animal is the categorical variable and Good is the target.</a:t>
            </a:r>
          </a:p>
          <a:p>
            <a:r>
              <a:rPr lang="en-US" sz="2000" dirty="0"/>
              <a:t>Animal equals </a:t>
            </a:r>
            <a:r>
              <a:rPr lang="en-US" sz="2000" i="1" dirty="0"/>
              <a:t>“cat”  </a:t>
            </a:r>
            <a:r>
              <a:rPr lang="en-US" sz="2000" dirty="0"/>
              <a:t>1 time when target is 0 and 1 time when target is 1. So its target frequency is 0.5 (1/2).</a:t>
            </a:r>
          </a:p>
          <a:p>
            <a:r>
              <a:rPr lang="en-US" sz="2000" dirty="0"/>
              <a:t>On the other hand, Animal equals </a:t>
            </a:r>
            <a:r>
              <a:rPr lang="en-US" sz="2000" i="1" dirty="0"/>
              <a:t>“dog” </a:t>
            </a:r>
            <a:r>
              <a:rPr lang="en-US" sz="2000" dirty="0"/>
              <a:t> when target is 1, so its target frequency is 1. Same with the crocodile.</a:t>
            </a:r>
            <a:endParaRPr lang="en-US" sz="2000" i="1" dirty="0"/>
          </a:p>
        </p:txBody>
      </p:sp>
    </p:spTree>
    <p:extLst>
      <p:ext uri="{BB962C8B-B14F-4D97-AF65-F5344CB8AC3E}">
        <p14:creationId xmlns:p14="http://schemas.microsoft.com/office/powerpoint/2010/main" val="149364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7D5EF68-0AD4-23EE-BEB5-798FD7D90A1E}"/>
              </a:ext>
            </a:extLst>
          </p:cNvPr>
          <p:cNvSpPr>
            <a:spLocks noGrp="1"/>
          </p:cNvSpPr>
          <p:nvPr>
            <p:ph type="title"/>
          </p:nvPr>
        </p:nvSpPr>
        <p:spPr>
          <a:xfrm>
            <a:off x="838200" y="136525"/>
            <a:ext cx="10515600" cy="1325563"/>
          </a:xfrm>
        </p:spPr>
        <p:txBody>
          <a:bodyPr/>
          <a:lstStyle/>
          <a:p>
            <a:r>
              <a:rPr lang="en-US" dirty="0"/>
              <a:t>Other Data Types (IDs, Dates, Locations)</a:t>
            </a:r>
          </a:p>
        </p:txBody>
      </p:sp>
      <p:sp>
        <p:nvSpPr>
          <p:cNvPr id="3" name="Θέση περιεχομένου 2">
            <a:extLst>
              <a:ext uri="{FF2B5EF4-FFF2-40B4-BE49-F238E27FC236}">
                <a16:creationId xmlns:a16="http://schemas.microsoft.com/office/drawing/2014/main" id="{8B31A8F7-1408-464C-24C7-3DF584E1EA4F}"/>
              </a:ext>
            </a:extLst>
          </p:cNvPr>
          <p:cNvSpPr>
            <a:spLocks noGrp="1"/>
          </p:cNvSpPr>
          <p:nvPr>
            <p:ph idx="1"/>
          </p:nvPr>
        </p:nvSpPr>
        <p:spPr>
          <a:xfrm>
            <a:off x="838200" y="1572768"/>
            <a:ext cx="10515600" cy="4709160"/>
          </a:xfrm>
        </p:spPr>
        <p:txBody>
          <a:bodyPr>
            <a:normAutofit/>
          </a:bodyPr>
          <a:lstStyle/>
          <a:p>
            <a:r>
              <a:rPr lang="en-US" sz="2000" b="1" dirty="0"/>
              <a:t>IDs</a:t>
            </a:r>
            <a:r>
              <a:rPr lang="en-US" sz="2000" dirty="0"/>
              <a:t>: usually, are irrelevant to the training process and are omitted (dropped) from the dataset.</a:t>
            </a:r>
          </a:p>
          <a:p>
            <a:r>
              <a:rPr lang="en-US" sz="2000" b="1" dirty="0"/>
              <a:t>Dates</a:t>
            </a:r>
            <a:r>
              <a:rPr lang="en-US" sz="2000" dirty="0"/>
              <a:t>: can be observed in time-dependent variables (such as timeseries). Although date is irrelevant to the training process, several features can be extracted, such as:</a:t>
            </a:r>
          </a:p>
          <a:p>
            <a:pPr lvl="1">
              <a:buFont typeface="Wingdings" panose="05000000000000000000" pitchFamily="2" charset="2"/>
              <a:buChar char="Ø"/>
            </a:pPr>
            <a:r>
              <a:rPr lang="en-US" sz="1600" dirty="0"/>
              <a:t>Time Features (seconds, minutes, hours, etc.).</a:t>
            </a:r>
          </a:p>
          <a:p>
            <a:pPr lvl="1">
              <a:buFont typeface="Wingdings" panose="05000000000000000000" pitchFamily="2" charset="2"/>
              <a:buChar char="Ø"/>
            </a:pPr>
            <a:r>
              <a:rPr lang="en-US" sz="1600" dirty="0"/>
              <a:t>Daily Features (day, week, month, year, etc.).</a:t>
            </a:r>
          </a:p>
          <a:p>
            <a:pPr lvl="1">
              <a:buFont typeface="Wingdings" panose="05000000000000000000" pitchFamily="2" charset="2"/>
              <a:buChar char="Ø"/>
            </a:pPr>
            <a:r>
              <a:rPr lang="en-US" sz="1600" dirty="0"/>
              <a:t>Events (holidays, wars, crisis events, etc.).</a:t>
            </a:r>
          </a:p>
          <a:p>
            <a:r>
              <a:rPr lang="en-US" sz="2000" b="1" dirty="0"/>
              <a:t>Locations: </a:t>
            </a:r>
            <a:r>
              <a:rPr lang="en-US" sz="2000" dirty="0"/>
              <a:t>can be encoded as one-hot vectors or as pairs of (longitude, latitude) if the geographical location is important.</a:t>
            </a:r>
          </a:p>
          <a:p>
            <a:pPr lvl="1">
              <a:buFont typeface="Wingdings" panose="05000000000000000000" pitchFamily="2" charset="2"/>
              <a:buChar char="Ø"/>
            </a:pPr>
            <a:r>
              <a:rPr lang="en-US" sz="1600" dirty="0"/>
              <a:t>Example 1: to examine the income of the population, we can one-hot each city.</a:t>
            </a:r>
          </a:p>
          <a:p>
            <a:pPr lvl="1">
              <a:buFont typeface="Wingdings" panose="05000000000000000000" pitchFamily="2" charset="2"/>
              <a:buChar char="Ø"/>
            </a:pPr>
            <a:r>
              <a:rPr lang="en-US" sz="1600" dirty="0"/>
              <a:t>Example 2: to predict the temperature, we can encode the location as a vector of (longitude, latitude), which can provide us information about its continentality (how far a place is located from water, which affects its climate).</a:t>
            </a:r>
          </a:p>
        </p:txBody>
      </p:sp>
      <p:sp>
        <p:nvSpPr>
          <p:cNvPr id="4" name="Θέση υποσέλιδου 3">
            <a:extLst>
              <a:ext uri="{FF2B5EF4-FFF2-40B4-BE49-F238E27FC236}">
                <a16:creationId xmlns:a16="http://schemas.microsoft.com/office/drawing/2014/main" id="{55BFF97F-10E6-AD33-9055-87290FEC19DA}"/>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E3BE15AE-3775-F1D2-14D1-9C3C2C64620E}"/>
              </a:ext>
            </a:extLst>
          </p:cNvPr>
          <p:cNvSpPr>
            <a:spLocks noGrp="1"/>
          </p:cNvSpPr>
          <p:nvPr>
            <p:ph type="sldNum" sz="quarter" idx="12"/>
          </p:nvPr>
        </p:nvSpPr>
        <p:spPr/>
        <p:txBody>
          <a:bodyPr/>
          <a:lstStyle/>
          <a:p>
            <a:fld id="{4ACA1919-B5C6-4827-8B15-372F46BB4020}" type="slidenum">
              <a:rPr lang="en-US" smtClean="0"/>
              <a:t>9</a:t>
            </a:fld>
            <a:endParaRPr lang="en-US"/>
          </a:p>
        </p:txBody>
      </p:sp>
    </p:spTree>
    <p:extLst>
      <p:ext uri="{BB962C8B-B14F-4D97-AF65-F5344CB8AC3E}">
        <p14:creationId xmlns:p14="http://schemas.microsoft.com/office/powerpoint/2010/main" val="1162923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FFCC3B1-9B4B-66C6-F7C9-71B33A5FF157}"/>
              </a:ext>
            </a:extLst>
          </p:cNvPr>
          <p:cNvSpPr>
            <a:spLocks noGrp="1"/>
          </p:cNvSpPr>
          <p:nvPr>
            <p:ph type="title"/>
          </p:nvPr>
        </p:nvSpPr>
        <p:spPr>
          <a:xfrm>
            <a:off x="838200" y="57302"/>
            <a:ext cx="10515600" cy="1325563"/>
          </a:xfrm>
        </p:spPr>
        <p:txBody>
          <a:bodyPr/>
          <a:lstStyle/>
          <a:p>
            <a:r>
              <a:rPr lang="en-US" dirty="0"/>
              <a:t>Data Normalization</a:t>
            </a:r>
          </a:p>
        </p:txBody>
      </p:sp>
      <p:sp>
        <p:nvSpPr>
          <p:cNvPr id="3" name="Θέση περιεχομένου 2">
            <a:extLst>
              <a:ext uri="{FF2B5EF4-FFF2-40B4-BE49-F238E27FC236}">
                <a16:creationId xmlns:a16="http://schemas.microsoft.com/office/drawing/2014/main" id="{3EF4E0DB-1D8C-08FC-A304-BDFD0CCEE189}"/>
              </a:ext>
            </a:extLst>
          </p:cNvPr>
          <p:cNvSpPr>
            <a:spLocks noGrp="1"/>
          </p:cNvSpPr>
          <p:nvPr>
            <p:ph idx="1"/>
          </p:nvPr>
        </p:nvSpPr>
        <p:spPr>
          <a:xfrm>
            <a:off x="752856" y="1233488"/>
            <a:ext cx="10600944" cy="5030152"/>
          </a:xfrm>
        </p:spPr>
        <p:txBody>
          <a:bodyPr>
            <a:normAutofit/>
          </a:bodyPr>
          <a:lstStyle/>
          <a:p>
            <a:r>
              <a:rPr lang="en-US" sz="2400" dirty="0"/>
              <a:t>The performance of ML algorithms depends on:</a:t>
            </a:r>
          </a:p>
          <a:p>
            <a:pPr lvl="1">
              <a:buFont typeface="Wingdings" panose="05000000000000000000" pitchFamily="2" charset="2"/>
              <a:buChar char="Ø"/>
            </a:pPr>
            <a:r>
              <a:rPr lang="en-US" sz="1600" dirty="0"/>
              <a:t>The different scales between the variables (e.g., the value range affect the distance metric in KNN).</a:t>
            </a:r>
          </a:p>
          <a:p>
            <a:pPr lvl="1">
              <a:buFont typeface="Wingdings" panose="05000000000000000000" pitchFamily="2" charset="2"/>
              <a:buChar char="Ø"/>
            </a:pPr>
            <a:r>
              <a:rPr lang="en-US" sz="1600" dirty="0"/>
              <a:t>The distribution of the variables (e.g., linear regression assumes the variables follow normal distribution).</a:t>
            </a:r>
          </a:p>
          <a:p>
            <a:r>
              <a:rPr lang="el-GR" sz="2000" dirty="0"/>
              <a:t>Παραδείγματα μη-</a:t>
            </a:r>
            <a:r>
              <a:rPr lang="el-GR" sz="2000" dirty="0" err="1"/>
              <a:t>κανονικοποιημένων</a:t>
            </a:r>
            <a:r>
              <a:rPr lang="el-GR" sz="2000" dirty="0"/>
              <a:t> δεδομένων:</a:t>
            </a:r>
          </a:p>
          <a:p>
            <a:pPr lvl="1">
              <a:buFont typeface="Wingdings" panose="05000000000000000000" pitchFamily="2" charset="2"/>
              <a:buChar char="Ø"/>
            </a:pPr>
            <a:r>
              <a:rPr lang="el-GR" sz="1600" dirty="0"/>
              <a:t>Ο </a:t>
            </a:r>
            <a:r>
              <a:rPr lang="en-US" sz="1600" dirty="0"/>
              <a:t>KNN </a:t>
            </a:r>
            <a:r>
              <a:rPr lang="el-GR" sz="1600" dirty="0"/>
              <a:t>εκμεταλλεύεται μεταβλητές με μεγάλο εύρος για να βρει κοντινούς γείτονες, αγνοώντας τις υπόλοιπες μεταβλητές.</a:t>
            </a:r>
          </a:p>
          <a:p>
            <a:pPr lvl="1">
              <a:buFont typeface="Wingdings" panose="05000000000000000000" pitchFamily="2" charset="2"/>
              <a:buChar char="Ø"/>
            </a:pPr>
            <a:r>
              <a:rPr lang="el-GR" sz="1600" dirty="0"/>
              <a:t>Η γραμμική παλινδρόμηση δυσκολεύεται να προβλέψει μεταβλητή που έχει μεγάλο εύρος τιμών, σε σχέση με μεταβλητή φραγμένη στο [0, 1],</a:t>
            </a:r>
            <a:endParaRPr lang="en-US" sz="1600" dirty="0"/>
          </a:p>
          <a:p>
            <a:r>
              <a:rPr lang="en-US" sz="2000" dirty="0"/>
              <a:t>Normalization methods attempt to correct these issues, improve model performance and provide numerical stability. These methods include:</a:t>
            </a:r>
          </a:p>
          <a:p>
            <a:pPr lvl="1">
              <a:buFont typeface="Wingdings" panose="05000000000000000000" pitchFamily="2" charset="2"/>
              <a:buChar char="Ø"/>
            </a:pPr>
            <a:r>
              <a:rPr lang="en-US" sz="1600" b="1" dirty="0" err="1"/>
              <a:t>MinMax</a:t>
            </a:r>
            <a:endParaRPr lang="en-US" sz="1600" b="1" dirty="0"/>
          </a:p>
          <a:p>
            <a:pPr lvl="1">
              <a:buFont typeface="Wingdings" panose="05000000000000000000" pitchFamily="2" charset="2"/>
              <a:buChar char="Ø"/>
            </a:pPr>
            <a:r>
              <a:rPr lang="en-US" sz="1600" b="1" dirty="0" err="1"/>
              <a:t>MaxAbs</a:t>
            </a:r>
            <a:endParaRPr lang="en-US" sz="1600" b="1" dirty="0"/>
          </a:p>
          <a:p>
            <a:pPr lvl="1">
              <a:buFont typeface="Wingdings" panose="05000000000000000000" pitchFamily="2" charset="2"/>
              <a:buChar char="Ø"/>
            </a:pPr>
            <a:r>
              <a:rPr lang="en-US" sz="1600" b="1" dirty="0"/>
              <a:t>Standard </a:t>
            </a:r>
          </a:p>
          <a:p>
            <a:pPr lvl="1">
              <a:buFont typeface="Wingdings" panose="05000000000000000000" pitchFamily="2" charset="2"/>
              <a:buChar char="Ø"/>
            </a:pPr>
            <a:r>
              <a:rPr lang="en-US" sz="1600" b="1" dirty="0"/>
              <a:t>Robust</a:t>
            </a:r>
          </a:p>
          <a:p>
            <a:pPr lvl="1">
              <a:buFont typeface="Wingdings" panose="05000000000000000000" pitchFamily="2" charset="2"/>
              <a:buChar char="Ø"/>
            </a:pPr>
            <a:r>
              <a:rPr lang="en-US" sz="1600" b="1" dirty="0"/>
              <a:t>Log Returns (for Timeseries Forecasting)</a:t>
            </a:r>
          </a:p>
          <a:p>
            <a:endParaRPr lang="en-US" sz="2400" dirty="0"/>
          </a:p>
        </p:txBody>
      </p:sp>
      <p:sp>
        <p:nvSpPr>
          <p:cNvPr id="4" name="Θέση υποσέλιδου 3">
            <a:extLst>
              <a:ext uri="{FF2B5EF4-FFF2-40B4-BE49-F238E27FC236}">
                <a16:creationId xmlns:a16="http://schemas.microsoft.com/office/drawing/2014/main" id="{47B34B48-CDEE-585A-630C-F2F92FD05628}"/>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8BF686B7-BDFB-81A6-4DD7-01DECC7A931F}"/>
              </a:ext>
            </a:extLst>
          </p:cNvPr>
          <p:cNvSpPr>
            <a:spLocks noGrp="1"/>
          </p:cNvSpPr>
          <p:nvPr>
            <p:ph type="sldNum" sz="quarter" idx="12"/>
          </p:nvPr>
        </p:nvSpPr>
        <p:spPr/>
        <p:txBody>
          <a:bodyPr/>
          <a:lstStyle/>
          <a:p>
            <a:fld id="{4ACA1919-B5C6-4827-8B15-372F46BB4020}" type="slidenum">
              <a:rPr lang="en-US" smtClean="0"/>
              <a:t>10</a:t>
            </a:fld>
            <a:endParaRPr lang="en-US"/>
          </a:p>
        </p:txBody>
      </p:sp>
      <p:pic>
        <p:nvPicPr>
          <p:cNvPr id="7" name="Εικόνα 6">
            <a:extLst>
              <a:ext uri="{FF2B5EF4-FFF2-40B4-BE49-F238E27FC236}">
                <a16:creationId xmlns:a16="http://schemas.microsoft.com/office/drawing/2014/main" id="{6E898EB1-BFF6-7C91-2C85-1DF556B4722C}"/>
              </a:ext>
            </a:extLst>
          </p:cNvPr>
          <p:cNvPicPr>
            <a:picLocks noChangeAspect="1"/>
          </p:cNvPicPr>
          <p:nvPr/>
        </p:nvPicPr>
        <p:blipFill>
          <a:blip r:embed="rId2"/>
          <a:stretch>
            <a:fillRect/>
          </a:stretch>
        </p:blipFill>
        <p:spPr>
          <a:xfrm>
            <a:off x="7157848" y="4114126"/>
            <a:ext cx="4776978" cy="2195869"/>
          </a:xfrm>
          <a:prstGeom prst="rect">
            <a:avLst/>
          </a:prstGeom>
        </p:spPr>
      </p:pic>
    </p:spTree>
    <p:extLst>
      <p:ext uri="{BB962C8B-B14F-4D97-AF65-F5344CB8AC3E}">
        <p14:creationId xmlns:p14="http://schemas.microsoft.com/office/powerpoint/2010/main" val="1415144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4B37-A715-1F5C-E7C0-97057BF0439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D95AA62-6EFB-DB8B-9AF8-106ED85111C3}"/>
              </a:ext>
            </a:extLst>
          </p:cNvPr>
          <p:cNvSpPr>
            <a:spLocks noGrp="1"/>
          </p:cNvSpPr>
          <p:nvPr>
            <p:ph type="title"/>
          </p:nvPr>
        </p:nvSpPr>
        <p:spPr>
          <a:xfrm>
            <a:off x="838200" y="72517"/>
            <a:ext cx="10515600" cy="1024763"/>
          </a:xfrm>
        </p:spPr>
        <p:txBody>
          <a:bodyPr/>
          <a:lstStyle/>
          <a:p>
            <a:r>
              <a:rPr lang="en-US" dirty="0"/>
              <a:t>Data Normalization Methods</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1CDCF341-CA9D-C132-A7A5-F1E34DE1BF48}"/>
                  </a:ext>
                </a:extLst>
              </p:cNvPr>
              <p:cNvSpPr>
                <a:spLocks noGrp="1"/>
              </p:cNvSpPr>
              <p:nvPr>
                <p:ph idx="1"/>
              </p:nvPr>
            </p:nvSpPr>
            <p:spPr>
              <a:xfrm>
                <a:off x="838200" y="1097280"/>
                <a:ext cx="10515600" cy="5259070"/>
              </a:xfrm>
            </p:spPr>
            <p:txBody>
              <a:bodyPr>
                <a:normAutofit lnSpcReduction="10000"/>
              </a:bodyPr>
              <a:lstStyle/>
              <a:p>
                <a:r>
                  <a:rPr lang="en-US" sz="2000" b="1" dirty="0"/>
                  <a:t>Min-Max</a:t>
                </a:r>
                <a:r>
                  <a:rPr lang="en-US" sz="2000" dirty="0"/>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𝑚𝑖𝑛</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𝑚𝑎𝑥</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𝑚𝑖𝑛</m:t>
                            </m:r>
                          </m:sub>
                        </m:sSub>
                      </m:den>
                    </m:f>
                  </m:oMath>
                </a14:m>
                <a:endParaRPr lang="en-US" sz="2000" dirty="0"/>
              </a:p>
              <a:p>
                <a:pPr lvl="1">
                  <a:buFont typeface="Wingdings" panose="05000000000000000000" pitchFamily="2" charset="2"/>
                  <a:buChar char="Ø"/>
                </a:pPr>
                <a:r>
                  <a:rPr lang="en-US" sz="1600" dirty="0"/>
                  <a:t>Scales each feature in range </a:t>
                </a:r>
                <a14:m>
                  <m:oMath xmlns:m="http://schemas.openxmlformats.org/officeDocument/2006/math">
                    <m:r>
                      <a:rPr lang="en-US" sz="1600" b="0" i="1" smtClean="0">
                        <a:latin typeface="Cambria Math" panose="02040503050406030204" pitchFamily="18" charset="0"/>
                      </a:rPr>
                      <m:t>[0.0, 1.0]</m:t>
                    </m:r>
                  </m:oMath>
                </a14:m>
                <a:r>
                  <a:rPr lang="en-US" sz="1600" dirty="0"/>
                  <a:t>. Does not change the data distribution.</a:t>
                </a:r>
              </a:p>
              <a:p>
                <a:pPr lvl="1">
                  <a:buFont typeface="Wingdings" panose="05000000000000000000" pitchFamily="2" charset="2"/>
                  <a:buChar char="Ø"/>
                </a:pPr>
                <a:r>
                  <a:rPr lang="en-US" sz="1600" dirty="0"/>
                  <a:t>Good normalizer when range is bounded (e.g., from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∈[−100, 200]</m:t>
                    </m:r>
                  </m:oMath>
                </a14:m>
                <a:r>
                  <a:rPr lang="en-US" sz="1600" dirty="0"/>
                  <a:t>).</a:t>
                </a:r>
              </a:p>
              <a:p>
                <a:pPr lvl="1">
                  <a:buFont typeface="Wingdings" panose="05000000000000000000" pitchFamily="2" charset="2"/>
                  <a:buChar char="Ø"/>
                </a:pPr>
                <a:r>
                  <a:rPr lang="en-US" sz="1600" b="1" dirty="0"/>
                  <a:t>Limitation</a:t>
                </a:r>
                <a:r>
                  <a:rPr lang="en-US" sz="1600" dirty="0"/>
                  <a:t>: Negative values are transformed into positive ones and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𝑚𝑎𝑥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𝑚𝑖𝑛</m:t>
                        </m:r>
                      </m:sub>
                    </m:sSub>
                  </m:oMath>
                </a14:m>
                <a:r>
                  <a:rPr lang="en-US" sz="1600" dirty="0"/>
                  <a:t> and can be affected by outliers.</a:t>
                </a:r>
              </a:p>
              <a:p>
                <a:r>
                  <a:rPr lang="en-US" sz="2000" b="1" dirty="0"/>
                  <a:t>Max-Abs</a:t>
                </a:r>
                <a:r>
                  <a:rPr lang="en-US" sz="2000" dirty="0"/>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𝑚𝑎𝑥</m:t>
                            </m:r>
                          </m:sub>
                        </m:sSub>
                        <m:r>
                          <a:rPr lang="en-US" sz="2000" b="0" i="1" smtClean="0">
                            <a:latin typeface="Cambria Math" panose="02040503050406030204" pitchFamily="18" charset="0"/>
                          </a:rPr>
                          <m:t>|</m:t>
                        </m:r>
                      </m:den>
                    </m:f>
                  </m:oMath>
                </a14:m>
                <a:endParaRPr lang="en-US" sz="2400" dirty="0"/>
              </a:p>
              <a:p>
                <a:pPr lvl="1">
                  <a:buFont typeface="Wingdings" panose="05000000000000000000" pitchFamily="2" charset="2"/>
                  <a:buChar char="Ø"/>
                </a:pPr>
                <a:r>
                  <a:rPr lang="en-US" sz="1600" dirty="0"/>
                  <a:t>Scales each feature in range </a:t>
                </a:r>
                <a14:m>
                  <m:oMath xmlns:m="http://schemas.openxmlformats.org/officeDocument/2006/math">
                    <m:r>
                      <a:rPr lang="en-US" sz="1600" i="1">
                        <a:latin typeface="Cambria Math" panose="02040503050406030204" pitchFamily="18" charset="0"/>
                      </a:rPr>
                      <m:t>[</m:t>
                    </m:r>
                    <m:r>
                      <a:rPr lang="en-US" sz="1600" b="0" i="1" smtClean="0">
                        <a:latin typeface="Cambria Math" panose="02040503050406030204" pitchFamily="18" charset="0"/>
                      </a:rPr>
                      <m:t>−1.0,</m:t>
                    </m:r>
                    <m:r>
                      <a:rPr lang="en-US" sz="1600" i="1">
                        <a:latin typeface="Cambria Math" panose="02040503050406030204" pitchFamily="18" charset="0"/>
                      </a:rPr>
                      <m:t> 1.0]</m:t>
                    </m:r>
                  </m:oMath>
                </a14:m>
                <a:r>
                  <a:rPr lang="en-US" sz="1600" dirty="0"/>
                  <a:t>. Does not change the data distribution.</a:t>
                </a:r>
              </a:p>
              <a:p>
                <a:pPr lvl="1">
                  <a:buFont typeface="Wingdings" panose="05000000000000000000" pitchFamily="2" charset="2"/>
                  <a:buChar char="Ø"/>
                </a:pPr>
                <a:r>
                  <a:rPr lang="en-US" sz="1600" dirty="0"/>
                  <a:t>Good normalizer when value range is bounded both negatively and positively (e.g., </a:t>
                </a:r>
                <a14:m>
                  <m:oMath xmlns:m="http://schemas.openxmlformats.org/officeDocument/2006/math">
                    <m:r>
                      <a:rPr lang="en-US" sz="1600" i="1">
                        <a:latin typeface="Cambria Math" panose="02040503050406030204" pitchFamily="18" charset="0"/>
                      </a:rPr>
                      <m:t>𝑥</m:t>
                    </m:r>
                    <m:r>
                      <a:rPr lang="en-US" sz="1600" i="1">
                        <a:latin typeface="Cambria Math" panose="02040503050406030204" pitchFamily="18" charset="0"/>
                        <a:ea typeface="Cambria Math" panose="02040503050406030204" pitchFamily="18" charset="0"/>
                      </a:rPr>
                      <m:t>∈[−100, 200]</m:t>
                    </m:r>
                  </m:oMath>
                </a14:m>
                <a:r>
                  <a:rPr lang="en-US" sz="1600" dirty="0"/>
                  <a:t>). It retains the value’s sign.</a:t>
                </a:r>
              </a:p>
              <a:p>
                <a:pPr lvl="1">
                  <a:buFont typeface="Wingdings" panose="05000000000000000000" pitchFamily="2" charset="2"/>
                  <a:buChar char="Ø"/>
                </a:pPr>
                <a:r>
                  <a:rPr lang="en-US" sz="1600" b="1" dirty="0"/>
                  <a:t>Limitation</a:t>
                </a:r>
                <a:r>
                  <a:rPr lang="en-US" sz="1600" dirty="0"/>
                  <a: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𝑚𝑎𝑥</m:t>
                        </m:r>
                      </m:sub>
                    </m:sSub>
                    <m:r>
                      <a:rPr lang="en-US" sz="1600" i="1">
                        <a:latin typeface="Cambria Math" panose="02040503050406030204" pitchFamily="18" charset="0"/>
                      </a:rPr>
                      <m:t> </m:t>
                    </m:r>
                  </m:oMath>
                </a14:m>
                <a:r>
                  <a:rPr lang="en-US" sz="1600" dirty="0"/>
                  <a:t>can be affected by outliers.</a:t>
                </a:r>
              </a:p>
              <a:p>
                <a:r>
                  <a:rPr lang="en-US" sz="2000" b="1" dirty="0"/>
                  <a:t>Standard Scaler: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r>
                          <a:rPr lang="el-GR" sz="2000" b="0" i="1" smtClean="0">
                            <a:latin typeface="Cambria Math" panose="02040503050406030204" pitchFamily="18" charset="0"/>
                          </a:rPr>
                          <m:t>−</m:t>
                        </m:r>
                        <m:r>
                          <a:rPr lang="el-GR" sz="2000" b="0" i="1" smtClean="0">
                            <a:latin typeface="Cambria Math" panose="02040503050406030204" pitchFamily="18" charset="0"/>
                          </a:rPr>
                          <m:t>𝜇</m:t>
                        </m:r>
                      </m:num>
                      <m:den>
                        <m:r>
                          <a:rPr lang="el-GR" sz="2000" b="0" i="1" smtClean="0">
                            <a:latin typeface="Cambria Math" panose="02040503050406030204" pitchFamily="18" charset="0"/>
                          </a:rPr>
                          <m:t>𝜎</m:t>
                        </m:r>
                      </m:den>
                    </m:f>
                  </m:oMath>
                </a14:m>
                <a:r>
                  <a:rPr lang="en-US" sz="2000" dirty="0"/>
                  <a:t>, where </a:t>
                </a:r>
                <a14:m>
                  <m:oMath xmlns:m="http://schemas.openxmlformats.org/officeDocument/2006/math">
                    <m:r>
                      <a:rPr lang="el-GR" sz="2000" b="0" i="1" smtClean="0">
                        <a:latin typeface="Cambria Math" panose="02040503050406030204" pitchFamily="18" charset="0"/>
                      </a:rPr>
                      <m:t>𝜇</m:t>
                    </m:r>
                    <m:r>
                      <a:rPr lang="el-GR" sz="2000" b="0" i="1" smtClean="0">
                        <a:latin typeface="Cambria Math" panose="02040503050406030204" pitchFamily="18" charset="0"/>
                      </a:rPr>
                      <m:t>,</m:t>
                    </m:r>
                    <m:r>
                      <a:rPr lang="el-GR" sz="2000" b="0" i="1" smtClean="0">
                        <a:latin typeface="Cambria Math" panose="02040503050406030204" pitchFamily="18" charset="0"/>
                      </a:rPr>
                      <m:t>𝜎</m:t>
                    </m:r>
                  </m:oMath>
                </a14:m>
                <a:r>
                  <a:rPr lang="el-GR" sz="1600" dirty="0"/>
                  <a:t> </a:t>
                </a:r>
                <a:r>
                  <a:rPr lang="en-US" sz="1600" dirty="0"/>
                  <a:t>are mean and standard deviation of </a:t>
                </a:r>
                <a14:m>
                  <m:oMath xmlns:m="http://schemas.openxmlformats.org/officeDocument/2006/math">
                    <m:r>
                      <a:rPr lang="en-US" sz="1600" b="0" i="1" smtClean="0">
                        <a:latin typeface="Cambria Math" panose="02040503050406030204" pitchFamily="18" charset="0"/>
                      </a:rPr>
                      <m:t>𝑥</m:t>
                    </m:r>
                  </m:oMath>
                </a14:m>
                <a:r>
                  <a:rPr lang="en-US" sz="1600" dirty="0"/>
                  <a:t>:</a:t>
                </a:r>
              </a:p>
              <a:p>
                <a:pPr lvl="1">
                  <a:buFont typeface="Wingdings" panose="05000000000000000000" pitchFamily="2" charset="2"/>
                  <a:buChar char="Ø"/>
                </a:pPr>
                <a:r>
                  <a:rPr lang="en-US" sz="1600" dirty="0"/>
                  <a:t>Centers the distribution around 0.0. Does not change the data distribution.</a:t>
                </a:r>
              </a:p>
              <a:p>
                <a:pPr lvl="1">
                  <a:buFont typeface="Wingdings" panose="05000000000000000000" pitchFamily="2" charset="2"/>
                  <a:buChar char="Ø"/>
                </a:pPr>
                <a:r>
                  <a:rPr lang="en-US" sz="1600" dirty="0"/>
                  <a:t>Good normalizer for most of tasks. </a:t>
                </a:r>
              </a:p>
              <a:p>
                <a:pPr lvl="1">
                  <a:buFont typeface="Wingdings" panose="05000000000000000000" pitchFamily="2" charset="2"/>
                  <a:buChar char="Ø"/>
                </a:pPr>
                <a:r>
                  <a:rPr lang="en-US" sz="1600" b="1" dirty="0"/>
                  <a:t>Limitation</a:t>
                </a:r>
                <a:r>
                  <a:rPr lang="en-US" sz="1600" dirty="0"/>
                  <a:t>: Can be affected by outliers and </a:t>
                </a:r>
                <a14:m>
                  <m:oMath xmlns:m="http://schemas.openxmlformats.org/officeDocument/2006/math">
                    <m:r>
                      <a:rPr lang="el-GR" sz="1600" b="0" i="1" smtClean="0">
                        <a:latin typeface="Cambria Math" panose="02040503050406030204" pitchFamily="18" charset="0"/>
                      </a:rPr>
                      <m:t>𝜇</m:t>
                    </m:r>
                    <m:r>
                      <a:rPr lang="el-GR" sz="1600" b="0" i="1" smtClean="0">
                        <a:latin typeface="Cambria Math" panose="02040503050406030204" pitchFamily="18" charset="0"/>
                      </a:rPr>
                      <m:t>,</m:t>
                    </m:r>
                    <m:r>
                      <a:rPr lang="el-GR" sz="1600" b="0" i="1" smtClean="0">
                        <a:latin typeface="Cambria Math" panose="02040503050406030204" pitchFamily="18" charset="0"/>
                      </a:rPr>
                      <m:t>𝜎</m:t>
                    </m:r>
                  </m:oMath>
                </a14:m>
                <a:r>
                  <a:rPr lang="el-GR" sz="1600" dirty="0"/>
                  <a:t> </a:t>
                </a:r>
                <a:r>
                  <a:rPr lang="en-US" sz="1600" dirty="0"/>
                  <a:t>can be affected by outliers..</a:t>
                </a:r>
              </a:p>
              <a:p>
                <a:r>
                  <a:rPr lang="en-US" sz="2000" b="1" dirty="0"/>
                  <a:t>Robust Scaler: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m:t>
                        </m:r>
                      </m:sub>
                      <m:sup>
                        <m:r>
                          <a:rPr lang="en-US" sz="2000" i="1">
                            <a:latin typeface="Cambria Math" panose="02040503050406030204" pitchFamily="18" charset="0"/>
                          </a:rPr>
                          <m:t>′</m:t>
                        </m:r>
                      </m:sup>
                    </m:sSubSup>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r>
                          <a:rPr lang="el-GR" sz="2000" i="1">
                            <a:latin typeface="Cambria Math" panose="02040503050406030204" pitchFamily="18" charset="0"/>
                          </a:rPr>
                          <m:t>𝛿</m:t>
                        </m:r>
                      </m:num>
                      <m:den>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75</m:t>
                                </m:r>
                              </m:sub>
                            </m:sSub>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25</m:t>
                                </m:r>
                              </m:sub>
                            </m:sSub>
                          </m:sub>
                        </m:sSub>
                      </m:den>
                    </m:f>
                  </m:oMath>
                </a14:m>
                <a:r>
                  <a:rPr lang="en-US" sz="2000" dirty="0"/>
                  <a:t>, where </a:t>
                </a:r>
                <a14:m>
                  <m:oMath xmlns:m="http://schemas.openxmlformats.org/officeDocument/2006/math">
                    <m:r>
                      <a:rPr lang="el-GR" sz="2000" b="0" i="1" smtClean="0">
                        <a:latin typeface="Cambria Math" panose="02040503050406030204" pitchFamily="18" charset="0"/>
                      </a:rPr>
                      <m:t>𝛿</m:t>
                    </m:r>
                  </m:oMath>
                </a14:m>
                <a:r>
                  <a:rPr lang="el-GR" sz="2000" b="1" dirty="0"/>
                  <a:t> </a:t>
                </a:r>
                <a:r>
                  <a:rPr lang="en-US" sz="2000" dirty="0"/>
                  <a:t>is median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75</m:t>
                            </m:r>
                          </m:sub>
                        </m:sSub>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25</m:t>
                            </m:r>
                          </m:sub>
                        </m:sSub>
                      </m:sub>
                    </m:sSub>
                  </m:oMath>
                </a14:m>
                <a:r>
                  <a:rPr lang="en-US" sz="2000" b="1" dirty="0"/>
                  <a:t> </a:t>
                </a:r>
                <a:r>
                  <a:rPr lang="en-US" sz="2000" dirty="0"/>
                  <a:t>are the 3</a:t>
                </a:r>
                <a:r>
                  <a:rPr lang="en-US" sz="2000" baseline="30000" dirty="0"/>
                  <a:t>rd</a:t>
                </a:r>
                <a:r>
                  <a:rPr lang="en-US" sz="2000" dirty="0"/>
                  <a:t>, 2</a:t>
                </a:r>
                <a:r>
                  <a:rPr lang="en-US" sz="2000" baseline="30000" dirty="0"/>
                  <a:t>nd</a:t>
                </a:r>
                <a:r>
                  <a:rPr lang="en-US" sz="2000" dirty="0"/>
                  <a:t> quartiles of </a:t>
                </a:r>
                <a14:m>
                  <m:oMath xmlns:m="http://schemas.openxmlformats.org/officeDocument/2006/math">
                    <m:r>
                      <a:rPr lang="en-US" sz="2000" b="0" i="1" smtClean="0">
                        <a:latin typeface="Cambria Math" panose="02040503050406030204" pitchFamily="18" charset="0"/>
                      </a:rPr>
                      <m:t>𝑥</m:t>
                    </m:r>
                  </m:oMath>
                </a14:m>
                <a:r>
                  <a:rPr lang="en-US" sz="2000" b="1" dirty="0"/>
                  <a:t> </a:t>
                </a:r>
                <a:r>
                  <a:rPr lang="en-US" sz="2000" dirty="0"/>
                  <a:t>respectively.</a:t>
                </a:r>
              </a:p>
              <a:p>
                <a:pPr lvl="1">
                  <a:buFont typeface="Wingdings" panose="05000000000000000000" pitchFamily="2" charset="2"/>
                  <a:buChar char="Ø"/>
                </a:pPr>
                <a:r>
                  <a:rPr lang="en-US" sz="1600" dirty="0"/>
                  <a:t>Similar to Standard Scaler, but replaces </a:t>
                </a:r>
                <a14:m>
                  <m:oMath xmlns:m="http://schemas.openxmlformats.org/officeDocument/2006/math">
                    <m:r>
                      <a:rPr lang="el-GR" sz="1600" b="0" i="1" smtClean="0">
                        <a:latin typeface="Cambria Math" panose="02040503050406030204" pitchFamily="18" charset="0"/>
                      </a:rPr>
                      <m:t>𝜇</m:t>
                    </m:r>
                  </m:oMath>
                </a14:m>
                <a:r>
                  <a:rPr lang="el-GR" sz="1600" dirty="0"/>
                  <a:t> </a:t>
                </a:r>
                <a:r>
                  <a:rPr lang="en-US" sz="1600" dirty="0"/>
                  <a:t>with </a:t>
                </a:r>
                <a14:m>
                  <m:oMath xmlns:m="http://schemas.openxmlformats.org/officeDocument/2006/math">
                    <m:r>
                      <a:rPr lang="el-GR" sz="1600" b="0" i="1" smtClean="0">
                        <a:latin typeface="Cambria Math" panose="02040503050406030204" pitchFamily="18" charset="0"/>
                      </a:rPr>
                      <m:t>𝛿</m:t>
                    </m:r>
                  </m:oMath>
                </a14:m>
                <a:r>
                  <a:rPr lang="el-GR" sz="1600" dirty="0"/>
                  <a:t> </a:t>
                </a:r>
                <a:r>
                  <a:rPr lang="en-US" sz="1600" dirty="0"/>
                  <a:t>and </a:t>
                </a:r>
                <a14:m>
                  <m:oMath xmlns:m="http://schemas.openxmlformats.org/officeDocument/2006/math">
                    <m:r>
                      <a:rPr lang="el-GR" sz="1600" b="0" i="1" smtClean="0">
                        <a:latin typeface="Cambria Math" panose="02040503050406030204" pitchFamily="18" charset="0"/>
                      </a:rPr>
                      <m:t>𝜎</m:t>
                    </m:r>
                  </m:oMath>
                </a14:m>
                <a:r>
                  <a:rPr lang="el-GR" sz="1600" dirty="0"/>
                  <a:t> </a:t>
                </a:r>
                <a:r>
                  <a:rPr lang="en-US" sz="1600" dirty="0"/>
                  <a:t>with interquartile range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sSub>
                          <m:sSubPr>
                            <m:ctrlPr>
                              <a:rPr lang="en-US" sz="1600" i="1">
                                <a:latin typeface="Cambria Math" panose="02040503050406030204" pitchFamily="18" charset="0"/>
                              </a:rPr>
                            </m:ctrlPr>
                          </m:sSubPr>
                          <m:e>
                            <m:r>
                              <a:rPr lang="en-US" sz="1600" i="1">
                                <a:latin typeface="Cambria Math" panose="02040503050406030204" pitchFamily="18" charset="0"/>
                              </a:rPr>
                              <m:t>𝑖</m:t>
                            </m:r>
                          </m:e>
                          <m:sub>
                            <m:r>
                              <a:rPr lang="en-US" sz="1600" i="1">
                                <a:latin typeface="Cambria Math" panose="02040503050406030204" pitchFamily="18" charset="0"/>
                              </a:rPr>
                              <m:t>75</m:t>
                            </m:r>
                          </m:sub>
                        </m:sSub>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sSub>
                          <m:sSubPr>
                            <m:ctrlPr>
                              <a:rPr lang="en-US" sz="1600" i="1">
                                <a:latin typeface="Cambria Math" panose="02040503050406030204" pitchFamily="18" charset="0"/>
                              </a:rPr>
                            </m:ctrlPr>
                          </m:sSubPr>
                          <m:e>
                            <m:r>
                              <a:rPr lang="en-US" sz="1600" i="1">
                                <a:latin typeface="Cambria Math" panose="02040503050406030204" pitchFamily="18" charset="0"/>
                              </a:rPr>
                              <m:t>𝑖</m:t>
                            </m:r>
                          </m:e>
                          <m:sub>
                            <m:r>
                              <a:rPr lang="en-US" sz="1600" i="1">
                                <a:latin typeface="Cambria Math" panose="02040503050406030204" pitchFamily="18" charset="0"/>
                              </a:rPr>
                              <m:t>25</m:t>
                            </m:r>
                          </m:sub>
                        </m:sSub>
                      </m:sub>
                    </m:sSub>
                  </m:oMath>
                </a14:m>
                <a:r>
                  <a:rPr lang="en-US" sz="1600" dirty="0"/>
                  <a:t> to filter outliers.</a:t>
                </a:r>
              </a:p>
              <a:p>
                <a:pPr lvl="1"/>
                <a:endParaRPr lang="en-US" sz="1600" b="1" dirty="0"/>
              </a:p>
              <a:p>
                <a:pPr>
                  <a:buFont typeface="Wingdings" panose="05000000000000000000" pitchFamily="2" charset="2"/>
                  <a:buChar char="Ø"/>
                </a:pPr>
                <a:endParaRPr lang="en-US" sz="2000" dirty="0"/>
              </a:p>
            </p:txBody>
          </p:sp>
        </mc:Choice>
        <mc:Fallback xmlns="">
          <p:sp>
            <p:nvSpPr>
              <p:cNvPr id="3" name="Θέση περιεχομένου 2">
                <a:extLst>
                  <a:ext uri="{FF2B5EF4-FFF2-40B4-BE49-F238E27FC236}">
                    <a16:creationId xmlns:a16="http://schemas.microsoft.com/office/drawing/2014/main" id="{1CDCF341-CA9D-C132-A7A5-F1E34DE1BF48}"/>
                  </a:ext>
                </a:extLst>
              </p:cNvPr>
              <p:cNvSpPr>
                <a:spLocks noGrp="1" noRot="1" noChangeAspect="1" noMove="1" noResize="1" noEditPoints="1" noAdjustHandles="1" noChangeArrowheads="1" noChangeShapeType="1" noTextEdit="1"/>
              </p:cNvSpPr>
              <p:nvPr>
                <p:ph idx="1"/>
              </p:nvPr>
            </p:nvSpPr>
            <p:spPr>
              <a:xfrm>
                <a:off x="838200" y="1097280"/>
                <a:ext cx="10515600" cy="5259070"/>
              </a:xfrm>
              <a:blipFill>
                <a:blip r:embed="rId2"/>
                <a:stretch>
                  <a:fillRect l="-522" t="-927"/>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8273999A-1160-05AD-3FBF-8D5F285C4EE2}"/>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589CEF52-DAEC-0CA6-A18D-693D55201647}"/>
              </a:ext>
            </a:extLst>
          </p:cNvPr>
          <p:cNvSpPr>
            <a:spLocks noGrp="1"/>
          </p:cNvSpPr>
          <p:nvPr>
            <p:ph type="sldNum" sz="quarter" idx="12"/>
          </p:nvPr>
        </p:nvSpPr>
        <p:spPr/>
        <p:txBody>
          <a:bodyPr/>
          <a:lstStyle/>
          <a:p>
            <a:fld id="{4ACA1919-B5C6-4827-8B15-372F46BB4020}" type="slidenum">
              <a:rPr lang="en-US" smtClean="0"/>
              <a:t>11</a:t>
            </a:fld>
            <a:endParaRPr lang="en-US"/>
          </a:p>
        </p:txBody>
      </p:sp>
    </p:spTree>
    <p:extLst>
      <p:ext uri="{BB962C8B-B14F-4D97-AF65-F5344CB8AC3E}">
        <p14:creationId xmlns:p14="http://schemas.microsoft.com/office/powerpoint/2010/main" val="188094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02BE8E6-D74E-7E31-61C3-8431CD5B9049}"/>
              </a:ext>
            </a:extLst>
          </p:cNvPr>
          <p:cNvSpPr>
            <a:spLocks noGrp="1"/>
          </p:cNvSpPr>
          <p:nvPr>
            <p:ph type="title"/>
          </p:nvPr>
        </p:nvSpPr>
        <p:spPr>
          <a:xfrm>
            <a:off x="838200" y="136525"/>
            <a:ext cx="10515600" cy="1325563"/>
          </a:xfrm>
        </p:spPr>
        <p:txBody>
          <a:bodyPr/>
          <a:lstStyle/>
          <a:p>
            <a:r>
              <a:rPr lang="en-US" dirty="0"/>
              <a:t>Data Normalization Methods Comparison</a:t>
            </a:r>
          </a:p>
        </p:txBody>
      </p:sp>
      <p:sp>
        <p:nvSpPr>
          <p:cNvPr id="4" name="Θέση υποσέλιδου 3">
            <a:extLst>
              <a:ext uri="{FF2B5EF4-FFF2-40B4-BE49-F238E27FC236}">
                <a16:creationId xmlns:a16="http://schemas.microsoft.com/office/drawing/2014/main" id="{46ADE74B-0898-F0F8-B5B9-2F528907ADF0}"/>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CFDBEDCD-A524-2B06-451C-BA73BD1178D8}"/>
              </a:ext>
            </a:extLst>
          </p:cNvPr>
          <p:cNvSpPr>
            <a:spLocks noGrp="1"/>
          </p:cNvSpPr>
          <p:nvPr>
            <p:ph type="sldNum" sz="quarter" idx="12"/>
          </p:nvPr>
        </p:nvSpPr>
        <p:spPr/>
        <p:txBody>
          <a:bodyPr/>
          <a:lstStyle/>
          <a:p>
            <a:fld id="{4ACA1919-B5C6-4827-8B15-372F46BB4020}" type="slidenum">
              <a:rPr lang="en-US" smtClean="0"/>
              <a:t>12</a:t>
            </a:fld>
            <a:endParaRPr lang="en-US"/>
          </a:p>
        </p:txBody>
      </p:sp>
      <p:pic>
        <p:nvPicPr>
          <p:cNvPr id="1026" name="Picture 2" descr="StandardScaler, MinMaxScaler and RobustScaler techniques - ML -  GeeksforGeeks">
            <a:extLst>
              <a:ext uri="{FF2B5EF4-FFF2-40B4-BE49-F238E27FC236}">
                <a16:creationId xmlns:a16="http://schemas.microsoft.com/office/drawing/2014/main" id="{BC69F91D-A57A-B74C-68C8-7754DCF27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477" y="1225674"/>
            <a:ext cx="9893046" cy="2993677"/>
          </a:xfrm>
          <a:prstGeom prst="rect">
            <a:avLst/>
          </a:prstGeom>
          <a:noFill/>
          <a:extLst>
            <a:ext uri="{909E8E84-426E-40DD-AFC4-6F175D3DCCD1}">
              <a14:hiddenFill xmlns:a14="http://schemas.microsoft.com/office/drawing/2010/main">
                <a:solidFill>
                  <a:srgbClr val="FFFFFF"/>
                </a:solidFill>
              </a14:hiddenFill>
            </a:ext>
          </a:extLst>
        </p:spPr>
      </p:pic>
      <p:pic>
        <p:nvPicPr>
          <p:cNvPr id="6" name="Εικόνα 5">
            <a:extLst>
              <a:ext uri="{FF2B5EF4-FFF2-40B4-BE49-F238E27FC236}">
                <a16:creationId xmlns:a16="http://schemas.microsoft.com/office/drawing/2014/main" id="{DAF417A4-EA84-F3F4-D442-960D6D91AD99}"/>
              </a:ext>
            </a:extLst>
          </p:cNvPr>
          <p:cNvPicPr>
            <a:picLocks noChangeAspect="1"/>
          </p:cNvPicPr>
          <p:nvPr/>
        </p:nvPicPr>
        <p:blipFill>
          <a:blip r:embed="rId3"/>
          <a:stretch>
            <a:fillRect/>
          </a:stretch>
        </p:blipFill>
        <p:spPr>
          <a:xfrm>
            <a:off x="1351535" y="3913512"/>
            <a:ext cx="4744465" cy="2288619"/>
          </a:xfrm>
          <a:prstGeom prst="rect">
            <a:avLst/>
          </a:prstGeom>
        </p:spPr>
      </p:pic>
      <p:pic>
        <p:nvPicPr>
          <p:cNvPr id="7" name="Εικόνα 6">
            <a:extLst>
              <a:ext uri="{FF2B5EF4-FFF2-40B4-BE49-F238E27FC236}">
                <a16:creationId xmlns:a16="http://schemas.microsoft.com/office/drawing/2014/main" id="{20A0203E-9B9E-F98C-AC54-D6D717C2E038}"/>
              </a:ext>
            </a:extLst>
          </p:cNvPr>
          <p:cNvPicPr>
            <a:picLocks noChangeAspect="1"/>
          </p:cNvPicPr>
          <p:nvPr/>
        </p:nvPicPr>
        <p:blipFill>
          <a:blip r:embed="rId4"/>
          <a:stretch>
            <a:fillRect/>
          </a:stretch>
        </p:blipFill>
        <p:spPr>
          <a:xfrm>
            <a:off x="6696369" y="3865181"/>
            <a:ext cx="3910671" cy="2299046"/>
          </a:xfrm>
          <a:prstGeom prst="rect">
            <a:avLst/>
          </a:prstGeom>
        </p:spPr>
      </p:pic>
    </p:spTree>
    <p:extLst>
      <p:ext uri="{BB962C8B-B14F-4D97-AF65-F5344CB8AC3E}">
        <p14:creationId xmlns:p14="http://schemas.microsoft.com/office/powerpoint/2010/main" val="464830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E2101B8-53AF-7DAC-C66B-54351B631FC3}"/>
              </a:ext>
            </a:extLst>
          </p:cNvPr>
          <p:cNvSpPr>
            <a:spLocks noGrp="1"/>
          </p:cNvSpPr>
          <p:nvPr>
            <p:ph type="title"/>
          </p:nvPr>
        </p:nvSpPr>
        <p:spPr>
          <a:xfrm>
            <a:off x="838200" y="136525"/>
            <a:ext cx="10515600" cy="1325563"/>
          </a:xfrm>
        </p:spPr>
        <p:txBody>
          <a:bodyPr/>
          <a:lstStyle/>
          <a:p>
            <a:r>
              <a:rPr lang="en-US" dirty="0"/>
              <a:t>Missing Values</a:t>
            </a:r>
          </a:p>
        </p:txBody>
      </p:sp>
      <p:sp>
        <p:nvSpPr>
          <p:cNvPr id="3" name="Θέση περιεχομένου 2">
            <a:extLst>
              <a:ext uri="{FF2B5EF4-FFF2-40B4-BE49-F238E27FC236}">
                <a16:creationId xmlns:a16="http://schemas.microsoft.com/office/drawing/2014/main" id="{CE7EA4F9-63FC-8301-85B7-8F49905CFAF3}"/>
              </a:ext>
            </a:extLst>
          </p:cNvPr>
          <p:cNvSpPr>
            <a:spLocks noGrp="1"/>
          </p:cNvSpPr>
          <p:nvPr>
            <p:ph idx="1"/>
          </p:nvPr>
        </p:nvSpPr>
        <p:spPr>
          <a:xfrm>
            <a:off x="838200" y="1536192"/>
            <a:ext cx="10765536" cy="2660903"/>
          </a:xfrm>
        </p:spPr>
        <p:txBody>
          <a:bodyPr>
            <a:normAutofit/>
          </a:bodyPr>
          <a:lstStyle/>
          <a:p>
            <a:r>
              <a:rPr lang="en-US" sz="2000" dirty="0"/>
              <a:t>Methods that work well with categorical variables (e.g., trees), can handle missing values (depending on the implementation).</a:t>
            </a:r>
          </a:p>
          <a:p>
            <a:r>
              <a:rPr lang="en-US" sz="2000" dirty="0"/>
              <a:t>Other ML methods require only numerical values (e.g., Linear/Logistic Regression, KNN, etc.).</a:t>
            </a:r>
          </a:p>
          <a:p>
            <a:r>
              <a:rPr lang="en-US" sz="2000" dirty="0"/>
              <a:t>A simple approach is to drop all instances (rows) that include missing values.</a:t>
            </a:r>
            <a:endParaRPr lang="en-US" sz="1600" dirty="0"/>
          </a:p>
          <a:p>
            <a:pPr lvl="1">
              <a:buFont typeface="Wingdings" panose="05000000000000000000" pitchFamily="2" charset="2"/>
              <a:buChar char="Ø"/>
            </a:pPr>
            <a:r>
              <a:rPr lang="en-US" sz="1600" b="1" dirty="0"/>
              <a:t>Limitation</a:t>
            </a:r>
            <a:r>
              <a:rPr lang="en-US" sz="1600" dirty="0"/>
              <a:t>: If the dataset small (low number of instances), we might not afford to drop these instances.</a:t>
            </a:r>
          </a:p>
          <a:p>
            <a:pPr lvl="1">
              <a:buFont typeface="Wingdings" panose="05000000000000000000" pitchFamily="2" charset="2"/>
              <a:buChar char="Ø"/>
            </a:pPr>
            <a:r>
              <a:rPr lang="en-US" sz="1600" dirty="0"/>
              <a:t>For example, in dataset with 1000 total instances, 400 of them include missing values. If we drop them, we lose 40% of the collected data.</a:t>
            </a:r>
          </a:p>
          <a:p>
            <a:r>
              <a:rPr lang="en-US" sz="2000" dirty="0"/>
              <a:t>Another approach is the use of imputation methods, which fill the missing values.</a:t>
            </a:r>
          </a:p>
        </p:txBody>
      </p:sp>
      <p:sp>
        <p:nvSpPr>
          <p:cNvPr id="4" name="Θέση υποσέλιδου 3">
            <a:extLst>
              <a:ext uri="{FF2B5EF4-FFF2-40B4-BE49-F238E27FC236}">
                <a16:creationId xmlns:a16="http://schemas.microsoft.com/office/drawing/2014/main" id="{9F78085C-02E9-20A0-B0D9-E197A0DA65C8}"/>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8E491212-BCBE-FA6A-EC9B-6ED5397B024D}"/>
              </a:ext>
            </a:extLst>
          </p:cNvPr>
          <p:cNvSpPr>
            <a:spLocks noGrp="1"/>
          </p:cNvSpPr>
          <p:nvPr>
            <p:ph type="sldNum" sz="quarter" idx="12"/>
          </p:nvPr>
        </p:nvSpPr>
        <p:spPr/>
        <p:txBody>
          <a:bodyPr/>
          <a:lstStyle/>
          <a:p>
            <a:fld id="{4ACA1919-B5C6-4827-8B15-372F46BB4020}" type="slidenum">
              <a:rPr lang="en-US" smtClean="0"/>
              <a:t>13</a:t>
            </a:fld>
            <a:endParaRPr lang="en-US"/>
          </a:p>
        </p:txBody>
      </p:sp>
      <p:pic>
        <p:nvPicPr>
          <p:cNvPr id="7" name="Εικόνα 6">
            <a:extLst>
              <a:ext uri="{FF2B5EF4-FFF2-40B4-BE49-F238E27FC236}">
                <a16:creationId xmlns:a16="http://schemas.microsoft.com/office/drawing/2014/main" id="{73618431-923E-3176-BF70-558DE22A86BC}"/>
              </a:ext>
            </a:extLst>
          </p:cNvPr>
          <p:cNvPicPr>
            <a:picLocks noChangeAspect="1"/>
          </p:cNvPicPr>
          <p:nvPr/>
        </p:nvPicPr>
        <p:blipFill>
          <a:blip r:embed="rId2"/>
          <a:stretch>
            <a:fillRect/>
          </a:stretch>
        </p:blipFill>
        <p:spPr>
          <a:xfrm>
            <a:off x="3514345" y="4295209"/>
            <a:ext cx="5570651" cy="2061141"/>
          </a:xfrm>
          <a:prstGeom prst="rect">
            <a:avLst/>
          </a:prstGeom>
        </p:spPr>
      </p:pic>
    </p:spTree>
    <p:extLst>
      <p:ext uri="{BB962C8B-B14F-4D97-AF65-F5344CB8AC3E}">
        <p14:creationId xmlns:p14="http://schemas.microsoft.com/office/powerpoint/2010/main" val="602827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0F69CA2-06EC-A0C2-6516-96D1441E2D88}"/>
              </a:ext>
            </a:extLst>
          </p:cNvPr>
          <p:cNvSpPr>
            <a:spLocks noGrp="1"/>
          </p:cNvSpPr>
          <p:nvPr>
            <p:ph type="title"/>
          </p:nvPr>
        </p:nvSpPr>
        <p:spPr>
          <a:xfrm>
            <a:off x="838200" y="136525"/>
            <a:ext cx="10515600" cy="1325563"/>
          </a:xfrm>
        </p:spPr>
        <p:txBody>
          <a:bodyPr/>
          <a:lstStyle/>
          <a:p>
            <a:r>
              <a:rPr lang="en-US" dirty="0"/>
              <a:t>Imputation Methods</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44B61A72-425D-4B89-E471-FEC25E1A9BF8}"/>
                  </a:ext>
                </a:extLst>
              </p:cNvPr>
              <p:cNvSpPr>
                <a:spLocks noGrp="1"/>
              </p:cNvSpPr>
              <p:nvPr>
                <p:ph idx="1"/>
              </p:nvPr>
            </p:nvSpPr>
            <p:spPr>
              <a:xfrm>
                <a:off x="838200" y="1462088"/>
                <a:ext cx="10515600" cy="4801552"/>
              </a:xfrm>
            </p:spPr>
            <p:txBody>
              <a:bodyPr>
                <a:normAutofit/>
              </a:bodyPr>
              <a:lstStyle/>
              <a:p>
                <a:r>
                  <a:rPr lang="en-US" sz="2000" b="1" dirty="0"/>
                  <a:t>Numerical Variables</a:t>
                </a:r>
                <a:r>
                  <a:rPr lang="en-US" sz="2000" dirty="0"/>
                  <a:t>:</a:t>
                </a:r>
              </a:p>
              <a:p>
                <a:pPr lvl="1">
                  <a:buFont typeface="Wingdings" panose="05000000000000000000" pitchFamily="2" charset="2"/>
                  <a:buChar char="Ø"/>
                </a:pPr>
                <a:r>
                  <a:rPr lang="en-US" sz="1600" b="1" dirty="0"/>
                  <a:t>Filling with 0 or -1</a:t>
                </a:r>
                <a:r>
                  <a:rPr lang="en-US" sz="1600" dirty="0"/>
                  <a:t>: the simplest imputation method. Filling with 0 eliminates the input in many models (e.g., 0</a:t>
                </a:r>
                <a14:m>
                  <m:oMath xmlns:m="http://schemas.openxmlformats.org/officeDocument/2006/math">
                    <m:r>
                      <a:rPr lang="en-US" sz="1600" b="0" i="1" smtClean="0">
                        <a:latin typeface="Cambria Math" panose="02040503050406030204" pitchFamily="18" charset="0"/>
                      </a:rPr>
                      <m:t>𝑤</m:t>
                    </m:r>
                    <m:r>
                      <a:rPr lang="en-US" sz="1600" b="0" i="1" smtClean="0">
                        <a:latin typeface="Cambria Math" panose="02040503050406030204" pitchFamily="18" charset="0"/>
                      </a:rPr>
                      <m:t>=0</m:t>
                    </m:r>
                  </m:oMath>
                </a14:m>
                <a:r>
                  <a:rPr lang="en-US" sz="1600" dirty="0"/>
                  <a:t> in linear regression). </a:t>
                </a:r>
                <a14:m>
                  <m:oMath xmlns:m="http://schemas.openxmlformats.org/officeDocument/2006/math">
                    <m:r>
                      <a:rPr lang="en-US" sz="1600" b="0" i="1" smtClean="0">
                        <a:latin typeface="Cambria Math" panose="02040503050406030204" pitchFamily="18" charset="0"/>
                      </a:rPr>
                      <m:t>−1</m:t>
                    </m:r>
                  </m:oMath>
                </a14:m>
                <a:r>
                  <a:rPr lang="en-US" sz="1600" dirty="0"/>
                  <a:t> is a good option when the value range is positive.</a:t>
                </a:r>
              </a:p>
              <a:p>
                <a:pPr lvl="1">
                  <a:buFont typeface="Wingdings" panose="05000000000000000000" pitchFamily="2" charset="2"/>
                  <a:buChar char="Ø"/>
                </a:pPr>
                <a:r>
                  <a:rPr lang="en-US" sz="1600" b="1" dirty="0"/>
                  <a:t>Mean/Median: </a:t>
                </a:r>
                <a:r>
                  <a:rPr lang="en-US" sz="1600" dirty="0"/>
                  <a:t>replaces the missing values of each variable with their respective mean/median (since mean is the most common value). However, it assumes that the observed mean/median is correct, which might not be true, especially if there are many missing values.</a:t>
                </a:r>
              </a:p>
              <a:p>
                <a:pPr lvl="1">
                  <a:buFont typeface="Wingdings" panose="05000000000000000000" pitchFamily="2" charset="2"/>
                  <a:buChar char="Ø"/>
                </a:pPr>
                <a:r>
                  <a:rPr lang="en-US" sz="1600" b="1" dirty="0"/>
                  <a:t>KNN: </a:t>
                </a:r>
                <a:r>
                  <a:rPr lang="en-US" sz="1600" dirty="0"/>
                  <a:t>Imputes the missing values based on the average value of the K-nearest instances.</a:t>
                </a:r>
              </a:p>
              <a:p>
                <a:pPr lvl="1">
                  <a:buFont typeface="Wingdings" panose="05000000000000000000" pitchFamily="2" charset="2"/>
                  <a:buChar char="Ø"/>
                </a:pPr>
                <a:r>
                  <a:rPr lang="en-US" sz="1600" b="1" dirty="0"/>
                  <a:t>Linear Regression: </a:t>
                </a:r>
                <a:r>
                  <a:rPr lang="en-US" sz="1600" dirty="0"/>
                  <a:t>Trains a linear regression model in the rest of the dataset to predict the missing variable with the missing values. Then, it uses the trained model to predict the missing ones. It requires the other variables not to present missing values.</a:t>
                </a:r>
              </a:p>
              <a:p>
                <a:r>
                  <a:rPr lang="en-US" sz="2000" b="1" dirty="0"/>
                  <a:t>Categorical Variables :</a:t>
                </a:r>
              </a:p>
              <a:p>
                <a:pPr lvl="1">
                  <a:buFont typeface="Wingdings" panose="05000000000000000000" pitchFamily="2" charset="2"/>
                  <a:buChar char="Ø"/>
                </a:pPr>
                <a:r>
                  <a:rPr lang="en-US" sz="1600" b="1" dirty="0"/>
                  <a:t>Most frequent</a:t>
                </a:r>
                <a:r>
                  <a:rPr lang="en-US" sz="1600" dirty="0"/>
                  <a:t>: similar to the mean/median, it fills the missing values with the most frequent category. </a:t>
                </a:r>
              </a:p>
              <a:p>
                <a:pPr lvl="1">
                  <a:buFont typeface="Wingdings" panose="05000000000000000000" pitchFamily="2" charset="2"/>
                  <a:buChar char="Ø"/>
                </a:pPr>
                <a:r>
                  <a:rPr lang="en-US" sz="1600" b="1" dirty="0"/>
                  <a:t>Missing Category</a:t>
                </a:r>
                <a:r>
                  <a:rPr lang="en-US" sz="1600" dirty="0"/>
                  <a:t>: It enables the algorithm to treat missing values as a unique category. It can be used to train algorithms that can work with categorical variables (such as trees).</a:t>
                </a:r>
              </a:p>
            </p:txBody>
          </p:sp>
        </mc:Choice>
        <mc:Fallback xmlns="">
          <p:sp>
            <p:nvSpPr>
              <p:cNvPr id="3" name="Θέση περιεχομένου 2">
                <a:extLst>
                  <a:ext uri="{FF2B5EF4-FFF2-40B4-BE49-F238E27FC236}">
                    <a16:creationId xmlns:a16="http://schemas.microsoft.com/office/drawing/2014/main" id="{44B61A72-425D-4B89-E471-FEC25E1A9BF8}"/>
                  </a:ext>
                </a:extLst>
              </p:cNvPr>
              <p:cNvSpPr>
                <a:spLocks noGrp="1" noRot="1" noChangeAspect="1" noMove="1" noResize="1" noEditPoints="1" noAdjustHandles="1" noChangeArrowheads="1" noChangeShapeType="1" noTextEdit="1"/>
              </p:cNvSpPr>
              <p:nvPr>
                <p:ph idx="1"/>
              </p:nvPr>
            </p:nvSpPr>
            <p:spPr>
              <a:xfrm>
                <a:off x="838200" y="1462088"/>
                <a:ext cx="10515600" cy="4801552"/>
              </a:xfrm>
              <a:blipFill>
                <a:blip r:embed="rId2"/>
                <a:stretch>
                  <a:fillRect l="-522" t="-1269"/>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50FBC81F-308A-BCF5-B427-F88FC139AE42}"/>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75512B89-4E21-0EF2-CCCA-E329F6FC0506}"/>
              </a:ext>
            </a:extLst>
          </p:cNvPr>
          <p:cNvSpPr>
            <a:spLocks noGrp="1"/>
          </p:cNvSpPr>
          <p:nvPr>
            <p:ph type="sldNum" sz="quarter" idx="12"/>
          </p:nvPr>
        </p:nvSpPr>
        <p:spPr/>
        <p:txBody>
          <a:bodyPr/>
          <a:lstStyle/>
          <a:p>
            <a:fld id="{4ACA1919-B5C6-4827-8B15-372F46BB4020}" type="slidenum">
              <a:rPr lang="en-US" smtClean="0"/>
              <a:t>14</a:t>
            </a:fld>
            <a:endParaRPr lang="en-US"/>
          </a:p>
        </p:txBody>
      </p:sp>
    </p:spTree>
    <p:extLst>
      <p:ext uri="{BB962C8B-B14F-4D97-AF65-F5344CB8AC3E}">
        <p14:creationId xmlns:p14="http://schemas.microsoft.com/office/powerpoint/2010/main" val="1401513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7EA6C4B-C221-5876-E3AF-B22D85991766}"/>
              </a:ext>
            </a:extLst>
          </p:cNvPr>
          <p:cNvSpPr>
            <a:spLocks noGrp="1"/>
          </p:cNvSpPr>
          <p:nvPr>
            <p:ph type="title"/>
          </p:nvPr>
        </p:nvSpPr>
        <p:spPr>
          <a:xfrm>
            <a:off x="838200" y="66833"/>
            <a:ext cx="10515600" cy="1119061"/>
          </a:xfrm>
        </p:spPr>
        <p:txBody>
          <a:bodyPr/>
          <a:lstStyle/>
          <a:p>
            <a:r>
              <a:rPr lang="en-US" dirty="0"/>
              <a:t>Discretization</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7DCF49D9-96AF-F7CE-71DE-19FE894EEB69}"/>
                  </a:ext>
                </a:extLst>
              </p:cNvPr>
              <p:cNvSpPr>
                <a:spLocks noGrp="1"/>
              </p:cNvSpPr>
              <p:nvPr>
                <p:ph idx="1"/>
              </p:nvPr>
            </p:nvSpPr>
            <p:spPr>
              <a:xfrm>
                <a:off x="664272" y="1199020"/>
                <a:ext cx="7155373" cy="5468747"/>
              </a:xfrm>
            </p:spPr>
            <p:txBody>
              <a:bodyPr>
                <a:normAutofit/>
              </a:bodyPr>
              <a:lstStyle/>
              <a:p>
                <a:r>
                  <a:rPr lang="en-US" sz="2000" dirty="0"/>
                  <a:t>Several regression and classification models, like decision trees and naive bayes, perform better with discrete values.</a:t>
                </a:r>
              </a:p>
              <a:p>
                <a:r>
                  <a:rPr lang="en-US" sz="2000" dirty="0"/>
                  <a:t>Discretization is the process of converting a continuous variable into a discrete one by dividing its range into a set of intervals.</a:t>
                </a:r>
              </a:p>
              <a:p>
                <a:pPr lvl="1">
                  <a:buFont typeface="Wingdings" panose="05000000000000000000" pitchFamily="2" charset="2"/>
                  <a:buChar char="Ø"/>
                </a:pPr>
                <a:r>
                  <a:rPr lang="en-US" sz="1600" dirty="0"/>
                  <a:t>Example: </a:t>
                </a:r>
                <a14:m>
                  <m:oMath xmlns:m="http://schemas.openxmlformats.org/officeDocument/2006/math">
                    <m:r>
                      <a:rPr lang="en-US" sz="1600" b="0" i="1" smtClean="0">
                        <a:latin typeface="Cambria Math" panose="02040503050406030204" pitchFamily="18" charset="0"/>
                      </a:rPr>
                      <m:t>𝐴𝑔𝑒</m:t>
                    </m:r>
                    <m:r>
                      <a:rPr lang="en-US" sz="1600" b="0" i="1" smtClean="0">
                        <a:latin typeface="Cambria Math" panose="02040503050406030204" pitchFamily="18" charset="0"/>
                        <a:ea typeface="Cambria Math" panose="02040503050406030204" pitchFamily="18" charset="0"/>
                      </a:rPr>
                      <m:t>∈[0,100.0]</m:t>
                    </m:r>
                  </m:oMath>
                </a14:m>
                <a:r>
                  <a:rPr lang="en-US" sz="1600" dirty="0"/>
                  <a:t> can be discretized into values </a:t>
                </a:r>
                <a14:m>
                  <m:oMath xmlns:m="http://schemas.openxmlformats.org/officeDocument/2006/math">
                    <m:r>
                      <a:rPr lang="en-US" sz="1600" b="0" i="0" smtClean="0">
                        <a:latin typeface="Cambria Math" panose="02040503050406030204" pitchFamily="18" charset="0"/>
                      </a:rPr>
                      <m:t>{</m:t>
                    </m:r>
                    <m:r>
                      <a:rPr lang="en-US" sz="1600" b="0" i="1" smtClean="0">
                        <a:latin typeface="Cambria Math" panose="02040503050406030204" pitchFamily="18" charset="0"/>
                      </a:rPr>
                      <m:t>0,10,20,30,…,100}</m:t>
                    </m:r>
                  </m:oMath>
                </a14:m>
                <a:r>
                  <a:rPr lang="en-US" sz="1600" dirty="0"/>
                  <a:t>.</a:t>
                </a:r>
              </a:p>
              <a:p>
                <a:r>
                  <a:rPr lang="en-US" sz="2000" b="1" dirty="0"/>
                  <a:t>Equal Width</a:t>
                </a:r>
                <a:r>
                  <a:rPr lang="en-US" sz="2000" dirty="0"/>
                  <a:t>: discretizes a variable in equal intervals. It is good when a variable follows uniform distribution.</a:t>
                </a:r>
              </a:p>
              <a:p>
                <a:r>
                  <a:rPr lang="en-US" sz="2000" b="1" dirty="0"/>
                  <a:t>Equal Frequency: </a:t>
                </a:r>
                <a:r>
                  <a:rPr lang="en-US" sz="2000" dirty="0"/>
                  <a:t>discretizes a variable so that each interval includes the same amount of observations (e.g., 50 samples fall into the first interval, 50 samples into the second one, etc.).</a:t>
                </a:r>
              </a:p>
              <a:p>
                <a:r>
                  <a:rPr lang="en-US" sz="2000" b="1" dirty="0"/>
                  <a:t>Entropy-based Methods: </a:t>
                </a:r>
                <a:r>
                  <a:rPr lang="en-US" sz="2000" dirty="0"/>
                  <a:t>these methods are utilized during the training process of decision trees. These methods work by evaluating all possible values of a feature and selecting the cut-point that maximizes the class separation.</a:t>
                </a:r>
                <a:endParaRPr lang="en-US" sz="2000" b="1" dirty="0"/>
              </a:p>
            </p:txBody>
          </p:sp>
        </mc:Choice>
        <mc:Fallback xmlns="">
          <p:sp>
            <p:nvSpPr>
              <p:cNvPr id="3" name="Θέση περιεχομένου 2">
                <a:extLst>
                  <a:ext uri="{FF2B5EF4-FFF2-40B4-BE49-F238E27FC236}">
                    <a16:creationId xmlns:a16="http://schemas.microsoft.com/office/drawing/2014/main" id="{7DCF49D9-96AF-F7CE-71DE-19FE894EEB69}"/>
                  </a:ext>
                </a:extLst>
              </p:cNvPr>
              <p:cNvSpPr>
                <a:spLocks noGrp="1" noRot="1" noChangeAspect="1" noMove="1" noResize="1" noEditPoints="1" noAdjustHandles="1" noChangeArrowheads="1" noChangeShapeType="1" noTextEdit="1"/>
              </p:cNvSpPr>
              <p:nvPr>
                <p:ph idx="1"/>
              </p:nvPr>
            </p:nvSpPr>
            <p:spPr>
              <a:xfrm>
                <a:off x="664272" y="1199020"/>
                <a:ext cx="7155373" cy="5468747"/>
              </a:xfrm>
              <a:blipFill>
                <a:blip r:embed="rId2"/>
                <a:stretch>
                  <a:fillRect l="-767" t="-1115" r="-1193"/>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CC670BDD-A81C-941E-D672-80AC8258BBF3}"/>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A922F412-EFBF-029F-3450-F7181C0EF802}"/>
              </a:ext>
            </a:extLst>
          </p:cNvPr>
          <p:cNvSpPr>
            <a:spLocks noGrp="1"/>
          </p:cNvSpPr>
          <p:nvPr>
            <p:ph type="sldNum" sz="quarter" idx="12"/>
          </p:nvPr>
        </p:nvSpPr>
        <p:spPr/>
        <p:txBody>
          <a:bodyPr/>
          <a:lstStyle/>
          <a:p>
            <a:fld id="{4ACA1919-B5C6-4827-8B15-372F46BB4020}" type="slidenum">
              <a:rPr lang="en-US" smtClean="0"/>
              <a:t>15</a:t>
            </a:fld>
            <a:endParaRPr lang="en-US"/>
          </a:p>
        </p:txBody>
      </p:sp>
      <p:pic>
        <p:nvPicPr>
          <p:cNvPr id="7" name="Εικόνα 6">
            <a:extLst>
              <a:ext uri="{FF2B5EF4-FFF2-40B4-BE49-F238E27FC236}">
                <a16:creationId xmlns:a16="http://schemas.microsoft.com/office/drawing/2014/main" id="{899471B7-3CD6-14DB-20E3-D4D0C7A339D6}"/>
              </a:ext>
            </a:extLst>
          </p:cNvPr>
          <p:cNvPicPr>
            <a:picLocks noChangeAspect="1"/>
          </p:cNvPicPr>
          <p:nvPr/>
        </p:nvPicPr>
        <p:blipFill>
          <a:blip r:embed="rId3"/>
          <a:stretch>
            <a:fillRect/>
          </a:stretch>
        </p:blipFill>
        <p:spPr>
          <a:xfrm>
            <a:off x="7733486" y="2255547"/>
            <a:ext cx="4265867" cy="2142313"/>
          </a:xfrm>
          <a:prstGeom prst="rect">
            <a:avLst/>
          </a:prstGeom>
        </p:spPr>
      </p:pic>
      <p:pic>
        <p:nvPicPr>
          <p:cNvPr id="4102" name="Picture 6" descr="Using KBinsDiscretizer to discretize continuous features — scikit-learn  1.7.2 documentation">
            <a:extLst>
              <a:ext uri="{FF2B5EF4-FFF2-40B4-BE49-F238E27FC236}">
                <a16:creationId xmlns:a16="http://schemas.microsoft.com/office/drawing/2014/main" id="{DF5135B1-5EB5-1E01-D4B9-4E12003E7D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4744" y="472534"/>
            <a:ext cx="4535336" cy="1814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952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8D1459A-CAA4-E0B7-D97A-B134048FBB94}"/>
              </a:ext>
            </a:extLst>
          </p:cNvPr>
          <p:cNvSpPr>
            <a:spLocks noGrp="1"/>
          </p:cNvSpPr>
          <p:nvPr>
            <p:ph type="title"/>
          </p:nvPr>
        </p:nvSpPr>
        <p:spPr>
          <a:xfrm>
            <a:off x="838200" y="95721"/>
            <a:ext cx="10515600" cy="910274"/>
          </a:xfrm>
        </p:spPr>
        <p:txBody>
          <a:bodyPr>
            <a:normAutofit/>
          </a:bodyPr>
          <a:lstStyle/>
          <a:p>
            <a:r>
              <a:rPr lang="en-US" sz="4000" dirty="0"/>
              <a:t>Feature Selection</a:t>
            </a:r>
          </a:p>
        </p:txBody>
      </p:sp>
      <p:sp>
        <p:nvSpPr>
          <p:cNvPr id="3" name="Θέση περιεχομένου 2">
            <a:extLst>
              <a:ext uri="{FF2B5EF4-FFF2-40B4-BE49-F238E27FC236}">
                <a16:creationId xmlns:a16="http://schemas.microsoft.com/office/drawing/2014/main" id="{BBDCD74A-692C-641F-6D08-085533F0DE66}"/>
              </a:ext>
            </a:extLst>
          </p:cNvPr>
          <p:cNvSpPr>
            <a:spLocks noGrp="1"/>
          </p:cNvSpPr>
          <p:nvPr>
            <p:ph idx="1"/>
          </p:nvPr>
        </p:nvSpPr>
        <p:spPr>
          <a:xfrm>
            <a:off x="686022" y="1040353"/>
            <a:ext cx="8037354" cy="5159279"/>
          </a:xfrm>
        </p:spPr>
        <p:txBody>
          <a:bodyPr>
            <a:normAutofit lnSpcReduction="10000"/>
          </a:bodyPr>
          <a:lstStyle/>
          <a:p>
            <a:r>
              <a:rPr lang="en-US" sz="2000" dirty="0"/>
              <a:t>It is possible that some features are irrelevant for a supervised learning tasks. Such features act as “noise” and reduce performance.</a:t>
            </a:r>
          </a:p>
          <a:p>
            <a:pPr lvl="1">
              <a:buFont typeface="Wingdings" panose="05000000000000000000" pitchFamily="2" charset="2"/>
              <a:buChar char="Ø"/>
            </a:pPr>
            <a:r>
              <a:rPr lang="en-US" sz="1600" dirty="0"/>
              <a:t>Example 1: predicting the outcome of a soccer match based on the time.</a:t>
            </a:r>
          </a:p>
          <a:p>
            <a:pPr lvl="1">
              <a:buFont typeface="Wingdings" panose="05000000000000000000" pitchFamily="2" charset="2"/>
              <a:buChar char="Ø"/>
            </a:pPr>
            <a:r>
              <a:rPr lang="en-US" sz="1600" dirty="0"/>
              <a:t>Example 2: classifying a digit from an image, with only a few pixels showing the digit.</a:t>
            </a:r>
          </a:p>
          <a:p>
            <a:r>
              <a:rPr lang="en-US" sz="2000" dirty="0"/>
              <a:t>Other variables might present significant correlations, reducing the explainability/interpretability potential of the algorithm.</a:t>
            </a:r>
          </a:p>
          <a:p>
            <a:r>
              <a:rPr lang="en-US" sz="2000" dirty="0"/>
              <a:t>Feature selection is the process of eliminating unnecessary features from the dataset, without losing performance.</a:t>
            </a:r>
          </a:p>
          <a:p>
            <a:r>
              <a:rPr lang="en-US" sz="2000" b="1" dirty="0"/>
              <a:t>Brute-Force</a:t>
            </a:r>
            <a:r>
              <a:rPr lang="en-US" sz="2000" dirty="0"/>
              <a:t>: Eliminates the worst-performing features by trying all the possible combinations. </a:t>
            </a:r>
            <a:r>
              <a:rPr lang="en-US" sz="2000" b="1" dirty="0"/>
              <a:t>It is impossible for large datasets, due to time restrictions.</a:t>
            </a:r>
          </a:p>
          <a:p>
            <a:r>
              <a:rPr lang="en-US" sz="2000" b="1" dirty="0"/>
              <a:t>Low Variance Features</a:t>
            </a:r>
            <a:r>
              <a:rPr lang="en-US" sz="2000" dirty="0"/>
              <a:t>: this approach eliminates features with low variance (as they contain little to no information).</a:t>
            </a:r>
          </a:p>
          <a:p>
            <a:r>
              <a:rPr lang="en-US" sz="2000" b="1" dirty="0"/>
              <a:t>Regularization Methods</a:t>
            </a:r>
            <a:r>
              <a:rPr lang="en-US" sz="2000" dirty="0"/>
              <a:t>: these methods enable the algorithm to eliminate unnecessary features during training (e.g., l1-penalty (lasso) in Linear regression).</a:t>
            </a:r>
          </a:p>
        </p:txBody>
      </p:sp>
      <p:sp>
        <p:nvSpPr>
          <p:cNvPr id="4" name="Θέση υποσέλιδου 3">
            <a:extLst>
              <a:ext uri="{FF2B5EF4-FFF2-40B4-BE49-F238E27FC236}">
                <a16:creationId xmlns:a16="http://schemas.microsoft.com/office/drawing/2014/main" id="{4FEC3CF0-E039-94BD-2C9A-B8B83C54FC78}"/>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06F9E726-FF46-54EA-E1B0-1A838B10D682}"/>
              </a:ext>
            </a:extLst>
          </p:cNvPr>
          <p:cNvSpPr>
            <a:spLocks noGrp="1"/>
          </p:cNvSpPr>
          <p:nvPr>
            <p:ph type="sldNum" sz="quarter" idx="12"/>
          </p:nvPr>
        </p:nvSpPr>
        <p:spPr/>
        <p:txBody>
          <a:bodyPr/>
          <a:lstStyle/>
          <a:p>
            <a:fld id="{4ACA1919-B5C6-4827-8B15-372F46BB4020}" type="slidenum">
              <a:rPr lang="en-US" smtClean="0"/>
              <a:t>16</a:t>
            </a:fld>
            <a:endParaRPr lang="en-US"/>
          </a:p>
        </p:txBody>
      </p:sp>
      <p:grpSp>
        <p:nvGrpSpPr>
          <p:cNvPr id="12" name="Ομάδα 11">
            <a:extLst>
              <a:ext uri="{FF2B5EF4-FFF2-40B4-BE49-F238E27FC236}">
                <a16:creationId xmlns:a16="http://schemas.microsoft.com/office/drawing/2014/main" id="{7D7A9D09-24D3-DD93-ADBE-2112753CF963}"/>
              </a:ext>
            </a:extLst>
          </p:cNvPr>
          <p:cNvGrpSpPr/>
          <p:nvPr/>
        </p:nvGrpSpPr>
        <p:grpSpPr>
          <a:xfrm>
            <a:off x="8610600" y="1469832"/>
            <a:ext cx="3445376" cy="3409204"/>
            <a:chOff x="8153400" y="530352"/>
            <a:chExt cx="3613238" cy="3575304"/>
          </a:xfrm>
        </p:grpSpPr>
        <p:pic>
          <p:nvPicPr>
            <p:cNvPr id="7" name="Εικόνα 6">
              <a:extLst>
                <a:ext uri="{FF2B5EF4-FFF2-40B4-BE49-F238E27FC236}">
                  <a16:creationId xmlns:a16="http://schemas.microsoft.com/office/drawing/2014/main" id="{4D5CE4A0-259A-2088-61DF-BF858BA2F913}"/>
                </a:ext>
              </a:extLst>
            </p:cNvPr>
            <p:cNvPicPr>
              <a:picLocks noChangeAspect="1"/>
            </p:cNvPicPr>
            <p:nvPr/>
          </p:nvPicPr>
          <p:blipFill>
            <a:blip r:embed="rId2"/>
            <a:stretch>
              <a:fillRect/>
            </a:stretch>
          </p:blipFill>
          <p:spPr>
            <a:xfrm>
              <a:off x="8153400" y="530352"/>
              <a:ext cx="3613238" cy="3575304"/>
            </a:xfrm>
            <a:prstGeom prst="rect">
              <a:avLst/>
            </a:prstGeom>
          </p:spPr>
        </p:pic>
        <p:sp>
          <p:nvSpPr>
            <p:cNvPr id="8" name="TextBox 7">
              <a:extLst>
                <a:ext uri="{FF2B5EF4-FFF2-40B4-BE49-F238E27FC236}">
                  <a16:creationId xmlns:a16="http://schemas.microsoft.com/office/drawing/2014/main" id="{F9601B56-F347-DD0A-6182-729EFCBCD917}"/>
                </a:ext>
              </a:extLst>
            </p:cNvPr>
            <p:cNvSpPr txBox="1"/>
            <p:nvPr/>
          </p:nvSpPr>
          <p:spPr>
            <a:xfrm>
              <a:off x="8692903" y="905256"/>
              <a:ext cx="859531" cy="369332"/>
            </a:xfrm>
            <a:prstGeom prst="rect">
              <a:avLst/>
            </a:prstGeom>
            <a:noFill/>
          </p:spPr>
          <p:txBody>
            <a:bodyPr wrap="none" rtlCol="0">
              <a:spAutoFit/>
            </a:bodyPr>
            <a:lstStyle/>
            <a:p>
              <a:r>
                <a:rPr lang="en-US" b="1" dirty="0">
                  <a:solidFill>
                    <a:srgbClr val="FF0000"/>
                  </a:solidFill>
                </a:rPr>
                <a:t>NOISE</a:t>
              </a:r>
            </a:p>
          </p:txBody>
        </p:sp>
        <p:sp>
          <p:nvSpPr>
            <p:cNvPr id="9" name="TextBox 8">
              <a:extLst>
                <a:ext uri="{FF2B5EF4-FFF2-40B4-BE49-F238E27FC236}">
                  <a16:creationId xmlns:a16="http://schemas.microsoft.com/office/drawing/2014/main" id="{459E8277-1CF3-6973-3160-19D07130C769}"/>
                </a:ext>
              </a:extLst>
            </p:cNvPr>
            <p:cNvSpPr txBox="1"/>
            <p:nvPr/>
          </p:nvSpPr>
          <p:spPr>
            <a:xfrm>
              <a:off x="8692903" y="3446970"/>
              <a:ext cx="859531" cy="369332"/>
            </a:xfrm>
            <a:prstGeom prst="rect">
              <a:avLst/>
            </a:prstGeom>
            <a:noFill/>
          </p:spPr>
          <p:txBody>
            <a:bodyPr wrap="none" rtlCol="0">
              <a:spAutoFit/>
            </a:bodyPr>
            <a:lstStyle/>
            <a:p>
              <a:r>
                <a:rPr lang="en-US" b="1" dirty="0">
                  <a:solidFill>
                    <a:srgbClr val="FF0000"/>
                  </a:solidFill>
                </a:rPr>
                <a:t>NOISE</a:t>
              </a:r>
            </a:p>
          </p:txBody>
        </p:sp>
        <p:sp>
          <p:nvSpPr>
            <p:cNvPr id="10" name="TextBox 9">
              <a:extLst>
                <a:ext uri="{FF2B5EF4-FFF2-40B4-BE49-F238E27FC236}">
                  <a16:creationId xmlns:a16="http://schemas.microsoft.com/office/drawing/2014/main" id="{2FC9CA3E-5362-F586-37F4-F2C710E23F09}"/>
                </a:ext>
              </a:extLst>
            </p:cNvPr>
            <p:cNvSpPr txBox="1"/>
            <p:nvPr/>
          </p:nvSpPr>
          <p:spPr>
            <a:xfrm>
              <a:off x="10811263" y="3446970"/>
              <a:ext cx="859531" cy="369332"/>
            </a:xfrm>
            <a:prstGeom prst="rect">
              <a:avLst/>
            </a:prstGeom>
            <a:noFill/>
          </p:spPr>
          <p:txBody>
            <a:bodyPr wrap="none" rtlCol="0">
              <a:spAutoFit/>
            </a:bodyPr>
            <a:lstStyle/>
            <a:p>
              <a:r>
                <a:rPr lang="en-US" b="1" dirty="0">
                  <a:solidFill>
                    <a:srgbClr val="FF0000"/>
                  </a:solidFill>
                </a:rPr>
                <a:t>NOISE</a:t>
              </a:r>
            </a:p>
          </p:txBody>
        </p:sp>
        <p:sp>
          <p:nvSpPr>
            <p:cNvPr id="11" name="TextBox 10">
              <a:extLst>
                <a:ext uri="{FF2B5EF4-FFF2-40B4-BE49-F238E27FC236}">
                  <a16:creationId xmlns:a16="http://schemas.microsoft.com/office/drawing/2014/main" id="{762F484C-CE42-6E13-9D3A-9A4DC2149867}"/>
                </a:ext>
              </a:extLst>
            </p:cNvPr>
            <p:cNvSpPr txBox="1"/>
            <p:nvPr/>
          </p:nvSpPr>
          <p:spPr>
            <a:xfrm>
              <a:off x="10811262" y="905256"/>
              <a:ext cx="859531" cy="369332"/>
            </a:xfrm>
            <a:prstGeom prst="rect">
              <a:avLst/>
            </a:prstGeom>
            <a:noFill/>
          </p:spPr>
          <p:txBody>
            <a:bodyPr wrap="none" rtlCol="0">
              <a:spAutoFit/>
            </a:bodyPr>
            <a:lstStyle/>
            <a:p>
              <a:r>
                <a:rPr lang="en-US" b="1" dirty="0">
                  <a:solidFill>
                    <a:srgbClr val="FF0000"/>
                  </a:solidFill>
                </a:rPr>
                <a:t>NOISE</a:t>
              </a:r>
            </a:p>
          </p:txBody>
        </p:sp>
      </p:grpSp>
    </p:spTree>
    <p:extLst>
      <p:ext uri="{BB962C8B-B14F-4D97-AF65-F5344CB8AC3E}">
        <p14:creationId xmlns:p14="http://schemas.microsoft.com/office/powerpoint/2010/main" val="3314548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970FECD-5585-7A11-5C3B-B436988A28B2}"/>
              </a:ext>
            </a:extLst>
          </p:cNvPr>
          <p:cNvSpPr>
            <a:spLocks noGrp="1"/>
          </p:cNvSpPr>
          <p:nvPr>
            <p:ph type="title"/>
          </p:nvPr>
        </p:nvSpPr>
        <p:spPr>
          <a:xfrm>
            <a:off x="838200" y="200533"/>
            <a:ext cx="10515600" cy="1325563"/>
          </a:xfrm>
        </p:spPr>
        <p:txBody>
          <a:bodyPr/>
          <a:lstStyle/>
          <a:p>
            <a:r>
              <a:rPr lang="en-US" dirty="0"/>
              <a:t>Recursive Feature Elimination (RFE)</a:t>
            </a:r>
          </a:p>
        </p:txBody>
      </p:sp>
      <p:sp>
        <p:nvSpPr>
          <p:cNvPr id="4" name="Θέση υποσέλιδου 3">
            <a:extLst>
              <a:ext uri="{FF2B5EF4-FFF2-40B4-BE49-F238E27FC236}">
                <a16:creationId xmlns:a16="http://schemas.microsoft.com/office/drawing/2014/main" id="{E5E073D1-A36F-9D5E-370B-0DD72B660549}"/>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FACEB01E-DC62-A5A7-5D9C-27C9E6A3F04D}"/>
              </a:ext>
            </a:extLst>
          </p:cNvPr>
          <p:cNvSpPr>
            <a:spLocks noGrp="1"/>
          </p:cNvSpPr>
          <p:nvPr>
            <p:ph type="sldNum" sz="quarter" idx="12"/>
          </p:nvPr>
        </p:nvSpPr>
        <p:spPr/>
        <p:txBody>
          <a:bodyPr/>
          <a:lstStyle/>
          <a:p>
            <a:fld id="{4ACA1919-B5C6-4827-8B15-372F46BB4020}" type="slidenum">
              <a:rPr lang="en-US" smtClean="0"/>
              <a:t>17</a:t>
            </a:fld>
            <a:endParaRPr lang="en-US"/>
          </a:p>
        </p:txBody>
      </p:sp>
      <p:pic>
        <p:nvPicPr>
          <p:cNvPr id="7" name="Εικόνα 6">
            <a:extLst>
              <a:ext uri="{FF2B5EF4-FFF2-40B4-BE49-F238E27FC236}">
                <a16:creationId xmlns:a16="http://schemas.microsoft.com/office/drawing/2014/main" id="{3930665F-989C-07C7-FE5C-3C341CC94B16}"/>
              </a:ext>
            </a:extLst>
          </p:cNvPr>
          <p:cNvPicPr>
            <a:picLocks noChangeAspect="1"/>
          </p:cNvPicPr>
          <p:nvPr/>
        </p:nvPicPr>
        <p:blipFill>
          <a:blip r:embed="rId2"/>
          <a:stretch>
            <a:fillRect/>
          </a:stretch>
        </p:blipFill>
        <p:spPr>
          <a:xfrm>
            <a:off x="8413149" y="1526096"/>
            <a:ext cx="3138102" cy="4527833"/>
          </a:xfrm>
          <a:prstGeom prst="rect">
            <a:avLst/>
          </a:prstGeom>
        </p:spPr>
      </p:pic>
      <p:pic>
        <p:nvPicPr>
          <p:cNvPr id="5124" name="Picture 4" descr="20 Recursive Feature Elimination | The caret Package">
            <a:extLst>
              <a:ext uri="{FF2B5EF4-FFF2-40B4-BE49-F238E27FC236}">
                <a16:creationId xmlns:a16="http://schemas.microsoft.com/office/drawing/2014/main" id="{50B9C815-56F5-51AB-8E50-93B464E9E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568" y="1225012"/>
            <a:ext cx="6534150" cy="3609975"/>
          </a:xfrm>
          <a:prstGeom prst="rect">
            <a:avLst/>
          </a:prstGeom>
          <a:noFill/>
          <a:extLst>
            <a:ext uri="{909E8E84-426E-40DD-AFC4-6F175D3DCCD1}">
              <a14:hiddenFill xmlns:a14="http://schemas.microsoft.com/office/drawing/2010/main">
                <a:solidFill>
                  <a:srgbClr val="FFFFFF"/>
                </a:solidFill>
              </a14:hiddenFill>
            </a:ext>
          </a:extLst>
        </p:spPr>
      </p:pic>
      <p:sp>
        <p:nvSpPr>
          <p:cNvPr id="9" name="Θέση περιεχομένου 2">
            <a:extLst>
              <a:ext uri="{FF2B5EF4-FFF2-40B4-BE49-F238E27FC236}">
                <a16:creationId xmlns:a16="http://schemas.microsoft.com/office/drawing/2014/main" id="{524562E1-0516-9C30-F9D4-BA25516BD31A}"/>
              </a:ext>
            </a:extLst>
          </p:cNvPr>
          <p:cNvSpPr>
            <a:spLocks noGrp="1"/>
          </p:cNvSpPr>
          <p:nvPr>
            <p:ph idx="1"/>
          </p:nvPr>
        </p:nvSpPr>
        <p:spPr>
          <a:xfrm>
            <a:off x="640749" y="4964908"/>
            <a:ext cx="7872315" cy="1554764"/>
          </a:xfrm>
        </p:spPr>
        <p:txBody>
          <a:bodyPr>
            <a:normAutofit lnSpcReduction="10000"/>
          </a:bodyPr>
          <a:lstStyle/>
          <a:p>
            <a:r>
              <a:rPr lang="en-US" sz="2000" b="1" dirty="0"/>
              <a:t>It does not guarantee to find the optimal set of variables, only an approximation!</a:t>
            </a:r>
          </a:p>
          <a:p>
            <a:r>
              <a:rPr lang="en-US" sz="2000" dirty="0"/>
              <a:t>Another variation of this algorithm trains a model using a single variable and incrementally adds the rest of the variables, based on the model’s performance.</a:t>
            </a:r>
          </a:p>
        </p:txBody>
      </p:sp>
    </p:spTree>
    <p:extLst>
      <p:ext uri="{BB962C8B-B14F-4D97-AF65-F5344CB8AC3E}">
        <p14:creationId xmlns:p14="http://schemas.microsoft.com/office/powerpoint/2010/main" val="1479347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Projection into a 3D space (via PCA) of the MNIST benchmark dataset.... |  Download Scientific Diagram">
            <a:extLst>
              <a:ext uri="{FF2B5EF4-FFF2-40B4-BE49-F238E27FC236}">
                <a16:creationId xmlns:a16="http://schemas.microsoft.com/office/drawing/2014/main" id="{2B1386E7-1B36-02B1-AD5D-35F2FCC6E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7480" y="3725069"/>
            <a:ext cx="4032504" cy="2349211"/>
          </a:xfrm>
          <a:prstGeom prst="rect">
            <a:avLst/>
          </a:prstGeom>
          <a:noFill/>
          <a:extLst>
            <a:ext uri="{909E8E84-426E-40DD-AFC4-6F175D3DCCD1}">
              <a14:hiddenFill xmlns:a14="http://schemas.microsoft.com/office/drawing/2010/main">
                <a:solidFill>
                  <a:srgbClr val="FFFFFF"/>
                </a:solidFill>
              </a14:hiddenFill>
            </a:ext>
          </a:extLst>
        </p:spPr>
      </p:pic>
      <p:sp>
        <p:nvSpPr>
          <p:cNvPr id="2" name="Τίτλος 1">
            <a:extLst>
              <a:ext uri="{FF2B5EF4-FFF2-40B4-BE49-F238E27FC236}">
                <a16:creationId xmlns:a16="http://schemas.microsoft.com/office/drawing/2014/main" id="{FBCD6712-F3C5-B454-474F-B595104A5E55}"/>
              </a:ext>
            </a:extLst>
          </p:cNvPr>
          <p:cNvSpPr>
            <a:spLocks noGrp="1"/>
          </p:cNvSpPr>
          <p:nvPr>
            <p:ph type="title"/>
          </p:nvPr>
        </p:nvSpPr>
        <p:spPr>
          <a:xfrm>
            <a:off x="630936" y="136525"/>
            <a:ext cx="10515600" cy="1325563"/>
          </a:xfrm>
        </p:spPr>
        <p:txBody>
          <a:bodyPr/>
          <a:lstStyle/>
          <a:p>
            <a:r>
              <a:rPr lang="en-US" dirty="0"/>
              <a:t>Dimensionality Reduction</a:t>
            </a:r>
          </a:p>
        </p:txBody>
      </p:sp>
      <mc:AlternateContent xmlns:mc="http://schemas.openxmlformats.org/markup-compatibility/2006" xmlns:a14="http://schemas.microsoft.com/office/drawing/2010/main">
        <mc:Choice Requires="a14">
          <p:sp>
            <p:nvSpPr>
              <p:cNvPr id="3" name="Θέση περιεχομένου 2">
                <a:extLst>
                  <a:ext uri="{FF2B5EF4-FFF2-40B4-BE49-F238E27FC236}">
                    <a16:creationId xmlns:a16="http://schemas.microsoft.com/office/drawing/2014/main" id="{7645D2CF-0245-8F15-FCB6-D19E93B74826}"/>
                  </a:ext>
                </a:extLst>
              </p:cNvPr>
              <p:cNvSpPr>
                <a:spLocks noGrp="1"/>
              </p:cNvSpPr>
              <p:nvPr>
                <p:ph idx="1"/>
              </p:nvPr>
            </p:nvSpPr>
            <p:spPr>
              <a:xfrm>
                <a:off x="582168" y="1316260"/>
                <a:ext cx="5513832" cy="5331428"/>
              </a:xfrm>
            </p:spPr>
            <p:txBody>
              <a:bodyPr>
                <a:normAutofit/>
              </a:bodyPr>
              <a:lstStyle/>
              <a:p>
                <a:r>
                  <a:rPr lang="en-US" sz="2000" dirty="0"/>
                  <a:t>The process of reducing the input variables (features) of a model while preserving as much important information as possible.</a:t>
                </a:r>
              </a:p>
              <a:p>
                <a:pPr lvl="1">
                  <a:buFont typeface="Wingdings" panose="05000000000000000000" pitchFamily="2" charset="2"/>
                  <a:buChar char="Ø"/>
                </a:pPr>
                <a:r>
                  <a:rPr lang="en-US" sz="1600" dirty="0"/>
                  <a:t>For instance, transforming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𝑅</m:t>
                        </m:r>
                      </m:e>
                      <m:sup>
                        <m:r>
                          <a:rPr lang="en-US" sz="1600" b="0" i="1" smtClean="0">
                            <a:latin typeface="Cambria Math" panose="02040503050406030204" pitchFamily="18" charset="0"/>
                            <a:ea typeface="Cambria Math" panose="02040503050406030204" pitchFamily="18" charset="0"/>
                          </a:rPr>
                          <m:t>1000</m:t>
                        </m:r>
                      </m:sup>
                    </m:sSup>
                  </m:oMath>
                </a14:m>
                <a:r>
                  <a:rPr lang="en-US" sz="1600" dirty="0"/>
                  <a:t> to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𝑅</m:t>
                        </m:r>
                      </m:e>
                      <m:sup>
                        <m:r>
                          <a:rPr lang="en-US" sz="1600" b="0" i="1" smtClean="0">
                            <a:latin typeface="Cambria Math" panose="02040503050406030204" pitchFamily="18" charset="0"/>
                            <a:ea typeface="Cambria Math" panose="02040503050406030204" pitchFamily="18" charset="0"/>
                          </a:rPr>
                          <m:t>100</m:t>
                        </m:r>
                      </m:sup>
                    </m:sSup>
                  </m:oMath>
                </a14:m>
                <a:r>
                  <a:rPr lang="en-US" sz="1600" dirty="0"/>
                  <a:t>.</a:t>
                </a:r>
              </a:p>
              <a:p>
                <a:r>
                  <a:rPr lang="en-US" sz="2000" dirty="0"/>
                  <a:t>Feature selection can be used to remove specific, but such methods do not provide information about the quality of a feature.</a:t>
                </a:r>
              </a:p>
              <a:p>
                <a:r>
                  <a:rPr lang="en-US" sz="2000" dirty="0"/>
                  <a:t>Methods: </a:t>
                </a:r>
              </a:p>
              <a:p>
                <a:pPr lvl="1">
                  <a:buFont typeface="Wingdings" panose="05000000000000000000" pitchFamily="2" charset="2"/>
                  <a:buChar char="Ø"/>
                </a:pPr>
                <a:r>
                  <a:rPr lang="en-US" sz="1600" dirty="0"/>
                  <a:t>SVD</a:t>
                </a:r>
              </a:p>
              <a:p>
                <a:pPr lvl="1">
                  <a:buFont typeface="Wingdings" panose="05000000000000000000" pitchFamily="2" charset="2"/>
                  <a:buChar char="Ø"/>
                </a:pPr>
                <a:r>
                  <a:rPr lang="en-US" sz="1600" dirty="0"/>
                  <a:t>PCA</a:t>
                </a:r>
              </a:p>
              <a:p>
                <a:pPr lvl="1">
                  <a:buFont typeface="Wingdings" panose="05000000000000000000" pitchFamily="2" charset="2"/>
                  <a:buChar char="Ø"/>
                </a:pPr>
                <a:r>
                  <a:rPr lang="en-US" sz="1600" dirty="0"/>
                  <a:t>Kernel PCA</a:t>
                </a:r>
              </a:p>
              <a:p>
                <a:pPr lvl="1">
                  <a:buFont typeface="Wingdings" panose="05000000000000000000" pitchFamily="2" charset="2"/>
                  <a:buChar char="Ø"/>
                </a:pPr>
                <a:r>
                  <a:rPr lang="en-US" sz="1600" dirty="0"/>
                  <a:t>LDA</a:t>
                </a:r>
              </a:p>
              <a:p>
                <a:pPr lvl="1">
                  <a:buFont typeface="Wingdings" panose="05000000000000000000" pitchFamily="2" charset="2"/>
                  <a:buChar char="Ø"/>
                </a:pPr>
                <a:r>
                  <a:rPr lang="en-US" sz="1600" dirty="0"/>
                  <a:t>QDA</a:t>
                </a:r>
              </a:p>
              <a:p>
                <a:pPr lvl="1">
                  <a:buFont typeface="Wingdings" panose="05000000000000000000" pitchFamily="2" charset="2"/>
                  <a:buChar char="Ø"/>
                </a:pPr>
                <a:r>
                  <a:rPr lang="en-US" sz="1600" dirty="0"/>
                  <a:t>UMAP</a:t>
                </a:r>
              </a:p>
              <a:p>
                <a:pPr lvl="1">
                  <a:buFont typeface="Wingdings" panose="05000000000000000000" pitchFamily="2" charset="2"/>
                  <a:buChar char="Ø"/>
                </a:pPr>
                <a:endParaRPr lang="en-US" sz="1600" dirty="0"/>
              </a:p>
            </p:txBody>
          </p:sp>
        </mc:Choice>
        <mc:Fallback xmlns="">
          <p:sp>
            <p:nvSpPr>
              <p:cNvPr id="3" name="Θέση περιεχομένου 2">
                <a:extLst>
                  <a:ext uri="{FF2B5EF4-FFF2-40B4-BE49-F238E27FC236}">
                    <a16:creationId xmlns:a16="http://schemas.microsoft.com/office/drawing/2014/main" id="{7645D2CF-0245-8F15-FCB6-D19E93B74826}"/>
                  </a:ext>
                </a:extLst>
              </p:cNvPr>
              <p:cNvSpPr>
                <a:spLocks noGrp="1" noRot="1" noChangeAspect="1" noMove="1" noResize="1" noEditPoints="1" noAdjustHandles="1" noChangeArrowheads="1" noChangeShapeType="1" noTextEdit="1"/>
              </p:cNvSpPr>
              <p:nvPr>
                <p:ph idx="1"/>
              </p:nvPr>
            </p:nvSpPr>
            <p:spPr>
              <a:xfrm>
                <a:off x="582168" y="1316260"/>
                <a:ext cx="5513832" cy="5331428"/>
              </a:xfrm>
              <a:blipFill>
                <a:blip r:embed="rId3"/>
                <a:stretch>
                  <a:fillRect l="-996" t="-1143" r="-1770"/>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B6954659-7B82-CD1E-DEFF-CED185214083}"/>
              </a:ext>
            </a:extLst>
          </p:cNvPr>
          <p:cNvSpPr>
            <a:spLocks noGrp="1"/>
          </p:cNvSpPr>
          <p:nvPr>
            <p:ph type="ftr" sz="quarter" idx="11"/>
          </p:nvPr>
        </p:nvSpPr>
        <p:spPr/>
        <p:txBody>
          <a:bodyPr/>
          <a:lstStyle/>
          <a:p>
            <a:r>
              <a:rPr lang="el-GR" dirty="0"/>
              <a:t>Βασίλειος Κοχλιαρίδης</a:t>
            </a:r>
            <a:endParaRPr lang="en-US" dirty="0"/>
          </a:p>
        </p:txBody>
      </p:sp>
      <p:sp>
        <p:nvSpPr>
          <p:cNvPr id="5" name="Θέση αριθμού διαφάνειας 4">
            <a:extLst>
              <a:ext uri="{FF2B5EF4-FFF2-40B4-BE49-F238E27FC236}">
                <a16:creationId xmlns:a16="http://schemas.microsoft.com/office/drawing/2014/main" id="{CEFBAB37-92CC-E2F3-94A0-4ADE5807FF25}"/>
              </a:ext>
            </a:extLst>
          </p:cNvPr>
          <p:cNvSpPr>
            <a:spLocks noGrp="1"/>
          </p:cNvSpPr>
          <p:nvPr>
            <p:ph type="sldNum" sz="quarter" idx="12"/>
          </p:nvPr>
        </p:nvSpPr>
        <p:spPr/>
        <p:txBody>
          <a:bodyPr/>
          <a:lstStyle/>
          <a:p>
            <a:fld id="{4ACA1919-B5C6-4827-8B15-372F46BB4020}" type="slidenum">
              <a:rPr lang="en-US" smtClean="0"/>
              <a:t>18</a:t>
            </a:fld>
            <a:endParaRPr lang="en-US"/>
          </a:p>
        </p:txBody>
      </p:sp>
      <p:pic>
        <p:nvPicPr>
          <p:cNvPr id="7" name="Εικόνα 6">
            <a:extLst>
              <a:ext uri="{FF2B5EF4-FFF2-40B4-BE49-F238E27FC236}">
                <a16:creationId xmlns:a16="http://schemas.microsoft.com/office/drawing/2014/main" id="{93EEB6AE-B8C7-7880-9175-289BC73D9121}"/>
              </a:ext>
            </a:extLst>
          </p:cNvPr>
          <p:cNvPicPr>
            <a:picLocks noChangeAspect="1"/>
          </p:cNvPicPr>
          <p:nvPr/>
        </p:nvPicPr>
        <p:blipFill>
          <a:blip r:embed="rId4"/>
          <a:stretch>
            <a:fillRect/>
          </a:stretch>
        </p:blipFill>
        <p:spPr>
          <a:xfrm>
            <a:off x="6810756" y="3725069"/>
            <a:ext cx="5122164" cy="2561082"/>
          </a:xfrm>
          <a:prstGeom prst="rect">
            <a:avLst/>
          </a:prstGeom>
        </p:spPr>
      </p:pic>
      <p:pic>
        <p:nvPicPr>
          <p:cNvPr id="9" name="Εικόνα 8">
            <a:extLst>
              <a:ext uri="{FF2B5EF4-FFF2-40B4-BE49-F238E27FC236}">
                <a16:creationId xmlns:a16="http://schemas.microsoft.com/office/drawing/2014/main" id="{5CA584A8-D3EE-9EA7-AB07-D4BCCFE6C582}"/>
              </a:ext>
            </a:extLst>
          </p:cNvPr>
          <p:cNvPicPr>
            <a:picLocks noChangeAspect="1"/>
          </p:cNvPicPr>
          <p:nvPr/>
        </p:nvPicPr>
        <p:blipFill>
          <a:blip r:embed="rId5"/>
          <a:stretch>
            <a:fillRect/>
          </a:stretch>
        </p:blipFill>
        <p:spPr>
          <a:xfrm>
            <a:off x="6810757" y="1160789"/>
            <a:ext cx="5122164" cy="2564280"/>
          </a:xfrm>
          <a:prstGeom prst="rect">
            <a:avLst/>
          </a:prstGeom>
        </p:spPr>
      </p:pic>
    </p:spTree>
    <p:extLst>
      <p:ext uri="{BB962C8B-B14F-4D97-AF65-F5344CB8AC3E}">
        <p14:creationId xmlns:p14="http://schemas.microsoft.com/office/powerpoint/2010/main" val="3246677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E9F3C7C-A5FB-BBFD-81D3-DE6EF42ABFCC}"/>
              </a:ext>
            </a:extLst>
          </p:cNvPr>
          <p:cNvSpPr>
            <a:spLocks noGrp="1"/>
          </p:cNvSpPr>
          <p:nvPr>
            <p:ph type="title"/>
          </p:nvPr>
        </p:nvSpPr>
        <p:spPr>
          <a:xfrm>
            <a:off x="838200" y="40387"/>
            <a:ext cx="10515600" cy="1030416"/>
          </a:xfrm>
        </p:spPr>
        <p:txBody>
          <a:bodyPr>
            <a:normAutofit/>
          </a:bodyPr>
          <a:lstStyle/>
          <a:p>
            <a:r>
              <a:rPr lang="en-US" sz="4000" dirty="0"/>
              <a:t>Singular Value Decomposition (SVD)</a:t>
            </a:r>
          </a:p>
        </p:txBody>
      </p:sp>
      <mc:AlternateContent xmlns:mc="http://schemas.openxmlformats.org/markup-compatibility/2006">
        <mc:Choice xmlns:a14="http://schemas.microsoft.com/office/drawing/2010/main" Requires="a14">
          <p:sp>
            <p:nvSpPr>
              <p:cNvPr id="3" name="Θέση περιεχομένου 2">
                <a:extLst>
                  <a:ext uri="{FF2B5EF4-FFF2-40B4-BE49-F238E27FC236}">
                    <a16:creationId xmlns:a16="http://schemas.microsoft.com/office/drawing/2014/main" id="{7F310FCE-7D5A-5B16-2034-5F055788AD55}"/>
                  </a:ext>
                </a:extLst>
              </p:cNvPr>
              <p:cNvSpPr>
                <a:spLocks noGrp="1"/>
              </p:cNvSpPr>
              <p:nvPr>
                <p:ph idx="1"/>
              </p:nvPr>
            </p:nvSpPr>
            <p:spPr>
              <a:xfrm>
                <a:off x="838200" y="1070803"/>
                <a:ext cx="6181492" cy="4881941"/>
              </a:xfrm>
            </p:spPr>
            <p:txBody>
              <a:bodyPr>
                <a:normAutofit/>
              </a:bodyPr>
              <a:lstStyle/>
              <a:p>
                <a:r>
                  <a:rPr lang="en-US" sz="2000" dirty="0"/>
                  <a:t>SVD is a factorization method that decomposes a matrix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sub>
                    </m:sSub>
                  </m:oMath>
                </a14:m>
                <a:r>
                  <a:rPr lang="en-US" sz="2000" dirty="0"/>
                  <a:t>  into three other matrices </a:t>
                </a:r>
                <a14:m>
                  <m:oMath xmlns:m="http://schemas.openxmlformats.org/officeDocument/2006/math">
                    <m:r>
                      <a:rPr lang="en-US" sz="2000" b="0" i="1" smtClean="0">
                        <a:latin typeface="Cambria Math" panose="02040503050406030204" pitchFamily="18" charset="0"/>
                      </a:rPr>
                      <m:t>𝑈</m:t>
                    </m:r>
                    <m:r>
                      <a:rPr lang="en-US" sz="2000" b="0" i="1" smtClean="0">
                        <a:latin typeface="Cambria Math" panose="02040503050406030204" pitchFamily="18" charset="0"/>
                      </a:rPr>
                      <m:t>,</m:t>
                    </m:r>
                    <m:r>
                      <m:rPr>
                        <m:sty m:val="p"/>
                      </m:rPr>
                      <a:rPr lang="el-GR" sz="2000" b="0" i="0" smtClean="0">
                        <a:latin typeface="Cambria Math" panose="02040503050406030204" pitchFamily="18" charset="0"/>
                      </a:rPr>
                      <m:t>Σ</m:t>
                    </m:r>
                    <m:r>
                      <a:rPr lang="el-GR" sz="2000" b="0" i="0" smtClean="0">
                        <a:latin typeface="Cambria Math" panose="02040503050406030204" pitchFamily="18" charset="0"/>
                      </a:rPr>
                      <m:t>,</m:t>
                    </m:r>
                    <m:sSup>
                      <m:sSupPr>
                        <m:ctrlPr>
                          <a:rPr lang="en-US" sz="2000" b="0" i="1" smtClean="0">
                            <a:latin typeface="Cambria Math" panose="02040503050406030204" pitchFamily="18" charset="0"/>
                          </a:rPr>
                        </m:ctrlPr>
                      </m:sSupPr>
                      <m:e>
                        <m:r>
                          <m:rPr>
                            <m:sty m:val="p"/>
                          </m:rPr>
                          <a:rPr lang="en-US" sz="2000" b="0" i="0" smtClean="0">
                            <a:latin typeface="Cambria Math" panose="02040503050406030204" pitchFamily="18" charset="0"/>
                          </a:rPr>
                          <m:t>V</m:t>
                        </m:r>
                      </m:e>
                      <m:sup>
                        <m:r>
                          <a:rPr lang="en-US" sz="2000" b="0" i="1" smtClean="0">
                            <a:latin typeface="Cambria Math" panose="02040503050406030204" pitchFamily="18" charset="0"/>
                          </a:rPr>
                          <m:t>𝑇</m:t>
                        </m:r>
                      </m:sup>
                    </m:sSup>
                  </m:oMath>
                </a14:m>
                <a:r>
                  <a:rPr lang="en-US" sz="2000" dirty="0"/>
                  <a:t>:</a:t>
                </a:r>
              </a:p>
              <a:p>
                <a:pPr lvl="1">
                  <a:buFont typeface="Wingdings" panose="05000000000000000000" pitchFamily="2" charset="2"/>
                  <a:buChar char="Ø"/>
                </a:pPr>
                <a14:m>
                  <m:oMath xmlns:m="http://schemas.openxmlformats.org/officeDocument/2006/math">
                    <m:sSub>
                      <m:sSubPr>
                        <m:ctrlPr>
                          <a:rPr lang="en-US" sz="1600" b="0" i="1" smtClean="0">
                            <a:latin typeface="Cambria Math" panose="02040503050406030204" pitchFamily="18" charset="0"/>
                          </a:rPr>
                        </m:ctrlPr>
                      </m:sSubPr>
                      <m:e>
                        <m:r>
                          <a:rPr lang="en-US" sz="1600" i="1">
                            <a:latin typeface="Cambria Math" panose="02040503050406030204" pitchFamily="18" charset="0"/>
                          </a:rPr>
                          <m:t>𝑈</m:t>
                        </m:r>
                      </m:e>
                      <m:sub>
                        <m:r>
                          <a:rPr lang="en-US" sz="1600" b="0" i="1" smtClean="0">
                            <a:latin typeface="Cambria Math" panose="02040503050406030204" pitchFamily="18" charset="0"/>
                          </a:rPr>
                          <m:t>𝑚</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𝑚</m:t>
                        </m:r>
                      </m:sub>
                    </m:sSub>
                    <m:r>
                      <a:rPr lang="en-US" sz="1600" i="1">
                        <a:latin typeface="Cambria Math" panose="02040503050406030204" pitchFamily="18" charset="0"/>
                      </a:rPr>
                      <m:t> </m:t>
                    </m:r>
                  </m:oMath>
                </a14:m>
                <a:r>
                  <a:rPr lang="en-US" sz="1600" dirty="0"/>
                  <a:t>: Tells you about the rows.</a:t>
                </a:r>
              </a:p>
              <a:p>
                <a:pPr lvl="1">
                  <a:buFont typeface="Wingdings" panose="05000000000000000000" pitchFamily="2" charset="2"/>
                  <a:buChar char="Ø"/>
                </a:pPr>
                <a14:m>
                  <m:oMath xmlns:m="http://schemas.openxmlformats.org/officeDocument/2006/math">
                    <m:sSub>
                      <m:sSubPr>
                        <m:ctrlPr>
                          <a:rPr lang="en-US" sz="1600" b="0" i="1" smtClean="0">
                            <a:latin typeface="Cambria Math" panose="02040503050406030204" pitchFamily="18" charset="0"/>
                          </a:rPr>
                        </m:ctrlPr>
                      </m:sSubPr>
                      <m:e>
                        <m:r>
                          <m:rPr>
                            <m:sty m:val="p"/>
                          </m:rPr>
                          <a:rPr lang="el-GR" sz="1600">
                            <a:latin typeface="Cambria Math" panose="02040503050406030204" pitchFamily="18" charset="0"/>
                          </a:rPr>
                          <m:t>Σ</m:t>
                        </m:r>
                      </m:e>
                      <m:sub>
                        <m:r>
                          <a:rPr lang="en-US" sz="1600" b="0" i="1" smtClean="0">
                            <a:latin typeface="Cambria Math" panose="02040503050406030204" pitchFamily="18" charset="0"/>
                          </a:rPr>
                          <m:t>𝑚</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𝑛</m:t>
                        </m:r>
                      </m:sub>
                    </m:sSub>
                  </m:oMath>
                </a14:m>
                <a:r>
                  <a:rPr lang="en-US" sz="1600" dirty="0"/>
                  <a:t>: Tells you how much important each column is.</a:t>
                </a:r>
              </a:p>
              <a:p>
                <a:pPr lvl="1">
                  <a:buFont typeface="Wingdings" panose="05000000000000000000" pitchFamily="2" charset="2"/>
                  <a:buChar char="Ø"/>
                </a:pPr>
                <a14:m>
                  <m:oMath xmlns:m="http://schemas.openxmlformats.org/officeDocument/2006/math">
                    <m:sSubSup>
                      <m:sSubSupPr>
                        <m:ctrlPr>
                          <a:rPr lang="en-US" sz="1600" b="0" i="1" smtClean="0">
                            <a:latin typeface="Cambria Math" panose="02040503050406030204" pitchFamily="18" charset="0"/>
                          </a:rPr>
                        </m:ctrlPr>
                      </m:sSubSupPr>
                      <m:e>
                        <m:r>
                          <m:rPr>
                            <m:sty m:val="p"/>
                          </m:rPr>
                          <a:rPr lang="en-US" sz="1600">
                            <a:latin typeface="Cambria Math" panose="02040503050406030204" pitchFamily="18" charset="0"/>
                          </a:rPr>
                          <m:t>V</m:t>
                        </m:r>
                      </m:e>
                      <m:sub>
                        <m:r>
                          <a:rPr lang="en-US" sz="1600" b="0" i="1" smtClean="0">
                            <a:latin typeface="Cambria Math" panose="02040503050406030204" pitchFamily="18" charset="0"/>
                          </a:rPr>
                          <m:t>𝑛</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𝑛</m:t>
                        </m:r>
                      </m:sub>
                      <m:sup>
                        <m:r>
                          <a:rPr lang="en-US" sz="1600" i="1">
                            <a:latin typeface="Cambria Math" panose="02040503050406030204" pitchFamily="18" charset="0"/>
                          </a:rPr>
                          <m:t>𝑇</m:t>
                        </m:r>
                      </m:sup>
                    </m:sSubSup>
                    <m:r>
                      <a:rPr lang="en-US" sz="1600" i="1">
                        <a:latin typeface="Cambria Math" panose="02040503050406030204" pitchFamily="18" charset="0"/>
                      </a:rPr>
                      <m:t> </m:t>
                    </m:r>
                  </m:oMath>
                </a14:m>
                <a:r>
                  <a:rPr lang="en-US" sz="1600" dirty="0"/>
                  <a:t>: Tells you how similar each row is.</a:t>
                </a:r>
              </a:p>
              <a:p>
                <a:r>
                  <a:rPr lang="en-US" sz="2000" dirty="0"/>
                  <a:t>Process:</a:t>
                </a:r>
              </a:p>
              <a:p>
                <a:pPr marL="800100" lvl="1" indent="-342900">
                  <a:buFont typeface="+mj-lt"/>
                  <a:buAutoNum type="arabicPeriod"/>
                </a:pPr>
                <a:r>
                  <a:rPr lang="en-US" sz="1600" dirty="0"/>
                  <a:t>Compute </a:t>
                </a:r>
                <a14:m>
                  <m:oMath xmlns:m="http://schemas.openxmlformats.org/officeDocument/2006/math">
                    <m:r>
                      <a:rPr lang="en-US" sz="1600" b="0" i="1" smtClean="0">
                        <a:latin typeface="Cambria Math" panose="02040503050406030204" pitchFamily="18" charset="0"/>
                      </a:rPr>
                      <m:t>𝐴</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𝐴</m:t>
                        </m:r>
                      </m:e>
                      <m:sup>
                        <m:r>
                          <a:rPr lang="en-US" sz="1600" b="0" i="1" smtClean="0">
                            <a:latin typeface="Cambria Math" panose="02040503050406030204" pitchFamily="18" charset="0"/>
                          </a:rPr>
                          <m:t>𝑇</m:t>
                        </m:r>
                      </m:sup>
                    </m:sSup>
                  </m:oMath>
                </a14:m>
                <a:r>
                  <a:rPr lang="en-US" sz="1600" dirty="0"/>
                  <a:t> (to convert </a:t>
                </a:r>
                <a14:m>
                  <m:oMath xmlns:m="http://schemas.openxmlformats.org/officeDocument/2006/math">
                    <m:r>
                      <a:rPr lang="en-US" sz="1600" b="0" i="1" smtClean="0">
                        <a:latin typeface="Cambria Math" panose="02040503050406030204" pitchFamily="18" charset="0"/>
                      </a:rPr>
                      <m:t>𝐴</m:t>
                    </m:r>
                  </m:oMath>
                </a14:m>
                <a:r>
                  <a:rPr lang="en-US" sz="1600" dirty="0"/>
                  <a:t> into a square matrix of </a:t>
                </a:r>
                <a14:m>
                  <m:oMath xmlns:m="http://schemas.openxmlformats.org/officeDocument/2006/math">
                    <m:r>
                      <a:rPr lang="en-US" sz="1600" b="0" i="1" smtClean="0">
                        <a:latin typeface="Cambria Math" panose="02040503050406030204" pitchFamily="18" charset="0"/>
                      </a:rPr>
                      <m:t>𝑚</m:t>
                    </m:r>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𝑚</m:t>
                    </m:r>
                  </m:oMath>
                </a14:m>
                <a:r>
                  <a:rPr lang="en-US" sz="1600" dirty="0"/>
                  <a:t>).</a:t>
                </a:r>
              </a:p>
              <a:p>
                <a:pPr marL="800100" lvl="1" indent="-342900">
                  <a:buFont typeface="+mj-lt"/>
                  <a:buAutoNum type="arabicPeriod"/>
                </a:pPr>
                <a:r>
                  <a:rPr lang="en-US" sz="1600" dirty="0"/>
                  <a:t>Compute the eigenvalues </a:t>
                </a:r>
                <a14:m>
                  <m:oMath xmlns:m="http://schemas.openxmlformats.org/officeDocument/2006/math">
                    <m:sSub>
                      <m:sSubPr>
                        <m:ctrlPr>
                          <a:rPr lang="en-US" sz="1600" b="0" i="1" smtClean="0">
                            <a:latin typeface="Cambria Math" panose="02040503050406030204" pitchFamily="18" charset="0"/>
                          </a:rPr>
                        </m:ctrlPr>
                      </m:sSubPr>
                      <m:e>
                        <m:r>
                          <a:rPr lang="el-GR" sz="1600" b="0" i="1" smtClean="0">
                            <a:latin typeface="Cambria Math" panose="02040503050406030204" pitchFamily="18" charset="0"/>
                          </a:rPr>
                          <m:t>𝜆</m:t>
                        </m:r>
                      </m:e>
                      <m:sub>
                        <m:r>
                          <a:rPr lang="en-US" sz="1600" b="0" i="1" smtClean="0">
                            <a:latin typeface="Cambria Math" panose="02040503050406030204" pitchFamily="18" charset="0"/>
                          </a:rPr>
                          <m:t>𝑖</m:t>
                        </m:r>
                      </m:sub>
                    </m:sSub>
                  </m:oMath>
                </a14:m>
                <a:r>
                  <a:rPr lang="en-US" sz="1600" dirty="0"/>
                  <a:t> of </a:t>
                </a:r>
                <a14:m>
                  <m:oMath xmlns:m="http://schemas.openxmlformats.org/officeDocument/2006/math">
                    <m:r>
                      <a:rPr lang="en-US" sz="1600" b="0" i="1" smtClean="0">
                        <a:latin typeface="Cambria Math" panose="02040503050406030204" pitchFamily="18" charset="0"/>
                      </a:rPr>
                      <m:t>𝐴</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𝐴</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m:t>
                    </m:r>
                  </m:oMath>
                </a14:m>
                <a:r>
                  <a:rPr lang="en-US" sz="1600" dirty="0"/>
                  <a:t> </a:t>
                </a:r>
                <a14:m>
                  <m:oMath xmlns:m="http://schemas.openxmlformats.org/officeDocument/2006/math">
                    <m:func>
                      <m:funcPr>
                        <m:ctrlPr>
                          <a:rPr lang="en-US" sz="1600" b="0" i="1" dirty="0" smtClean="0">
                            <a:latin typeface="Cambria Math" panose="02040503050406030204" pitchFamily="18" charset="0"/>
                          </a:rPr>
                        </m:ctrlPr>
                      </m:funcPr>
                      <m:fName>
                        <m:r>
                          <m:rPr>
                            <m:sty m:val="p"/>
                          </m:rPr>
                          <a:rPr lang="en-US" sz="1600" b="0" i="0" dirty="0" smtClean="0">
                            <a:latin typeface="Cambria Math" panose="02040503050406030204" pitchFamily="18" charset="0"/>
                          </a:rPr>
                          <m:t>det</m:t>
                        </m:r>
                      </m:fName>
                      <m:e>
                        <m:d>
                          <m:dPr>
                            <m:ctrlPr>
                              <a:rPr lang="en-US" sz="1600" b="0" i="1" dirty="0" smtClean="0">
                                <a:latin typeface="Cambria Math" panose="02040503050406030204" pitchFamily="18" charset="0"/>
                              </a:rPr>
                            </m:ctrlPr>
                          </m:dPr>
                          <m:e>
                            <m:r>
                              <a:rPr lang="en-US" sz="1600" b="0" i="1" dirty="0" smtClean="0">
                                <a:latin typeface="Cambria Math" panose="02040503050406030204" pitchFamily="18" charset="0"/>
                              </a:rPr>
                              <m:t>𝐴</m:t>
                            </m:r>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𝑇</m:t>
                                </m:r>
                              </m:sup>
                            </m:sSup>
                            <m:r>
                              <a:rPr lang="en-US" sz="1600" b="0" i="1" dirty="0" smtClean="0">
                                <a:latin typeface="Cambria Math" panose="02040503050406030204" pitchFamily="18" charset="0"/>
                              </a:rPr>
                              <m:t>−</m:t>
                            </m:r>
                            <m:r>
                              <a:rPr lang="el-GR" sz="1600" b="0" i="1" dirty="0" smtClean="0">
                                <a:latin typeface="Cambria Math" panose="02040503050406030204" pitchFamily="18" charset="0"/>
                              </a:rPr>
                              <m:t>𝜆</m:t>
                            </m:r>
                            <m:r>
                              <a:rPr lang="en-US" sz="1600" b="0" i="1" dirty="0" smtClean="0">
                                <a:latin typeface="Cambria Math" panose="02040503050406030204" pitchFamily="18" charset="0"/>
                              </a:rPr>
                              <m:t>𝐼</m:t>
                            </m:r>
                          </m:e>
                        </m:d>
                      </m:e>
                    </m:func>
                    <m:r>
                      <a:rPr lang="en-US" sz="1600" b="0" i="1" dirty="0" smtClean="0">
                        <a:latin typeface="Cambria Math" panose="02040503050406030204" pitchFamily="18" charset="0"/>
                      </a:rPr>
                      <m:t>=0</m:t>
                    </m:r>
                  </m:oMath>
                </a14:m>
                <a:r>
                  <a:rPr lang="en-US" sz="1600" dirty="0"/>
                  <a:t> and compute singular values </a:t>
                </a:r>
                <a14:m>
                  <m:oMath xmlns:m="http://schemas.openxmlformats.org/officeDocument/2006/math">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𝜎</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sSub>
                          <m:sSubPr>
                            <m:ctrlPr>
                              <a:rPr lang="en-US" sz="1600" b="0" i="1" smtClean="0">
                                <a:latin typeface="Cambria Math" panose="02040503050406030204" pitchFamily="18" charset="0"/>
                              </a:rPr>
                            </m:ctrlPr>
                          </m:sSubPr>
                          <m:e>
                            <m:r>
                              <a:rPr lang="el-GR" sz="1600" b="0" i="1" smtClean="0">
                                <a:latin typeface="Cambria Math" panose="02040503050406030204" pitchFamily="18" charset="0"/>
                              </a:rPr>
                              <m:t>𝜆</m:t>
                            </m:r>
                          </m:e>
                          <m:sub>
                            <m:r>
                              <a:rPr lang="en-US" sz="1600" b="0" i="1" smtClean="0">
                                <a:latin typeface="Cambria Math" panose="02040503050406030204" pitchFamily="18" charset="0"/>
                              </a:rPr>
                              <m:t>𝑖</m:t>
                            </m:r>
                          </m:sub>
                        </m:sSub>
                      </m:e>
                    </m:rad>
                  </m:oMath>
                </a14:m>
                <a:r>
                  <a:rPr lang="el-GR" sz="1600" dirty="0"/>
                  <a:t>.</a:t>
                </a:r>
                <a:r>
                  <a:rPr lang="en-US" sz="1600" dirty="0"/>
                  <a:t> Then, construct </a:t>
                </a:r>
                <a14:m>
                  <m:oMath xmlns:m="http://schemas.openxmlformats.org/officeDocument/2006/math">
                    <m:r>
                      <m:rPr>
                        <m:sty m:val="p"/>
                      </m:rPr>
                      <a:rPr lang="el-GR" sz="1600" b="0" i="0" smtClean="0">
                        <a:latin typeface="Cambria Math" panose="02040503050406030204" pitchFamily="18" charset="0"/>
                      </a:rPr>
                      <m:t>Σ</m:t>
                    </m:r>
                  </m:oMath>
                </a14:m>
                <a:r>
                  <a:rPr lang="el-GR" sz="1600" dirty="0"/>
                  <a:t> </a:t>
                </a:r>
                <a:r>
                  <a:rPr lang="en-US" sz="1600" dirty="0"/>
                  <a:t>using </a:t>
                </a:r>
                <a14:m>
                  <m:oMath xmlns:m="http://schemas.openxmlformats.org/officeDocument/2006/math">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𝜎</m:t>
                        </m:r>
                      </m:e>
                      <m:sub>
                        <m:r>
                          <a:rPr lang="en-US" sz="1600" b="0" i="1" smtClean="0">
                            <a:latin typeface="Cambria Math" panose="02040503050406030204" pitchFamily="18" charset="0"/>
                          </a:rPr>
                          <m:t>𝑖</m:t>
                        </m:r>
                      </m:sub>
                    </m:sSub>
                  </m:oMath>
                </a14:m>
                <a:r>
                  <a:rPr lang="en-US" sz="1600" dirty="0"/>
                  <a:t>.</a:t>
                </a:r>
              </a:p>
              <a:p>
                <a:pPr marL="800100" lvl="1" indent="-342900">
                  <a:buFont typeface="+mj-lt"/>
                  <a:buAutoNum type="arabicPeriod"/>
                </a:pPr>
                <a:r>
                  <a:rPr lang="en-US" sz="1600" dirty="0"/>
                  <a:t>Compute right singular vectors </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𝑉</m:t>
                        </m:r>
                      </m:e>
                      <m:sup>
                        <m:r>
                          <a:rPr lang="en-US" sz="1600" b="0" i="1" smtClean="0">
                            <a:latin typeface="Cambria Math" panose="02040503050406030204" pitchFamily="18" charset="0"/>
                          </a:rPr>
                          <m:t>𝑇</m:t>
                        </m:r>
                      </m:sup>
                    </m:sSup>
                  </m:oMath>
                </a14:m>
                <a:r>
                  <a:rPr lang="en-US" sz="1600" dirty="0"/>
                  <a:t> by computing the eigenvectors</a:t>
                </a:r>
                <a:r>
                  <a:rPr lang="el-GR" sz="1600" dirty="0"/>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𝑖</m:t>
                        </m:r>
                      </m:sub>
                    </m:sSub>
                  </m:oMath>
                </a14:m>
                <a:r>
                  <a:rPr lang="en-US" sz="1600" dirty="0"/>
                  <a:t> of </a:t>
                </a:r>
                <a14:m>
                  <m:oMath xmlns:m="http://schemas.openxmlformats.org/officeDocument/2006/math">
                    <m:r>
                      <a:rPr lang="en-US" sz="1600" b="0" i="1" smtClean="0">
                        <a:latin typeface="Cambria Math" panose="02040503050406030204" pitchFamily="18" charset="0"/>
                      </a:rPr>
                      <m:t>𝐴</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𝐴</m:t>
                        </m:r>
                      </m:e>
                      <m:sup>
                        <m:r>
                          <a:rPr lang="en-US" sz="1600" b="0" i="1" smtClean="0">
                            <a:latin typeface="Cambria Math" panose="02040503050406030204" pitchFamily="18" charset="0"/>
                          </a:rPr>
                          <m:t>𝑇</m:t>
                        </m:r>
                      </m:sup>
                    </m:sSup>
                  </m:oMath>
                </a14:m>
                <a:r>
                  <a:rPr lang="en-US" sz="1600" dirty="0"/>
                  <a:t>. Use the eigenvalues to solve </a:t>
                </a:r>
                <a14:m>
                  <m:oMath xmlns:m="http://schemas.openxmlformats.org/officeDocument/2006/math">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𝐴</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𝐴</m:t>
                            </m:r>
                          </m:e>
                          <m:sup>
                            <m:r>
                              <a:rPr lang="en-US" sz="1600" b="0" i="1" smtClean="0">
                                <a:latin typeface="Cambria Math" panose="02040503050406030204" pitchFamily="18" charset="0"/>
                              </a:rPr>
                              <m:t>𝑇</m:t>
                            </m:r>
                          </m:sup>
                        </m:sSup>
                        <m:r>
                          <a:rPr lang="en-US" sz="1600" b="0" i="1" smtClean="0">
                            <a:latin typeface="Cambria Math" panose="02040503050406030204" pitchFamily="18" charset="0"/>
                          </a:rPr>
                          <m:t>−</m:t>
                        </m:r>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𝜆</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𝐼</m:t>
                        </m:r>
                      </m:e>
                    </m:d>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=0</m:t>
                    </m:r>
                  </m:oMath>
                </a14:m>
                <a:r>
                  <a:rPr lang="en-US" sz="1600" dirty="0"/>
                  <a:t> and construct </a:t>
                </a:r>
                <a14:m>
                  <m:oMath xmlns:m="http://schemas.openxmlformats.org/officeDocument/2006/math">
                    <m:r>
                      <a:rPr lang="en-US" sz="1600" b="0" i="1" smtClean="0">
                        <a:latin typeface="Cambria Math" panose="02040503050406030204" pitchFamily="18" charset="0"/>
                      </a:rPr>
                      <m:t>𝑉</m:t>
                    </m:r>
                  </m:oMath>
                </a14:m>
                <a:r>
                  <a:rPr lang="en-US" sz="1600" dirty="0"/>
                  <a:t> matrix.</a:t>
                </a:r>
              </a:p>
              <a:p>
                <a:pPr marL="800100" lvl="1" indent="-342900">
                  <a:buFont typeface="+mj-lt"/>
                  <a:buAutoNum type="arabicPeriod"/>
                </a:pPr>
                <a:r>
                  <a:rPr lang="en-US" sz="1600" dirty="0"/>
                  <a:t>Compute</a:t>
                </a:r>
                <a:r>
                  <a:rPr lang="el-GR" sz="1600" dirty="0"/>
                  <a:t> </a:t>
                </a:r>
                <a:r>
                  <a:rPr lang="en-US" sz="1600" dirty="0"/>
                  <a:t>left singular vectors (</a:t>
                </a:r>
                <a14:m>
                  <m:oMath xmlns:m="http://schemas.openxmlformats.org/officeDocument/2006/math">
                    <m:r>
                      <a:rPr lang="en-US" sz="1600" b="0" i="1" smtClean="0">
                        <a:latin typeface="Cambria Math" panose="02040503050406030204" pitchFamily="18" charset="0"/>
                      </a:rPr>
                      <m:t>𝑈</m:t>
                    </m:r>
                  </m:oMath>
                </a14:m>
                <a:r>
                  <a:rPr lang="en-US" sz="1600" dirty="0"/>
                  <a:t> matrix) as follows:</a:t>
                </a:r>
                <a:br>
                  <a:rPr lang="en-US" sz="1600" dirty="0"/>
                </a:b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𝑢</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sSub>
                          <m:sSubPr>
                            <m:ctrlPr>
                              <a:rPr lang="en-US" sz="1600" b="0" i="1" smtClean="0">
                                <a:latin typeface="Cambria Math" panose="02040503050406030204" pitchFamily="18" charset="0"/>
                              </a:rPr>
                            </m:ctrlPr>
                          </m:sSubPr>
                          <m:e>
                            <m:r>
                              <a:rPr lang="el-GR" sz="1600" b="0" i="1" smtClean="0">
                                <a:latin typeface="Cambria Math" panose="02040503050406030204" pitchFamily="18" charset="0"/>
                              </a:rPr>
                              <m:t>𝜎</m:t>
                            </m:r>
                          </m:e>
                          <m:sub>
                            <m:r>
                              <a:rPr lang="en-US" sz="1600" b="0" i="1" smtClean="0">
                                <a:latin typeface="Cambria Math" panose="02040503050406030204" pitchFamily="18" charset="0"/>
                              </a:rPr>
                              <m:t>𝑖</m:t>
                            </m:r>
                          </m:sub>
                        </m:sSub>
                      </m:den>
                    </m:f>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𝐴𝑣</m:t>
                        </m:r>
                      </m:e>
                      <m:sub>
                        <m:r>
                          <a:rPr lang="en-US" sz="1600" b="0" i="1" smtClean="0">
                            <a:latin typeface="Cambria Math" panose="02040503050406030204" pitchFamily="18" charset="0"/>
                          </a:rPr>
                          <m:t>𝑖</m:t>
                        </m:r>
                      </m:sub>
                    </m:sSub>
                  </m:oMath>
                </a14:m>
                <a:r>
                  <a:rPr lang="en-US" sz="1600" dirty="0"/>
                  <a:t>.</a:t>
                </a:r>
              </a:p>
              <a:p>
                <a:pPr marL="800100" lvl="1" indent="-342900">
                  <a:buFont typeface="+mj-lt"/>
                  <a:buAutoNum type="arabicPeriod"/>
                </a:pPr>
                <a:r>
                  <a:rPr lang="en-US" sz="1600" dirty="0"/>
                  <a:t>You can choose to keep </a:t>
                </a:r>
                <a14:m>
                  <m:oMath xmlns:m="http://schemas.openxmlformats.org/officeDocument/2006/math">
                    <m:r>
                      <a:rPr lang="en-US" sz="1600" b="0" i="1" smtClean="0">
                        <a:latin typeface="Cambria Math" panose="02040503050406030204" pitchFamily="18" charset="0"/>
                      </a:rPr>
                      <m:t>𝑘</m:t>
                    </m:r>
                  </m:oMath>
                </a14:m>
                <a:r>
                  <a:rPr lang="en-US" sz="1600" dirty="0"/>
                  <a:t> singular values </a:t>
                </a:r>
                <a14:m>
                  <m:oMath xmlns:m="http://schemas.openxmlformats.org/officeDocument/2006/math">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𝜎</m:t>
                        </m:r>
                      </m:e>
                      <m:sub>
                        <m:r>
                          <a:rPr lang="en-US" sz="1600" b="0" i="1" smtClean="0">
                            <a:latin typeface="Cambria Math" panose="02040503050406030204" pitchFamily="18" charset="0"/>
                          </a:rPr>
                          <m:t>𝑖</m:t>
                        </m:r>
                      </m:sub>
                    </m:sSub>
                  </m:oMath>
                </a14:m>
                <a:r>
                  <a:rPr lang="en-US" sz="1600" dirty="0"/>
                  <a:t> from </a:t>
                </a:r>
                <a14:m>
                  <m:oMath xmlns:m="http://schemas.openxmlformats.org/officeDocument/2006/math">
                    <m:r>
                      <m:rPr>
                        <m:sty m:val="p"/>
                      </m:rPr>
                      <a:rPr lang="el-GR" sz="1600" b="0" i="0" smtClean="0">
                        <a:latin typeface="Cambria Math" panose="02040503050406030204" pitchFamily="18" charset="0"/>
                      </a:rPr>
                      <m:t>Σ</m:t>
                    </m:r>
                  </m:oMath>
                </a14:m>
                <a:r>
                  <a:rPr lang="el-GR" sz="1600" dirty="0"/>
                  <a:t> </a:t>
                </a:r>
                <a:r>
                  <a:rPr lang="en-US" sz="1600" dirty="0"/>
                  <a:t>matrix to compress the data.</a:t>
                </a:r>
                <a:endParaRPr lang="el-GR" sz="1600" dirty="0"/>
              </a:p>
              <a:p>
                <a:pPr marL="800100" lvl="1" indent="-342900">
                  <a:buFont typeface="+mj-lt"/>
                  <a:buAutoNum type="arabicPeriod"/>
                </a:pPr>
                <a:endParaRPr lang="en-US" sz="1600" dirty="0"/>
              </a:p>
            </p:txBody>
          </p:sp>
        </mc:Choice>
        <mc:Fallback>
          <p:sp>
            <p:nvSpPr>
              <p:cNvPr id="3" name="Θέση περιεχομένου 2">
                <a:extLst>
                  <a:ext uri="{FF2B5EF4-FFF2-40B4-BE49-F238E27FC236}">
                    <a16:creationId xmlns:a16="http://schemas.microsoft.com/office/drawing/2014/main" id="{7F310FCE-7D5A-5B16-2034-5F055788AD55}"/>
                  </a:ext>
                </a:extLst>
              </p:cNvPr>
              <p:cNvSpPr>
                <a:spLocks noGrp="1" noRot="1" noChangeAspect="1" noMove="1" noResize="1" noEditPoints="1" noAdjustHandles="1" noChangeArrowheads="1" noChangeShapeType="1" noTextEdit="1"/>
              </p:cNvSpPr>
              <p:nvPr>
                <p:ph idx="1"/>
              </p:nvPr>
            </p:nvSpPr>
            <p:spPr>
              <a:xfrm>
                <a:off x="838200" y="1070803"/>
                <a:ext cx="6181492" cy="4881941"/>
              </a:xfrm>
              <a:blipFill>
                <a:blip r:embed="rId2"/>
                <a:stretch>
                  <a:fillRect l="-888" t="-1248" r="-394"/>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4DAD5F17-2917-1F61-7A37-48505CDBBDA8}"/>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48240FAC-1FED-A906-3306-628AE66A2B01}"/>
              </a:ext>
            </a:extLst>
          </p:cNvPr>
          <p:cNvSpPr>
            <a:spLocks noGrp="1"/>
          </p:cNvSpPr>
          <p:nvPr>
            <p:ph type="sldNum" sz="quarter" idx="12"/>
          </p:nvPr>
        </p:nvSpPr>
        <p:spPr/>
        <p:txBody>
          <a:bodyPr/>
          <a:lstStyle/>
          <a:p>
            <a:fld id="{4ACA1919-B5C6-4827-8B15-372F46BB4020}" type="slidenum">
              <a:rPr lang="en-US" smtClean="0"/>
              <a:t>19</a:t>
            </a:fld>
            <a:endParaRPr lang="en-US"/>
          </a:p>
        </p:txBody>
      </p:sp>
      <p:grpSp>
        <p:nvGrpSpPr>
          <p:cNvPr id="10" name="Ομάδα 9">
            <a:extLst>
              <a:ext uri="{FF2B5EF4-FFF2-40B4-BE49-F238E27FC236}">
                <a16:creationId xmlns:a16="http://schemas.microsoft.com/office/drawing/2014/main" id="{E9308BD4-70BC-F5DF-D7DD-07E5561B95AD}"/>
              </a:ext>
            </a:extLst>
          </p:cNvPr>
          <p:cNvGrpSpPr/>
          <p:nvPr/>
        </p:nvGrpSpPr>
        <p:grpSpPr>
          <a:xfrm>
            <a:off x="8770911" y="326318"/>
            <a:ext cx="2951697" cy="1854096"/>
            <a:chOff x="8530215" y="859348"/>
            <a:chExt cx="3245538" cy="2038671"/>
          </a:xfrm>
        </p:grpSpPr>
        <p:pic>
          <p:nvPicPr>
            <p:cNvPr id="7" name="Εικόνα 6">
              <a:extLst>
                <a:ext uri="{FF2B5EF4-FFF2-40B4-BE49-F238E27FC236}">
                  <a16:creationId xmlns:a16="http://schemas.microsoft.com/office/drawing/2014/main" id="{5D4DA036-FF87-A719-3071-5946BD715D1B}"/>
                </a:ext>
              </a:extLst>
            </p:cNvPr>
            <p:cNvPicPr>
              <a:picLocks noChangeAspect="1"/>
            </p:cNvPicPr>
            <p:nvPr/>
          </p:nvPicPr>
          <p:blipFill>
            <a:blip r:embed="rId3"/>
            <a:stretch>
              <a:fillRect/>
            </a:stretch>
          </p:blipFill>
          <p:spPr>
            <a:xfrm>
              <a:off x="8610600" y="859348"/>
              <a:ext cx="3011521" cy="166933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00E3C3-4E45-F3A5-160D-A8F017525192}"/>
                    </a:ext>
                  </a:extLst>
                </p:cNvPr>
                <p:cNvSpPr txBox="1"/>
                <p:nvPr/>
              </p:nvSpPr>
              <p:spPr>
                <a:xfrm>
                  <a:off x="8530215" y="2528687"/>
                  <a:ext cx="4290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oMath>
                    </m:oMathPara>
                  </a14:m>
                  <a:endParaRPr lang="en-US" dirty="0"/>
                </a:p>
              </p:txBody>
            </p:sp>
          </mc:Choice>
          <mc:Fallback xmlns="">
            <p:sp>
              <p:nvSpPr>
                <p:cNvPr id="8" name="TextBox 7">
                  <a:extLst>
                    <a:ext uri="{FF2B5EF4-FFF2-40B4-BE49-F238E27FC236}">
                      <a16:creationId xmlns:a16="http://schemas.microsoft.com/office/drawing/2014/main" id="{F600E3C3-4E45-F3A5-160D-A8F017525192}"/>
                    </a:ext>
                  </a:extLst>
                </p:cNvPr>
                <p:cNvSpPr txBox="1">
                  <a:spLocks noRot="1" noChangeAspect="1" noMove="1" noResize="1" noEditPoints="1" noAdjustHandles="1" noChangeArrowheads="1" noChangeShapeType="1" noTextEdit="1"/>
                </p:cNvSpPr>
                <p:nvPr/>
              </p:nvSpPr>
              <p:spPr>
                <a:xfrm>
                  <a:off x="8530215" y="2528687"/>
                  <a:ext cx="4290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0DDE90-5F1D-65CA-4004-C20DDCE38B7E}"/>
                    </a:ext>
                  </a:extLst>
                </p:cNvPr>
                <p:cNvSpPr txBox="1"/>
                <p:nvPr/>
              </p:nvSpPr>
              <p:spPr>
                <a:xfrm>
                  <a:off x="11407575" y="859348"/>
                  <a:ext cx="3681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p:txBody>
            </p:sp>
          </mc:Choice>
          <mc:Fallback xmlns="">
            <p:sp>
              <p:nvSpPr>
                <p:cNvPr id="9" name="TextBox 8">
                  <a:extLst>
                    <a:ext uri="{FF2B5EF4-FFF2-40B4-BE49-F238E27FC236}">
                      <a16:creationId xmlns:a16="http://schemas.microsoft.com/office/drawing/2014/main" id="{FE0DDE90-5F1D-65CA-4004-C20DDCE38B7E}"/>
                    </a:ext>
                  </a:extLst>
                </p:cNvPr>
                <p:cNvSpPr txBox="1">
                  <a:spLocks noRot="1" noChangeAspect="1" noMove="1" noResize="1" noEditPoints="1" noAdjustHandles="1" noChangeArrowheads="1" noChangeShapeType="1" noTextEdit="1"/>
                </p:cNvSpPr>
                <p:nvPr/>
              </p:nvSpPr>
              <p:spPr>
                <a:xfrm>
                  <a:off x="11407575" y="859348"/>
                  <a:ext cx="368178" cy="369332"/>
                </a:xfrm>
                <a:prstGeom prst="rect">
                  <a:avLst/>
                </a:prstGeom>
                <a:blipFill>
                  <a:blip r:embed="rId5"/>
                  <a:stretch>
                    <a:fillRect/>
                  </a:stretch>
                </a:blipFill>
              </p:spPr>
              <p:txBody>
                <a:bodyPr/>
                <a:lstStyle/>
                <a:p>
                  <a:r>
                    <a:rPr lang="en-US">
                      <a:noFill/>
                    </a:rPr>
                    <a:t> </a:t>
                  </a:r>
                </a:p>
              </p:txBody>
            </p:sp>
          </mc:Fallback>
        </mc:AlternateContent>
      </p:grpSp>
      <p:pic>
        <p:nvPicPr>
          <p:cNvPr id="2050" name="Picture 2" descr="Singular Value Decomposition and the Fundamental The...">
            <a:extLst>
              <a:ext uri="{FF2B5EF4-FFF2-40B4-BE49-F238E27FC236}">
                <a16:creationId xmlns:a16="http://schemas.microsoft.com/office/drawing/2014/main" id="{B38458CB-D06C-674B-DEBE-D416D0C870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3324" y="2281503"/>
            <a:ext cx="4953837" cy="16693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ssy image compression using SVD coding, compressive autoencoders, and  prediction error-vector quantization | Semantic Scholar">
            <a:extLst>
              <a:ext uri="{FF2B5EF4-FFF2-40B4-BE49-F238E27FC236}">
                <a16:creationId xmlns:a16="http://schemas.microsoft.com/office/drawing/2014/main" id="{4B8B7F44-412E-BC49-617F-ECEC9710CC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5567" y="4133405"/>
            <a:ext cx="2009349" cy="2588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187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EEB0CFB-9C15-3E9C-2DFF-9FF7D58C7A18}"/>
              </a:ext>
            </a:extLst>
          </p:cNvPr>
          <p:cNvSpPr>
            <a:spLocks noGrp="1"/>
          </p:cNvSpPr>
          <p:nvPr>
            <p:ph type="title"/>
          </p:nvPr>
        </p:nvSpPr>
        <p:spPr>
          <a:xfrm>
            <a:off x="838200" y="136525"/>
            <a:ext cx="10515600" cy="1325563"/>
          </a:xfrm>
        </p:spPr>
        <p:txBody>
          <a:bodyPr/>
          <a:lstStyle/>
          <a:p>
            <a:r>
              <a:rPr lang="en-US" dirty="0"/>
              <a:t>SVD Example</a:t>
            </a:r>
          </a:p>
        </p:txBody>
      </p:sp>
      <p:sp>
        <p:nvSpPr>
          <p:cNvPr id="4" name="Θέση υποσέλιδου 3">
            <a:extLst>
              <a:ext uri="{FF2B5EF4-FFF2-40B4-BE49-F238E27FC236}">
                <a16:creationId xmlns:a16="http://schemas.microsoft.com/office/drawing/2014/main" id="{66E1D4DF-96DC-C47A-B35C-CCCDA234E9EE}"/>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16487FFD-07E2-8EB2-5254-11DCDF2AD664}"/>
              </a:ext>
            </a:extLst>
          </p:cNvPr>
          <p:cNvSpPr>
            <a:spLocks noGrp="1"/>
          </p:cNvSpPr>
          <p:nvPr>
            <p:ph type="sldNum" sz="quarter" idx="12"/>
          </p:nvPr>
        </p:nvSpPr>
        <p:spPr/>
        <p:txBody>
          <a:bodyPr/>
          <a:lstStyle/>
          <a:p>
            <a:fld id="{4ACA1919-B5C6-4827-8B15-372F46BB4020}" type="slidenum">
              <a:rPr lang="en-US" smtClean="0"/>
              <a:t>20</a:t>
            </a:fld>
            <a:endParaRPr lang="en-US"/>
          </a:p>
        </p:txBody>
      </p:sp>
      <p:pic>
        <p:nvPicPr>
          <p:cNvPr id="6" name="Ηλεκτρονικά πολυμέσα 5" title="Computing the Singular Value Decomposition | MIT 18.06SC Linear Algebra, Fall 2011">
            <a:hlinkClick r:id="" action="ppaction://media"/>
            <a:extLst>
              <a:ext uri="{FF2B5EF4-FFF2-40B4-BE49-F238E27FC236}">
                <a16:creationId xmlns:a16="http://schemas.microsoft.com/office/drawing/2014/main" id="{B39581FD-309D-29C4-E71D-143974481C41}"/>
              </a:ext>
            </a:extLst>
          </p:cNvPr>
          <p:cNvPicPr>
            <a:picLocks noRot="1" noChangeAspect="1"/>
          </p:cNvPicPr>
          <p:nvPr>
            <a:videoFile r:link="rId1"/>
          </p:nvPr>
        </p:nvPicPr>
        <p:blipFill>
          <a:blip r:embed="rId3"/>
          <a:stretch>
            <a:fillRect/>
          </a:stretch>
        </p:blipFill>
        <p:spPr>
          <a:xfrm>
            <a:off x="1695962" y="1357313"/>
            <a:ext cx="8336462" cy="4710112"/>
          </a:xfrm>
          <a:prstGeom prst="rect">
            <a:avLst/>
          </a:prstGeom>
        </p:spPr>
      </p:pic>
    </p:spTree>
    <p:extLst>
      <p:ext uri="{BB962C8B-B14F-4D97-AF65-F5344CB8AC3E}">
        <p14:creationId xmlns:p14="http://schemas.microsoft.com/office/powerpoint/2010/main" val="37947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337871E-DE73-863A-101A-660DC787073B}"/>
              </a:ext>
            </a:extLst>
          </p:cNvPr>
          <p:cNvSpPr>
            <a:spLocks noGrp="1"/>
          </p:cNvSpPr>
          <p:nvPr>
            <p:ph type="title"/>
          </p:nvPr>
        </p:nvSpPr>
        <p:spPr>
          <a:xfrm>
            <a:off x="422148" y="30717"/>
            <a:ext cx="7772400" cy="941865"/>
          </a:xfrm>
        </p:spPr>
        <p:txBody>
          <a:bodyPr>
            <a:normAutofit/>
          </a:bodyPr>
          <a:lstStyle/>
          <a:p>
            <a:r>
              <a:rPr lang="en-US" sz="4000" dirty="0"/>
              <a:t>Principal Component Analysis (PCA)</a:t>
            </a:r>
          </a:p>
        </p:txBody>
      </p:sp>
      <mc:AlternateContent xmlns:mc="http://schemas.openxmlformats.org/markup-compatibility/2006">
        <mc:Choice xmlns:a14="http://schemas.microsoft.com/office/drawing/2010/main" Requires="a14">
          <p:sp>
            <p:nvSpPr>
              <p:cNvPr id="3" name="Θέση περιεχομένου 2">
                <a:extLst>
                  <a:ext uri="{FF2B5EF4-FFF2-40B4-BE49-F238E27FC236}">
                    <a16:creationId xmlns:a16="http://schemas.microsoft.com/office/drawing/2014/main" id="{622D0082-6018-7722-789C-306C86E7A968}"/>
                  </a:ext>
                </a:extLst>
              </p:cNvPr>
              <p:cNvSpPr>
                <a:spLocks noGrp="1"/>
              </p:cNvSpPr>
              <p:nvPr>
                <p:ph idx="1"/>
              </p:nvPr>
            </p:nvSpPr>
            <p:spPr>
              <a:xfrm>
                <a:off x="422147" y="1124712"/>
                <a:ext cx="8560981" cy="5231638"/>
              </a:xfrm>
            </p:spPr>
            <p:txBody>
              <a:bodyPr>
                <a:normAutofit/>
              </a:bodyPr>
              <a:lstStyle/>
              <a:p>
                <a:r>
                  <a:rPr lang="en-US" sz="2000" dirty="0"/>
                  <a:t>PCA is a dimensionality reduction technique that tries to reduce the number of features in a dataset while keeping the most important information.</a:t>
                </a:r>
              </a:p>
              <a:p>
                <a:r>
                  <a:rPr lang="en-US" sz="2000" dirty="0"/>
                  <a:t>It transforms complex datasets into simpler by transforming correlated features into a smaller set of uncorrelated components (</a:t>
                </a:r>
                <a:r>
                  <a:rPr lang="en-US" sz="2000" b="1" dirty="0"/>
                  <a:t>Principal Components</a:t>
                </a:r>
                <a:r>
                  <a:rPr lang="en-US" sz="2000" dirty="0"/>
                  <a:t>).</a:t>
                </a:r>
              </a:p>
              <a:p>
                <a:r>
                  <a:rPr lang="en-US" sz="2000" dirty="0"/>
                  <a:t>Given matrix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𝑛</m:t>
                        </m:r>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𝑚</m:t>
                        </m:r>
                      </m:sub>
                    </m:sSub>
                  </m:oMath>
                </a14:m>
                <a:r>
                  <a:rPr lang="en-US" sz="2000" dirty="0"/>
                  <a:t>, the process of PCA is the following:</a:t>
                </a:r>
              </a:p>
              <a:p>
                <a:pPr marL="800100" lvl="1" indent="-342900">
                  <a:buFont typeface="+mj-lt"/>
                  <a:buAutoNum type="arabicPeriod"/>
                </a:pPr>
                <a:r>
                  <a:rPr lang="en-US" sz="1600" dirty="0"/>
                  <a:t>Standardize features: </a:t>
                </a:r>
                <a14:m>
                  <m:oMath xmlns:m="http://schemas.openxmlformats.org/officeDocument/2006/math">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m:t>
                        </m:r>
                      </m:sup>
                    </m:sSubSup>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𝑥</m:t>
                        </m:r>
                        <m:r>
                          <a:rPr lang="el-GR"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l-GR" sz="1600" b="0" i="1" smtClean="0">
                                <a:latin typeface="Cambria Math" panose="02040503050406030204" pitchFamily="18" charset="0"/>
                              </a:rPr>
                              <m:t>𝜇</m:t>
                            </m:r>
                          </m:e>
                          <m:sub>
                            <m:r>
                              <a:rPr lang="en-US" sz="1600" b="0" i="1" smtClean="0">
                                <a:latin typeface="Cambria Math" panose="02040503050406030204" pitchFamily="18" charset="0"/>
                              </a:rPr>
                              <m:t>𝑖</m:t>
                            </m:r>
                          </m:sub>
                        </m:sSub>
                      </m:num>
                      <m:den>
                        <m:sSub>
                          <m:sSubPr>
                            <m:ctrlPr>
                              <a:rPr lang="en-US" sz="1600" b="0" i="1" smtClean="0">
                                <a:latin typeface="Cambria Math" panose="02040503050406030204" pitchFamily="18" charset="0"/>
                              </a:rPr>
                            </m:ctrlPr>
                          </m:sSubPr>
                          <m:e>
                            <m:r>
                              <a:rPr lang="el-GR" sz="1600" b="0" i="1" smtClean="0">
                                <a:latin typeface="Cambria Math" panose="02040503050406030204" pitchFamily="18" charset="0"/>
                              </a:rPr>
                              <m:t>𝜎</m:t>
                            </m:r>
                          </m:e>
                          <m:sub>
                            <m:r>
                              <a:rPr lang="en-US" sz="1600" b="0" i="1" smtClean="0">
                                <a:latin typeface="Cambria Math" panose="02040503050406030204" pitchFamily="18" charset="0"/>
                              </a:rPr>
                              <m:t>𝑖</m:t>
                            </m:r>
                          </m:sub>
                        </m:sSub>
                      </m:den>
                    </m:f>
                  </m:oMath>
                </a14:m>
                <a:r>
                  <a:rPr lang="el-GR" sz="1600" dirty="0"/>
                  <a:t>, </a:t>
                </a:r>
                <a:r>
                  <a:rPr lang="en-US" sz="1600" dirty="0"/>
                  <a:t>where </a:t>
                </a:r>
                <a14:m>
                  <m:oMath xmlns:m="http://schemas.openxmlformats.org/officeDocument/2006/math">
                    <m:r>
                      <a:rPr lang="el-GR" sz="1600" b="0" i="1" smtClean="0">
                        <a:latin typeface="Cambria Math" panose="02040503050406030204" pitchFamily="18" charset="0"/>
                      </a:rPr>
                      <m:t>𝜇</m:t>
                    </m:r>
                    <m:r>
                      <a:rPr lang="el-GR" sz="1600" b="0" i="1" smtClean="0">
                        <a:latin typeface="Cambria Math" panose="02040503050406030204" pitchFamily="18" charset="0"/>
                      </a:rPr>
                      <m:t>,</m:t>
                    </m:r>
                    <m:r>
                      <a:rPr lang="el-GR" sz="1600" b="0" i="1" smtClean="0">
                        <a:latin typeface="Cambria Math" panose="02040503050406030204" pitchFamily="18" charset="0"/>
                      </a:rPr>
                      <m:t>𝜎</m:t>
                    </m:r>
                  </m:oMath>
                </a14:m>
                <a:r>
                  <a:rPr lang="el-GR" sz="1600" dirty="0"/>
                  <a:t> </a:t>
                </a:r>
                <a:r>
                  <a:rPr lang="en-US" sz="1600" dirty="0"/>
                  <a:t>are mean, standard deviation.</a:t>
                </a:r>
              </a:p>
              <a:p>
                <a:pPr marL="800100" lvl="1" indent="-342900">
                  <a:buFont typeface="+mj-lt"/>
                  <a:buAutoNum type="arabicPeriod"/>
                </a:pPr>
                <a:r>
                  <a:rPr lang="en-US" sz="1600" dirty="0"/>
                  <a:t>Compute Covariance Matrix. For features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b="0" i="1" smtClean="0">
                        <a:latin typeface="Cambria Math" panose="02040503050406030204" pitchFamily="18" charset="0"/>
                      </a:rPr>
                      <m:t>𝑦</m:t>
                    </m:r>
                    <m:r>
                      <a:rPr lang="en-US" sz="1600" b="0" i="1" smtClean="0">
                        <a:latin typeface="Cambria Math" panose="02040503050406030204" pitchFamily="18" charset="0"/>
                      </a:rPr>
                      <m:t>, </m:t>
                    </m:r>
                    <m:r>
                      <a:rPr lang="en-US" sz="1600" b="0" i="1" smtClean="0">
                        <a:latin typeface="Cambria Math" panose="02040503050406030204" pitchFamily="18" charset="0"/>
                      </a:rPr>
                      <m:t>𝐶𝑜𝑣</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b="0" i="1" smtClean="0">
                            <a:latin typeface="Cambria Math" panose="02040503050406030204" pitchFamily="18" charset="0"/>
                          </a:rPr>
                          <m:t>𝑦</m:t>
                        </m:r>
                        <m:r>
                          <a:rPr lang="en-US" sz="1600" b="0" i="1" smtClean="0">
                            <a:latin typeface="Cambria Math" panose="02040503050406030204" pitchFamily="18" charset="0"/>
                          </a:rPr>
                          <m:t> </m:t>
                        </m:r>
                      </m:e>
                    </m:d>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𝑁</m:t>
                        </m:r>
                      </m:sup>
                      <m:e>
                        <m:f>
                          <m:fPr>
                            <m:ctrlPr>
                              <a:rPr lang="en-US" sz="1600" b="0" i="1" smtClean="0">
                                <a:latin typeface="Cambria Math" panose="02040503050406030204" pitchFamily="18" charset="0"/>
                              </a:rPr>
                            </m:ctrlPr>
                          </m:fPr>
                          <m:num>
                            <m:r>
                              <a:rPr lang="el-GR"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𝜇</m:t>
                                </m:r>
                              </m:e>
                              <m:sub>
                                <m:r>
                                  <a:rPr lang="en-US" sz="1600" b="0" i="1" smtClean="0">
                                    <a:latin typeface="Cambria Math" panose="02040503050406030204" pitchFamily="18" charset="0"/>
                                  </a:rPr>
                                  <m:t>𝑥</m:t>
                                </m:r>
                              </m:sub>
                            </m:sSub>
                            <m:r>
                              <a:rPr lang="el-GR" sz="1600" b="0" i="1" smtClean="0">
                                <a:latin typeface="Cambria Math" panose="02040503050406030204" pitchFamily="18" charset="0"/>
                              </a:rPr>
                              <m:t>)(</m:t>
                            </m:r>
                            <m:r>
                              <a:rPr lang="en-US" sz="1600" b="0" i="1" smtClean="0">
                                <a:latin typeface="Cambria Math" panose="02040503050406030204" pitchFamily="18" charset="0"/>
                              </a:rPr>
                              <m:t>𝑦</m:t>
                            </m:r>
                            <m:r>
                              <a:rPr lang="en-US" sz="1600" b="0" i="1" smtClean="0">
                                <a:latin typeface="Cambria Math" panose="02040503050406030204" pitchFamily="18" charset="0"/>
                              </a:rPr>
                              <m:t>−</m:t>
                            </m:r>
                            <m:sSub>
                              <m:sSubPr>
                                <m:ctrlPr>
                                  <a:rPr lang="el-GR" sz="1600" b="0" i="1" smtClean="0">
                                    <a:latin typeface="Cambria Math" panose="02040503050406030204" pitchFamily="18" charset="0"/>
                                  </a:rPr>
                                </m:ctrlPr>
                              </m:sSubPr>
                              <m:e>
                                <m:r>
                                  <a:rPr lang="el-GR" sz="1600" b="0" i="1" smtClean="0">
                                    <a:latin typeface="Cambria Math" panose="02040503050406030204" pitchFamily="18" charset="0"/>
                                  </a:rPr>
                                  <m:t>𝜇</m:t>
                                </m:r>
                              </m:e>
                              <m:sub>
                                <m:r>
                                  <a:rPr lang="en-US" sz="1600" b="0" i="1" smtClean="0">
                                    <a:latin typeface="Cambria Math" panose="02040503050406030204" pitchFamily="18" charset="0"/>
                                  </a:rPr>
                                  <m:t>𝑦</m:t>
                                </m:r>
                              </m:sub>
                            </m:sSub>
                            <m:r>
                              <a:rPr lang="el-GR" sz="1600" b="0" i="1" smtClean="0">
                                <a:latin typeface="Cambria Math" panose="02040503050406030204" pitchFamily="18" charset="0"/>
                              </a:rPr>
                              <m:t>)</m:t>
                            </m:r>
                          </m:num>
                          <m:den>
                            <m:r>
                              <a:rPr lang="en-US" sz="1600" b="0" i="1" smtClean="0">
                                <a:latin typeface="Cambria Math" panose="02040503050406030204" pitchFamily="18" charset="0"/>
                              </a:rPr>
                              <m:t>𝑛</m:t>
                            </m:r>
                            <m:r>
                              <a:rPr lang="en-US" sz="1600" b="0" i="1" smtClean="0">
                                <a:latin typeface="Cambria Math" panose="02040503050406030204" pitchFamily="18" charset="0"/>
                              </a:rPr>
                              <m:t>−1</m:t>
                            </m:r>
                          </m:den>
                        </m:f>
                      </m:e>
                    </m:nary>
                  </m:oMath>
                </a14:m>
                <a:r>
                  <a:rPr lang="el-GR" sz="1600" dirty="0"/>
                  <a:t>. </a:t>
                </a:r>
                <a:r>
                  <a:rPr lang="en-US" sz="1600" dirty="0"/>
                  <a:t> </a:t>
                </a:r>
                <a:endParaRPr lang="el-GR" sz="1600" dirty="0"/>
              </a:p>
              <a:p>
                <a:pPr marL="457200" lvl="1" indent="0">
                  <a:buNone/>
                </a:pPr>
                <a:r>
                  <a:rPr lang="en-US" sz="1600" dirty="0">
                    <a:hlinkClick r:id="rId2"/>
                  </a:rPr>
                  <a:t>https://www.geeksforgeeks.org/maths/covariance-matrix/</a:t>
                </a:r>
                <a:endParaRPr lang="en-US" sz="1600" dirty="0"/>
              </a:p>
              <a:p>
                <a:pPr marL="800100" lvl="1" indent="-342900">
                  <a:buFont typeface="+mj-lt"/>
                  <a:buAutoNum type="arabicPeriod" startAt="3"/>
                </a:pPr>
                <a:r>
                  <a:rPr lang="en-US" sz="1600" dirty="0"/>
                  <a:t>Compute Principal Components: </a:t>
                </a:r>
              </a:p>
              <a:p>
                <a:pPr lvl="2">
                  <a:buFont typeface="Wingdings" panose="05000000000000000000" pitchFamily="2" charset="2"/>
                  <a:buChar char="Ø"/>
                </a:pPr>
                <a:r>
                  <a:rPr lang="en-US" sz="1600" dirty="0"/>
                  <a:t>1st Principal Component (PC1): The direction of maximum variance (most spread).</a:t>
                </a:r>
              </a:p>
              <a:p>
                <a:pPr lvl="2">
                  <a:buFont typeface="Wingdings" panose="05000000000000000000" pitchFamily="2" charset="2"/>
                  <a:buChar char="Ø"/>
                </a:pPr>
                <a:r>
                  <a:rPr lang="en-US" sz="1600" dirty="0"/>
                  <a:t>2nd Principal Component (PC2): The next best direction, perpendicular to PC1…</a:t>
                </a:r>
                <a:endParaRPr lang="en-US" dirty="0"/>
              </a:p>
              <a:p>
                <a:pPr marL="914400" lvl="2" indent="0">
                  <a:buNone/>
                </a:pPr>
                <a:r>
                  <a:rPr lang="en-US" sz="1600" dirty="0"/>
                  <a:t>These directions come from the eigenvectors of the Cov Matrix and their importance is measured by eigenvalues: </a:t>
                </a:r>
                <a14:m>
                  <m:oMath xmlns:m="http://schemas.openxmlformats.org/officeDocument/2006/math">
                    <m:r>
                      <a:rPr lang="en-US" sz="1600" b="0" i="1" smtClean="0">
                        <a:latin typeface="Cambria Math" panose="02040503050406030204" pitchFamily="18" charset="0"/>
                      </a:rPr>
                      <m:t>𝐴𝑋</m:t>
                    </m:r>
                    <m:r>
                      <a:rPr lang="en-US" sz="1600" b="0" i="1" smtClean="0">
                        <a:latin typeface="Cambria Math" panose="02040503050406030204" pitchFamily="18" charset="0"/>
                      </a:rPr>
                      <m:t>=</m:t>
                    </m:r>
                    <m:r>
                      <a:rPr lang="el-GR" sz="1600" b="0" i="1" smtClean="0">
                        <a:latin typeface="Cambria Math" panose="02040503050406030204" pitchFamily="18" charset="0"/>
                      </a:rPr>
                      <m:t>𝜆</m:t>
                    </m:r>
                    <m:r>
                      <a:rPr lang="en-US" sz="1600" b="0" i="1" smtClean="0">
                        <a:latin typeface="Cambria Math" panose="02040503050406030204" pitchFamily="18" charset="0"/>
                      </a:rPr>
                      <m:t>𝑋</m:t>
                    </m:r>
                  </m:oMath>
                </a14:m>
                <a:r>
                  <a:rPr lang="en-US" sz="1600" dirty="0"/>
                  <a:t>, where </a:t>
                </a:r>
                <a14:m>
                  <m:oMath xmlns:m="http://schemas.openxmlformats.org/officeDocument/2006/math">
                    <m:r>
                      <a:rPr lang="en-US" sz="1600" b="0" i="1" smtClean="0">
                        <a:latin typeface="Cambria Math" panose="02040503050406030204" pitchFamily="18" charset="0"/>
                      </a:rPr>
                      <m:t>𝑋</m:t>
                    </m:r>
                  </m:oMath>
                </a14:m>
                <a:r>
                  <a:rPr lang="en-US" sz="1600" dirty="0"/>
                  <a:t> eigenvectors and </a:t>
                </a:r>
                <a14:m>
                  <m:oMath xmlns:m="http://schemas.openxmlformats.org/officeDocument/2006/math">
                    <m:r>
                      <a:rPr lang="el-GR" sz="1600" b="0" i="1" smtClean="0">
                        <a:latin typeface="Cambria Math" panose="02040503050406030204" pitchFamily="18" charset="0"/>
                      </a:rPr>
                      <m:t>𝜆</m:t>
                    </m:r>
                  </m:oMath>
                </a14:m>
                <a:r>
                  <a:rPr lang="el-GR" sz="1600" dirty="0"/>
                  <a:t> </a:t>
                </a:r>
                <a:r>
                  <a:rPr lang="en-US" sz="1600" dirty="0"/>
                  <a:t>eigenvalues.</a:t>
                </a:r>
              </a:p>
              <a:p>
                <a:pPr marL="800100" lvl="1" indent="-342900">
                  <a:buFont typeface="+mj-lt"/>
                  <a:buAutoNum type="arabicPeriod" startAt="3"/>
                </a:pPr>
                <a:r>
                  <a:rPr lang="en-US" sz="1600" dirty="0"/>
                  <a:t>The final step is to pick the top </a:t>
                </a:r>
                <a14:m>
                  <m:oMath xmlns:m="http://schemas.openxmlformats.org/officeDocument/2006/math">
                    <m:r>
                      <a:rPr lang="en-US" sz="1600" b="0" i="1" smtClean="0">
                        <a:latin typeface="Cambria Math" panose="02040503050406030204" pitchFamily="18" charset="0"/>
                      </a:rPr>
                      <m:t>𝑘</m:t>
                    </m:r>
                  </m:oMath>
                </a14:m>
                <a:r>
                  <a:rPr lang="en-US" sz="1600" dirty="0"/>
                  <a:t> components and project the original dataset into these </a:t>
                </a:r>
                <a14:m>
                  <m:oMath xmlns:m="http://schemas.openxmlformats.org/officeDocument/2006/math">
                    <m:r>
                      <a:rPr lang="en-US" sz="1600" b="0" i="1" smtClean="0">
                        <a:latin typeface="Cambria Math" panose="02040503050406030204" pitchFamily="18" charset="0"/>
                      </a:rPr>
                      <m:t>𝑘</m:t>
                    </m:r>
                  </m:oMath>
                </a14:m>
                <a:r>
                  <a:rPr lang="en-US" sz="1600" dirty="0"/>
                  <a:t> dimensions, </a:t>
                </a:r>
                <a14:m>
                  <m:oMath xmlns:m="http://schemas.openxmlformats.org/officeDocument/2006/math">
                    <m:r>
                      <a:rPr lang="en-US" sz="1600" b="0" i="1" smtClean="0">
                        <a:latin typeface="Cambria Math" panose="02040503050406030204" pitchFamily="18" charset="0"/>
                      </a:rPr>
                      <m:t>𝑘</m:t>
                    </m:r>
                    <m:r>
                      <a:rPr lang="en-US" sz="1600" b="0" i="1" smtClean="0">
                        <a:latin typeface="Cambria Math" panose="02040503050406030204" pitchFamily="18" charset="0"/>
                      </a:rPr>
                      <m:t>&lt;</m:t>
                    </m:r>
                    <m:r>
                      <a:rPr lang="en-US" sz="1600" b="0" i="1" smtClean="0">
                        <a:latin typeface="Cambria Math" panose="02040503050406030204" pitchFamily="18" charset="0"/>
                      </a:rPr>
                      <m:t>𝑚</m:t>
                    </m:r>
                  </m:oMath>
                </a14:m>
                <a:r>
                  <a:rPr lang="en-US" sz="1600" dirty="0"/>
                  <a:t>.</a:t>
                </a:r>
              </a:p>
              <a:p>
                <a:pPr marL="914400" lvl="2" indent="0">
                  <a:buNone/>
                </a:pPr>
                <a:endParaRPr lang="en-US" sz="1600" dirty="0"/>
              </a:p>
            </p:txBody>
          </p:sp>
        </mc:Choice>
        <mc:Fallback>
          <p:sp>
            <p:nvSpPr>
              <p:cNvPr id="3" name="Θέση περιεχομένου 2">
                <a:extLst>
                  <a:ext uri="{FF2B5EF4-FFF2-40B4-BE49-F238E27FC236}">
                    <a16:creationId xmlns:a16="http://schemas.microsoft.com/office/drawing/2014/main" id="{622D0082-6018-7722-789C-306C86E7A968}"/>
                  </a:ext>
                </a:extLst>
              </p:cNvPr>
              <p:cNvSpPr>
                <a:spLocks noGrp="1" noRot="1" noChangeAspect="1" noMove="1" noResize="1" noEditPoints="1" noAdjustHandles="1" noChangeArrowheads="1" noChangeShapeType="1" noTextEdit="1"/>
              </p:cNvSpPr>
              <p:nvPr>
                <p:ph idx="1"/>
              </p:nvPr>
            </p:nvSpPr>
            <p:spPr>
              <a:xfrm>
                <a:off x="422147" y="1124712"/>
                <a:ext cx="8560981" cy="5231638"/>
              </a:xfrm>
              <a:blipFill>
                <a:blip r:embed="rId3"/>
                <a:stretch>
                  <a:fillRect l="-641" t="-1166" b="-583"/>
                </a:stretch>
              </a:blipFill>
            </p:spPr>
            <p:txBody>
              <a:bodyPr/>
              <a:lstStyle/>
              <a:p>
                <a:r>
                  <a:rPr lang="en-US">
                    <a:noFill/>
                  </a:rPr>
                  <a:t> </a:t>
                </a:r>
              </a:p>
            </p:txBody>
          </p:sp>
        </mc:Fallback>
      </mc:AlternateContent>
      <p:sp>
        <p:nvSpPr>
          <p:cNvPr id="4" name="Θέση υποσέλιδου 3">
            <a:extLst>
              <a:ext uri="{FF2B5EF4-FFF2-40B4-BE49-F238E27FC236}">
                <a16:creationId xmlns:a16="http://schemas.microsoft.com/office/drawing/2014/main" id="{8E4E7151-D6F0-051B-0E31-666FBEA473C9}"/>
              </a:ext>
            </a:extLst>
          </p:cNvPr>
          <p:cNvSpPr>
            <a:spLocks noGrp="1"/>
          </p:cNvSpPr>
          <p:nvPr>
            <p:ph type="ftr" sz="quarter" idx="11"/>
          </p:nvPr>
        </p:nvSpPr>
        <p:spPr/>
        <p:txBody>
          <a:bodyPr/>
          <a:lstStyle/>
          <a:p>
            <a:r>
              <a:rPr lang="el-GR" dirty="0"/>
              <a:t>Βασίλειος Κοχλιαρίδης</a:t>
            </a:r>
            <a:endParaRPr lang="en-US" dirty="0"/>
          </a:p>
        </p:txBody>
      </p:sp>
      <p:sp>
        <p:nvSpPr>
          <p:cNvPr id="5" name="Θέση αριθμού διαφάνειας 4">
            <a:extLst>
              <a:ext uri="{FF2B5EF4-FFF2-40B4-BE49-F238E27FC236}">
                <a16:creationId xmlns:a16="http://schemas.microsoft.com/office/drawing/2014/main" id="{5D2C7F6A-5D4A-3F1D-EB88-9D88B6E1F8E8}"/>
              </a:ext>
            </a:extLst>
          </p:cNvPr>
          <p:cNvSpPr>
            <a:spLocks noGrp="1"/>
          </p:cNvSpPr>
          <p:nvPr>
            <p:ph type="sldNum" sz="quarter" idx="12"/>
          </p:nvPr>
        </p:nvSpPr>
        <p:spPr/>
        <p:txBody>
          <a:bodyPr/>
          <a:lstStyle/>
          <a:p>
            <a:fld id="{4ACA1919-B5C6-4827-8B15-372F46BB4020}" type="slidenum">
              <a:rPr lang="en-US" smtClean="0"/>
              <a:t>21</a:t>
            </a:fld>
            <a:endParaRPr lang="en-US"/>
          </a:p>
        </p:txBody>
      </p:sp>
      <p:pic>
        <p:nvPicPr>
          <p:cNvPr id="7" name="Εικόνα 6">
            <a:extLst>
              <a:ext uri="{FF2B5EF4-FFF2-40B4-BE49-F238E27FC236}">
                <a16:creationId xmlns:a16="http://schemas.microsoft.com/office/drawing/2014/main" id="{5D33826D-CFB1-9F7F-BC53-F7AD1C2B515B}"/>
              </a:ext>
            </a:extLst>
          </p:cNvPr>
          <p:cNvPicPr>
            <a:picLocks noChangeAspect="1"/>
          </p:cNvPicPr>
          <p:nvPr/>
        </p:nvPicPr>
        <p:blipFill>
          <a:blip r:embed="rId4"/>
          <a:stretch>
            <a:fillRect/>
          </a:stretch>
        </p:blipFill>
        <p:spPr>
          <a:xfrm>
            <a:off x="9308414" y="1837944"/>
            <a:ext cx="2586584" cy="2508597"/>
          </a:xfrm>
          <a:prstGeom prst="rect">
            <a:avLst/>
          </a:prstGeom>
        </p:spPr>
      </p:pic>
      <p:pic>
        <p:nvPicPr>
          <p:cNvPr id="1028" name="Picture 4" descr="Machine Learning in Python: Principal Component Analysis (PCA) - Pierian  Training">
            <a:extLst>
              <a:ext uri="{FF2B5EF4-FFF2-40B4-BE49-F238E27FC236}">
                <a16:creationId xmlns:a16="http://schemas.microsoft.com/office/drawing/2014/main" id="{AD563791-C018-3EC6-EAE7-171245E282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2288" y="4269677"/>
            <a:ext cx="2878836" cy="208667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Ομάδα 21">
            <a:extLst>
              <a:ext uri="{FF2B5EF4-FFF2-40B4-BE49-F238E27FC236}">
                <a16:creationId xmlns:a16="http://schemas.microsoft.com/office/drawing/2014/main" id="{A76731D9-897A-43E0-BD19-F694EC8A242B}"/>
              </a:ext>
            </a:extLst>
          </p:cNvPr>
          <p:cNvGrpSpPr/>
          <p:nvPr/>
        </p:nvGrpSpPr>
        <p:grpSpPr>
          <a:xfrm>
            <a:off x="8803970" y="136525"/>
            <a:ext cx="3237154" cy="3787775"/>
            <a:chOff x="8803970" y="136525"/>
            <a:chExt cx="3237154" cy="3787775"/>
          </a:xfrm>
        </p:grpSpPr>
        <p:pic>
          <p:nvPicPr>
            <p:cNvPr id="11" name="Εικόνα 10">
              <a:extLst>
                <a:ext uri="{FF2B5EF4-FFF2-40B4-BE49-F238E27FC236}">
                  <a16:creationId xmlns:a16="http://schemas.microsoft.com/office/drawing/2014/main" id="{8C6458A1-C44C-EF43-5E33-0DE2A8886B16}"/>
                </a:ext>
              </a:extLst>
            </p:cNvPr>
            <p:cNvPicPr>
              <a:picLocks noChangeAspect="1"/>
            </p:cNvPicPr>
            <p:nvPr/>
          </p:nvPicPr>
          <p:blipFill>
            <a:blip r:embed="rId6"/>
            <a:stretch>
              <a:fillRect/>
            </a:stretch>
          </p:blipFill>
          <p:spPr>
            <a:xfrm>
              <a:off x="9162288" y="136525"/>
              <a:ext cx="2038635" cy="628738"/>
            </a:xfrm>
            <a:prstGeom prst="rect">
              <a:avLst/>
            </a:prstGeom>
          </p:spPr>
        </p:pic>
        <p:pic>
          <p:nvPicPr>
            <p:cNvPr id="13" name="Εικόνα 12">
              <a:extLst>
                <a:ext uri="{FF2B5EF4-FFF2-40B4-BE49-F238E27FC236}">
                  <a16:creationId xmlns:a16="http://schemas.microsoft.com/office/drawing/2014/main" id="{3833B934-9BDA-5AC3-2446-F2661BE12D93}"/>
                </a:ext>
              </a:extLst>
            </p:cNvPr>
            <p:cNvPicPr>
              <a:picLocks noChangeAspect="1"/>
            </p:cNvPicPr>
            <p:nvPr/>
          </p:nvPicPr>
          <p:blipFill>
            <a:blip r:embed="rId7"/>
            <a:stretch>
              <a:fillRect/>
            </a:stretch>
          </p:blipFill>
          <p:spPr>
            <a:xfrm>
              <a:off x="9162288" y="833470"/>
              <a:ext cx="2732710" cy="765159"/>
            </a:xfrm>
            <a:prstGeom prst="rect">
              <a:avLst/>
            </a:prstGeom>
          </p:spPr>
        </p:pic>
        <p:cxnSp>
          <p:nvCxnSpPr>
            <p:cNvPr id="15" name="Γραμμή σύνδεσης: Γωνιώδης 14">
              <a:extLst>
                <a:ext uri="{FF2B5EF4-FFF2-40B4-BE49-F238E27FC236}">
                  <a16:creationId xmlns:a16="http://schemas.microsoft.com/office/drawing/2014/main" id="{5D9DA493-D9E6-D483-124C-DFE5EAE0FF42}"/>
                </a:ext>
              </a:extLst>
            </p:cNvPr>
            <p:cNvCxnSpPr>
              <a:cxnSpLocks/>
              <a:endCxn id="11" idx="1"/>
            </p:cNvCxnSpPr>
            <p:nvPr/>
          </p:nvCxnSpPr>
          <p:spPr>
            <a:xfrm rot="5400000" flipH="1" flipV="1">
              <a:off x="7246426" y="2008438"/>
              <a:ext cx="3473406" cy="35831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Γραμμή σύνδεσης: Γωνιώδης 17">
              <a:extLst>
                <a:ext uri="{FF2B5EF4-FFF2-40B4-BE49-F238E27FC236}">
                  <a16:creationId xmlns:a16="http://schemas.microsoft.com/office/drawing/2014/main" id="{CD289C78-250C-0D85-8919-363EB12DBFB5}"/>
                </a:ext>
              </a:extLst>
            </p:cNvPr>
            <p:cNvCxnSpPr>
              <a:cxnSpLocks/>
              <a:endCxn id="13" idx="1"/>
            </p:cNvCxnSpPr>
            <p:nvPr/>
          </p:nvCxnSpPr>
          <p:spPr>
            <a:xfrm rot="5400000" flipH="1" flipV="1">
              <a:off x="7720173" y="2479007"/>
              <a:ext cx="2705071" cy="17915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EB9F2BF-558B-61F7-3983-E927FF2C9CD6}"/>
                </a:ext>
              </a:extLst>
            </p:cNvPr>
            <p:cNvSpPr txBox="1"/>
            <p:nvPr/>
          </p:nvSpPr>
          <p:spPr>
            <a:xfrm>
              <a:off x="11242957" y="136525"/>
              <a:ext cx="798167" cy="646331"/>
            </a:xfrm>
            <a:prstGeom prst="rect">
              <a:avLst/>
            </a:prstGeom>
            <a:noFill/>
          </p:spPr>
          <p:txBody>
            <a:bodyPr wrap="none" rtlCol="0">
              <a:spAutoFit/>
            </a:bodyPr>
            <a:lstStyle/>
            <a:p>
              <a:pPr algn="ctr"/>
              <a:r>
                <a:rPr lang="en-US" dirty="0"/>
                <a:t>Cov</a:t>
              </a:r>
            </a:p>
            <a:p>
              <a:pPr algn="ctr"/>
              <a:r>
                <a:rPr lang="en-US" dirty="0"/>
                <a:t>Matrix</a:t>
              </a:r>
            </a:p>
          </p:txBody>
        </p:sp>
      </p:grpSp>
    </p:spTree>
    <p:extLst>
      <p:ext uri="{BB962C8B-B14F-4D97-AF65-F5344CB8AC3E}">
        <p14:creationId xmlns:p14="http://schemas.microsoft.com/office/powerpoint/2010/main" val="567161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C1B6804-0A2E-B41B-949D-8FB1D194FB18}"/>
              </a:ext>
            </a:extLst>
          </p:cNvPr>
          <p:cNvSpPr>
            <a:spLocks noGrp="1"/>
          </p:cNvSpPr>
          <p:nvPr>
            <p:ph type="title"/>
          </p:nvPr>
        </p:nvSpPr>
        <p:spPr>
          <a:xfrm>
            <a:off x="838200" y="136525"/>
            <a:ext cx="10515600" cy="1325563"/>
          </a:xfrm>
        </p:spPr>
        <p:txBody>
          <a:bodyPr/>
          <a:lstStyle/>
          <a:p>
            <a:r>
              <a:rPr lang="en-US" dirty="0"/>
              <a:t>PCA Example</a:t>
            </a:r>
          </a:p>
        </p:txBody>
      </p:sp>
      <p:sp>
        <p:nvSpPr>
          <p:cNvPr id="4" name="Θέση υποσέλιδου 3">
            <a:extLst>
              <a:ext uri="{FF2B5EF4-FFF2-40B4-BE49-F238E27FC236}">
                <a16:creationId xmlns:a16="http://schemas.microsoft.com/office/drawing/2014/main" id="{3870E9B2-0FDF-9C09-B404-D721CCFA1EDE}"/>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23F81B90-CF45-03DE-3CEA-74A92EB195CC}"/>
              </a:ext>
            </a:extLst>
          </p:cNvPr>
          <p:cNvSpPr>
            <a:spLocks noGrp="1"/>
          </p:cNvSpPr>
          <p:nvPr>
            <p:ph type="sldNum" sz="quarter" idx="12"/>
          </p:nvPr>
        </p:nvSpPr>
        <p:spPr/>
        <p:txBody>
          <a:bodyPr/>
          <a:lstStyle/>
          <a:p>
            <a:fld id="{4ACA1919-B5C6-4827-8B15-372F46BB4020}" type="slidenum">
              <a:rPr lang="en-US" smtClean="0"/>
              <a:t>22</a:t>
            </a:fld>
            <a:endParaRPr lang="en-US"/>
          </a:p>
        </p:txBody>
      </p:sp>
      <p:pic>
        <p:nvPicPr>
          <p:cNvPr id="6" name="Ηλεκτρονικά πολυμέσα 5" title="StatQuest: Principal Component Analysis (PCA), Step-by-Step">
            <a:hlinkClick r:id="" action="ppaction://media"/>
            <a:extLst>
              <a:ext uri="{FF2B5EF4-FFF2-40B4-BE49-F238E27FC236}">
                <a16:creationId xmlns:a16="http://schemas.microsoft.com/office/drawing/2014/main" id="{B35427BD-1094-254E-36B6-8FF1B6237AD2}"/>
              </a:ext>
            </a:extLst>
          </p:cNvPr>
          <p:cNvPicPr>
            <a:picLocks noRot="1" noChangeAspect="1"/>
          </p:cNvPicPr>
          <p:nvPr>
            <a:videoFile r:link="rId1"/>
          </p:nvPr>
        </p:nvPicPr>
        <p:blipFill>
          <a:blip r:embed="rId3"/>
          <a:stretch>
            <a:fillRect/>
          </a:stretch>
        </p:blipFill>
        <p:spPr>
          <a:xfrm>
            <a:off x="1841703" y="1304925"/>
            <a:ext cx="8732635" cy="4933950"/>
          </a:xfrm>
          <a:prstGeom prst="rect">
            <a:avLst/>
          </a:prstGeom>
        </p:spPr>
      </p:pic>
    </p:spTree>
    <p:extLst>
      <p:ext uri="{BB962C8B-B14F-4D97-AF65-F5344CB8AC3E}">
        <p14:creationId xmlns:p14="http://schemas.microsoft.com/office/powerpoint/2010/main" val="393266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FAEE0F6-42D0-4748-0DD3-824BEFCE2097}"/>
              </a:ext>
            </a:extLst>
          </p:cNvPr>
          <p:cNvSpPr>
            <a:spLocks noGrp="1"/>
          </p:cNvSpPr>
          <p:nvPr>
            <p:ph type="title"/>
          </p:nvPr>
        </p:nvSpPr>
        <p:spPr>
          <a:xfrm>
            <a:off x="838200" y="141525"/>
            <a:ext cx="10515600" cy="906226"/>
          </a:xfrm>
        </p:spPr>
        <p:txBody>
          <a:bodyPr>
            <a:normAutofit/>
          </a:bodyPr>
          <a:lstStyle/>
          <a:p>
            <a:r>
              <a:rPr lang="en-US" sz="4000" dirty="0"/>
              <a:t>Kernel PCA</a:t>
            </a:r>
          </a:p>
        </p:txBody>
      </p:sp>
      <p:sp>
        <p:nvSpPr>
          <p:cNvPr id="3" name="Θέση περιεχομένου 2">
            <a:extLst>
              <a:ext uri="{FF2B5EF4-FFF2-40B4-BE49-F238E27FC236}">
                <a16:creationId xmlns:a16="http://schemas.microsoft.com/office/drawing/2014/main" id="{99B8DA8F-0628-3267-3E77-1D3BA99F389E}"/>
              </a:ext>
            </a:extLst>
          </p:cNvPr>
          <p:cNvSpPr>
            <a:spLocks noGrp="1"/>
          </p:cNvSpPr>
          <p:nvPr>
            <p:ph idx="1"/>
          </p:nvPr>
        </p:nvSpPr>
        <p:spPr>
          <a:xfrm>
            <a:off x="838200" y="1134150"/>
            <a:ext cx="7381875" cy="2704425"/>
          </a:xfrm>
        </p:spPr>
        <p:txBody>
          <a:bodyPr>
            <a:normAutofit/>
          </a:bodyPr>
          <a:lstStyle/>
          <a:p>
            <a:r>
              <a:rPr lang="en-US" sz="2000" dirty="0"/>
              <a:t>PCA is a linear method, which does an excellent work in datasets which are linearly separable.</a:t>
            </a:r>
          </a:p>
          <a:p>
            <a:r>
              <a:rPr lang="en-US" sz="2000" dirty="0"/>
              <a:t>However, in non-linear datasets, we might get a result which may not be the optimal dimensionality reduction.</a:t>
            </a:r>
          </a:p>
          <a:p>
            <a:r>
              <a:rPr lang="en-US" sz="2000" dirty="0"/>
              <a:t>Kernel PCA uses a kernel function to project dataset into a higher dimensional feature space, where it is linearly separable, and then applies PCA.</a:t>
            </a:r>
          </a:p>
          <a:p>
            <a:r>
              <a:rPr lang="en-US" sz="2000" b="1" dirty="0"/>
              <a:t>Disadvantage</a:t>
            </a:r>
            <a:r>
              <a:rPr lang="en-US" sz="2000" dirty="0"/>
              <a:t>: Can lead to overfitting.</a:t>
            </a:r>
            <a:endParaRPr lang="en-US" sz="1050" dirty="0"/>
          </a:p>
        </p:txBody>
      </p:sp>
      <p:sp>
        <p:nvSpPr>
          <p:cNvPr id="4" name="Θέση υποσέλιδου 3">
            <a:extLst>
              <a:ext uri="{FF2B5EF4-FFF2-40B4-BE49-F238E27FC236}">
                <a16:creationId xmlns:a16="http://schemas.microsoft.com/office/drawing/2014/main" id="{2427B9A4-B91B-CF44-5FDD-6BC77B5E866C}"/>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F472EB46-E30D-AFA9-1199-97594C8B59DB}"/>
              </a:ext>
            </a:extLst>
          </p:cNvPr>
          <p:cNvSpPr>
            <a:spLocks noGrp="1"/>
          </p:cNvSpPr>
          <p:nvPr>
            <p:ph type="sldNum" sz="quarter" idx="12"/>
          </p:nvPr>
        </p:nvSpPr>
        <p:spPr/>
        <p:txBody>
          <a:bodyPr/>
          <a:lstStyle/>
          <a:p>
            <a:fld id="{4ACA1919-B5C6-4827-8B15-372F46BB4020}" type="slidenum">
              <a:rPr lang="en-US" smtClean="0"/>
              <a:t>23</a:t>
            </a:fld>
            <a:endParaRPr lang="en-US"/>
          </a:p>
        </p:txBody>
      </p:sp>
      <p:pic>
        <p:nvPicPr>
          <p:cNvPr id="2050" name="Picture 2">
            <a:extLst>
              <a:ext uri="{FF2B5EF4-FFF2-40B4-BE49-F238E27FC236}">
                <a16:creationId xmlns:a16="http://schemas.microsoft.com/office/drawing/2014/main" id="{0F89078B-6728-8CF7-A97C-492C04102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506" y="419100"/>
            <a:ext cx="3590994" cy="2514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2F65A12-C7BA-CE65-252C-BA01A984F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7142" y="3060334"/>
            <a:ext cx="3464358" cy="238796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Are the Advantages of Kernel PCA Over Standard PCA? | Baeldung on  Computer Science">
            <a:extLst>
              <a:ext uri="{FF2B5EF4-FFF2-40B4-BE49-F238E27FC236}">
                <a16:creationId xmlns:a16="http://schemas.microsoft.com/office/drawing/2014/main" id="{561B8658-BE2F-C49A-236C-F3ED07D504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864" y="3929068"/>
            <a:ext cx="6053136" cy="2509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633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5FD846C-1D0C-58A1-BD78-B0338D4D129B}"/>
              </a:ext>
            </a:extLst>
          </p:cNvPr>
          <p:cNvSpPr>
            <a:spLocks noGrp="1"/>
          </p:cNvSpPr>
          <p:nvPr>
            <p:ph type="title"/>
          </p:nvPr>
        </p:nvSpPr>
        <p:spPr>
          <a:xfrm>
            <a:off x="838200" y="136525"/>
            <a:ext cx="10515600" cy="1143033"/>
          </a:xfrm>
        </p:spPr>
        <p:txBody>
          <a:bodyPr/>
          <a:lstStyle/>
          <a:p>
            <a:r>
              <a:rPr lang="en-US" dirty="0"/>
              <a:t>Linear Discriminant Analysis (LDA)</a:t>
            </a:r>
          </a:p>
        </p:txBody>
      </p:sp>
      <p:sp>
        <p:nvSpPr>
          <p:cNvPr id="3" name="Θέση περιεχομένου 2">
            <a:extLst>
              <a:ext uri="{FF2B5EF4-FFF2-40B4-BE49-F238E27FC236}">
                <a16:creationId xmlns:a16="http://schemas.microsoft.com/office/drawing/2014/main" id="{D2534FE8-B364-A168-07B5-C4C9DC39F0FA}"/>
              </a:ext>
            </a:extLst>
          </p:cNvPr>
          <p:cNvSpPr>
            <a:spLocks noGrp="1"/>
          </p:cNvSpPr>
          <p:nvPr>
            <p:ph idx="1"/>
          </p:nvPr>
        </p:nvSpPr>
        <p:spPr>
          <a:xfrm>
            <a:off x="838200" y="1279558"/>
            <a:ext cx="10515600" cy="5076792"/>
          </a:xfrm>
        </p:spPr>
        <p:txBody>
          <a:bodyPr>
            <a:normAutofit/>
          </a:bodyPr>
          <a:lstStyle/>
          <a:p>
            <a:endParaRPr lang="en-US" sz="2000" dirty="0"/>
          </a:p>
        </p:txBody>
      </p:sp>
      <p:sp>
        <p:nvSpPr>
          <p:cNvPr id="4" name="Θέση υποσέλιδου 3">
            <a:extLst>
              <a:ext uri="{FF2B5EF4-FFF2-40B4-BE49-F238E27FC236}">
                <a16:creationId xmlns:a16="http://schemas.microsoft.com/office/drawing/2014/main" id="{B8ADE88E-B9CB-EBF6-A49F-41A87DBB7BC3}"/>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F75CB825-DF36-CA40-4BF8-2A5FE0C6AAE4}"/>
              </a:ext>
            </a:extLst>
          </p:cNvPr>
          <p:cNvSpPr>
            <a:spLocks noGrp="1"/>
          </p:cNvSpPr>
          <p:nvPr>
            <p:ph type="sldNum" sz="quarter" idx="12"/>
          </p:nvPr>
        </p:nvSpPr>
        <p:spPr/>
        <p:txBody>
          <a:bodyPr/>
          <a:lstStyle/>
          <a:p>
            <a:fld id="{4ACA1919-B5C6-4827-8B15-372F46BB4020}" type="slidenum">
              <a:rPr lang="en-US" smtClean="0"/>
              <a:t>24</a:t>
            </a:fld>
            <a:endParaRPr lang="en-US"/>
          </a:p>
        </p:txBody>
      </p:sp>
    </p:spTree>
    <p:extLst>
      <p:ext uri="{BB962C8B-B14F-4D97-AF65-F5344CB8AC3E}">
        <p14:creationId xmlns:p14="http://schemas.microsoft.com/office/powerpoint/2010/main" val="2391361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A3B1E-8E97-195C-D9B1-D70A6C24001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399D6AD1-B0DB-6782-5490-A18DBC67F4D7}"/>
              </a:ext>
            </a:extLst>
          </p:cNvPr>
          <p:cNvSpPr>
            <a:spLocks noGrp="1"/>
          </p:cNvSpPr>
          <p:nvPr>
            <p:ph type="title"/>
          </p:nvPr>
        </p:nvSpPr>
        <p:spPr>
          <a:xfrm>
            <a:off x="838200" y="136525"/>
            <a:ext cx="10515600" cy="1125347"/>
          </a:xfrm>
        </p:spPr>
        <p:txBody>
          <a:bodyPr>
            <a:normAutofit/>
          </a:bodyPr>
          <a:lstStyle/>
          <a:p>
            <a:r>
              <a:rPr lang="en-US" sz="4000" dirty="0"/>
              <a:t>Quadratic Discriminant Analysis (QDA)</a:t>
            </a:r>
          </a:p>
        </p:txBody>
      </p:sp>
      <p:sp>
        <p:nvSpPr>
          <p:cNvPr id="3" name="Θέση περιεχομένου 2">
            <a:extLst>
              <a:ext uri="{FF2B5EF4-FFF2-40B4-BE49-F238E27FC236}">
                <a16:creationId xmlns:a16="http://schemas.microsoft.com/office/drawing/2014/main" id="{DC1B66B7-5EBE-10BB-F087-183A4802956B}"/>
              </a:ext>
            </a:extLst>
          </p:cNvPr>
          <p:cNvSpPr>
            <a:spLocks noGrp="1"/>
          </p:cNvSpPr>
          <p:nvPr>
            <p:ph idx="1"/>
          </p:nvPr>
        </p:nvSpPr>
        <p:spPr>
          <a:xfrm>
            <a:off x="838200" y="1261872"/>
            <a:ext cx="10515600" cy="5020056"/>
          </a:xfrm>
        </p:spPr>
        <p:txBody>
          <a:bodyPr>
            <a:normAutofit/>
          </a:bodyPr>
          <a:lstStyle/>
          <a:p>
            <a:endParaRPr lang="en-US" sz="2000" dirty="0"/>
          </a:p>
        </p:txBody>
      </p:sp>
      <p:sp>
        <p:nvSpPr>
          <p:cNvPr id="4" name="Θέση υποσέλιδου 3">
            <a:extLst>
              <a:ext uri="{FF2B5EF4-FFF2-40B4-BE49-F238E27FC236}">
                <a16:creationId xmlns:a16="http://schemas.microsoft.com/office/drawing/2014/main" id="{5686E06B-E1ED-99A7-E517-247CFE579C69}"/>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496380F2-C339-8275-EA34-6722318A0685}"/>
              </a:ext>
            </a:extLst>
          </p:cNvPr>
          <p:cNvSpPr>
            <a:spLocks noGrp="1"/>
          </p:cNvSpPr>
          <p:nvPr>
            <p:ph type="sldNum" sz="quarter" idx="12"/>
          </p:nvPr>
        </p:nvSpPr>
        <p:spPr/>
        <p:txBody>
          <a:bodyPr/>
          <a:lstStyle/>
          <a:p>
            <a:fld id="{4ACA1919-B5C6-4827-8B15-372F46BB4020}" type="slidenum">
              <a:rPr lang="en-US" smtClean="0"/>
              <a:t>25</a:t>
            </a:fld>
            <a:endParaRPr lang="en-US"/>
          </a:p>
        </p:txBody>
      </p:sp>
    </p:spTree>
    <p:extLst>
      <p:ext uri="{BB962C8B-B14F-4D97-AF65-F5344CB8AC3E}">
        <p14:creationId xmlns:p14="http://schemas.microsoft.com/office/powerpoint/2010/main" val="4200631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CE754F-63DC-1FD4-B92F-9316353F93EB}"/>
              </a:ext>
            </a:extLst>
          </p:cNvPr>
          <p:cNvSpPr>
            <a:spLocks noGrp="1"/>
          </p:cNvSpPr>
          <p:nvPr>
            <p:ph type="title"/>
          </p:nvPr>
        </p:nvSpPr>
        <p:spPr>
          <a:xfrm>
            <a:off x="374904" y="136525"/>
            <a:ext cx="11817096" cy="1070483"/>
          </a:xfrm>
        </p:spPr>
        <p:txBody>
          <a:bodyPr>
            <a:normAutofit/>
          </a:bodyPr>
          <a:lstStyle/>
          <a:p>
            <a:r>
              <a:rPr lang="en-US" sz="4000" dirty="0"/>
              <a:t>Uniform Manifold Approximation and Projection(UMAP)</a:t>
            </a:r>
          </a:p>
        </p:txBody>
      </p:sp>
      <p:sp>
        <p:nvSpPr>
          <p:cNvPr id="3" name="Θέση περιεχομένου 2">
            <a:extLst>
              <a:ext uri="{FF2B5EF4-FFF2-40B4-BE49-F238E27FC236}">
                <a16:creationId xmlns:a16="http://schemas.microsoft.com/office/drawing/2014/main" id="{5298118F-EA30-12D1-12EA-05DDF44A167A}"/>
              </a:ext>
            </a:extLst>
          </p:cNvPr>
          <p:cNvSpPr>
            <a:spLocks noGrp="1"/>
          </p:cNvSpPr>
          <p:nvPr>
            <p:ph idx="1"/>
          </p:nvPr>
        </p:nvSpPr>
        <p:spPr>
          <a:xfrm>
            <a:off x="838200" y="1417320"/>
            <a:ext cx="10674096" cy="4759643"/>
          </a:xfrm>
        </p:spPr>
        <p:txBody>
          <a:bodyPr>
            <a:normAutofit/>
          </a:bodyPr>
          <a:lstStyle/>
          <a:p>
            <a:endParaRPr lang="en-US" sz="2000" dirty="0"/>
          </a:p>
        </p:txBody>
      </p:sp>
      <p:sp>
        <p:nvSpPr>
          <p:cNvPr id="4" name="Θέση υποσέλιδου 3">
            <a:extLst>
              <a:ext uri="{FF2B5EF4-FFF2-40B4-BE49-F238E27FC236}">
                <a16:creationId xmlns:a16="http://schemas.microsoft.com/office/drawing/2014/main" id="{A8A0E93C-394B-B209-9BED-79701D2E848E}"/>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FBA95E4E-B2D9-4653-E831-E29EDFB26F87}"/>
              </a:ext>
            </a:extLst>
          </p:cNvPr>
          <p:cNvSpPr>
            <a:spLocks noGrp="1"/>
          </p:cNvSpPr>
          <p:nvPr>
            <p:ph type="sldNum" sz="quarter" idx="12"/>
          </p:nvPr>
        </p:nvSpPr>
        <p:spPr/>
        <p:txBody>
          <a:bodyPr/>
          <a:lstStyle/>
          <a:p>
            <a:fld id="{4ACA1919-B5C6-4827-8B15-372F46BB4020}" type="slidenum">
              <a:rPr lang="en-US" smtClean="0"/>
              <a:t>26</a:t>
            </a:fld>
            <a:endParaRPr lang="en-US"/>
          </a:p>
        </p:txBody>
      </p:sp>
    </p:spTree>
    <p:extLst>
      <p:ext uri="{BB962C8B-B14F-4D97-AF65-F5344CB8AC3E}">
        <p14:creationId xmlns:p14="http://schemas.microsoft.com/office/powerpoint/2010/main" val="1175663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968931-9A9E-5F5C-CAEA-86695F5B9FE5}"/>
              </a:ext>
            </a:extLst>
          </p:cNvPr>
          <p:cNvSpPr>
            <a:spLocks noGrp="1"/>
          </p:cNvSpPr>
          <p:nvPr>
            <p:ph type="title"/>
          </p:nvPr>
        </p:nvSpPr>
        <p:spPr>
          <a:xfrm>
            <a:off x="646176" y="136525"/>
            <a:ext cx="11149584" cy="1107059"/>
          </a:xfrm>
        </p:spPr>
        <p:txBody>
          <a:bodyPr>
            <a:normAutofit/>
          </a:bodyPr>
          <a:lstStyle/>
          <a:p>
            <a:r>
              <a:rPr lang="en-US" sz="4000" dirty="0"/>
              <a:t>Dimensionality Reduction Methods Comparison</a:t>
            </a:r>
          </a:p>
        </p:txBody>
      </p:sp>
      <p:sp>
        <p:nvSpPr>
          <p:cNvPr id="3" name="Θέση περιεχομένου 2">
            <a:extLst>
              <a:ext uri="{FF2B5EF4-FFF2-40B4-BE49-F238E27FC236}">
                <a16:creationId xmlns:a16="http://schemas.microsoft.com/office/drawing/2014/main" id="{5554250D-3DF7-536B-6079-348C98BCCCA2}"/>
              </a:ext>
            </a:extLst>
          </p:cNvPr>
          <p:cNvSpPr>
            <a:spLocks noGrp="1"/>
          </p:cNvSpPr>
          <p:nvPr>
            <p:ph idx="1"/>
          </p:nvPr>
        </p:nvSpPr>
        <p:spPr/>
        <p:txBody>
          <a:bodyPr/>
          <a:lstStyle/>
          <a:p>
            <a:endParaRPr lang="en-US"/>
          </a:p>
        </p:txBody>
      </p:sp>
      <p:sp>
        <p:nvSpPr>
          <p:cNvPr id="4" name="Θέση υποσέλιδου 3">
            <a:extLst>
              <a:ext uri="{FF2B5EF4-FFF2-40B4-BE49-F238E27FC236}">
                <a16:creationId xmlns:a16="http://schemas.microsoft.com/office/drawing/2014/main" id="{2A5157EF-0006-08EF-130C-245EF745F13F}"/>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8421E9EA-D844-85A8-E9FD-FA5354C0B304}"/>
              </a:ext>
            </a:extLst>
          </p:cNvPr>
          <p:cNvSpPr>
            <a:spLocks noGrp="1"/>
          </p:cNvSpPr>
          <p:nvPr>
            <p:ph type="sldNum" sz="quarter" idx="12"/>
          </p:nvPr>
        </p:nvSpPr>
        <p:spPr/>
        <p:txBody>
          <a:bodyPr/>
          <a:lstStyle/>
          <a:p>
            <a:fld id="{4ACA1919-B5C6-4827-8B15-372F46BB4020}" type="slidenum">
              <a:rPr lang="en-US" smtClean="0"/>
              <a:t>27</a:t>
            </a:fld>
            <a:endParaRPr lang="en-US"/>
          </a:p>
        </p:txBody>
      </p:sp>
    </p:spTree>
    <p:extLst>
      <p:ext uri="{BB962C8B-B14F-4D97-AF65-F5344CB8AC3E}">
        <p14:creationId xmlns:p14="http://schemas.microsoft.com/office/powerpoint/2010/main" val="3108515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1E03CD0-8093-BD5F-7931-79A6BD391AB2}"/>
              </a:ext>
            </a:extLst>
          </p:cNvPr>
          <p:cNvSpPr>
            <a:spLocks noGrp="1"/>
          </p:cNvSpPr>
          <p:nvPr>
            <p:ph type="title"/>
          </p:nvPr>
        </p:nvSpPr>
        <p:spPr/>
        <p:txBody>
          <a:bodyPr/>
          <a:lstStyle/>
          <a:p>
            <a:r>
              <a:rPr lang="en-US" dirty="0"/>
              <a:t>Imbalanced Classes</a:t>
            </a:r>
          </a:p>
        </p:txBody>
      </p:sp>
      <p:sp>
        <p:nvSpPr>
          <p:cNvPr id="3" name="Θέση περιεχομένου 2">
            <a:extLst>
              <a:ext uri="{FF2B5EF4-FFF2-40B4-BE49-F238E27FC236}">
                <a16:creationId xmlns:a16="http://schemas.microsoft.com/office/drawing/2014/main" id="{D5BAE1F6-E137-BC5D-EE2D-B5BC40779365}"/>
              </a:ext>
            </a:extLst>
          </p:cNvPr>
          <p:cNvSpPr>
            <a:spLocks noGrp="1"/>
          </p:cNvSpPr>
          <p:nvPr>
            <p:ph idx="1"/>
          </p:nvPr>
        </p:nvSpPr>
        <p:spPr/>
        <p:txBody>
          <a:bodyPr/>
          <a:lstStyle/>
          <a:p>
            <a:endParaRPr lang="en-US"/>
          </a:p>
        </p:txBody>
      </p:sp>
      <p:sp>
        <p:nvSpPr>
          <p:cNvPr id="4" name="Θέση υποσέλιδου 3">
            <a:extLst>
              <a:ext uri="{FF2B5EF4-FFF2-40B4-BE49-F238E27FC236}">
                <a16:creationId xmlns:a16="http://schemas.microsoft.com/office/drawing/2014/main" id="{3EC6AD33-BAC0-89CA-744D-CBAE49E0A721}"/>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E383AE7F-42C1-F26D-7EF0-FD354311D567}"/>
              </a:ext>
            </a:extLst>
          </p:cNvPr>
          <p:cNvSpPr>
            <a:spLocks noGrp="1"/>
          </p:cNvSpPr>
          <p:nvPr>
            <p:ph type="sldNum" sz="quarter" idx="12"/>
          </p:nvPr>
        </p:nvSpPr>
        <p:spPr/>
        <p:txBody>
          <a:bodyPr/>
          <a:lstStyle/>
          <a:p>
            <a:fld id="{4ACA1919-B5C6-4827-8B15-372F46BB4020}" type="slidenum">
              <a:rPr lang="en-US" smtClean="0"/>
              <a:t>28</a:t>
            </a:fld>
            <a:endParaRPr lang="en-US"/>
          </a:p>
        </p:txBody>
      </p:sp>
    </p:spTree>
    <p:extLst>
      <p:ext uri="{BB962C8B-B14F-4D97-AF65-F5344CB8AC3E}">
        <p14:creationId xmlns:p14="http://schemas.microsoft.com/office/powerpoint/2010/main" val="154030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1AB4D90-EF41-3501-19C3-9F2630C3C996}"/>
              </a:ext>
            </a:extLst>
          </p:cNvPr>
          <p:cNvSpPr>
            <a:spLocks noGrp="1"/>
          </p:cNvSpPr>
          <p:nvPr>
            <p:ph type="title"/>
          </p:nvPr>
        </p:nvSpPr>
        <p:spPr/>
        <p:txBody>
          <a:bodyPr/>
          <a:lstStyle/>
          <a:p>
            <a:r>
              <a:rPr lang="en-US" dirty="0"/>
              <a:t>Synthetic Data Generation</a:t>
            </a:r>
          </a:p>
        </p:txBody>
      </p:sp>
      <p:sp>
        <p:nvSpPr>
          <p:cNvPr id="3" name="Θέση περιεχομένου 2">
            <a:extLst>
              <a:ext uri="{FF2B5EF4-FFF2-40B4-BE49-F238E27FC236}">
                <a16:creationId xmlns:a16="http://schemas.microsoft.com/office/drawing/2014/main" id="{AFC0B2F3-C664-79E3-BDBA-09FEA5460ACA}"/>
              </a:ext>
            </a:extLst>
          </p:cNvPr>
          <p:cNvSpPr>
            <a:spLocks noGrp="1"/>
          </p:cNvSpPr>
          <p:nvPr>
            <p:ph idx="1"/>
          </p:nvPr>
        </p:nvSpPr>
        <p:spPr/>
        <p:txBody>
          <a:bodyPr/>
          <a:lstStyle/>
          <a:p>
            <a:endParaRPr lang="en-US"/>
          </a:p>
        </p:txBody>
      </p:sp>
      <p:sp>
        <p:nvSpPr>
          <p:cNvPr id="4" name="Θέση υποσέλιδου 3">
            <a:extLst>
              <a:ext uri="{FF2B5EF4-FFF2-40B4-BE49-F238E27FC236}">
                <a16:creationId xmlns:a16="http://schemas.microsoft.com/office/drawing/2014/main" id="{73017A3E-7FED-903C-4682-A4F2B2AB001E}"/>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DB3BE2DD-ADC6-D4AF-31EA-249B31010394}"/>
              </a:ext>
            </a:extLst>
          </p:cNvPr>
          <p:cNvSpPr>
            <a:spLocks noGrp="1"/>
          </p:cNvSpPr>
          <p:nvPr>
            <p:ph type="sldNum" sz="quarter" idx="12"/>
          </p:nvPr>
        </p:nvSpPr>
        <p:spPr/>
        <p:txBody>
          <a:bodyPr/>
          <a:lstStyle/>
          <a:p>
            <a:fld id="{4ACA1919-B5C6-4827-8B15-372F46BB4020}" type="slidenum">
              <a:rPr lang="en-US" smtClean="0"/>
              <a:t>29</a:t>
            </a:fld>
            <a:endParaRPr lang="en-US"/>
          </a:p>
        </p:txBody>
      </p:sp>
    </p:spTree>
    <p:extLst>
      <p:ext uri="{BB962C8B-B14F-4D97-AF65-F5344CB8AC3E}">
        <p14:creationId xmlns:p14="http://schemas.microsoft.com/office/powerpoint/2010/main" val="1254009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A5B59CC-4049-3D91-E231-F7BED7797EE7}"/>
              </a:ext>
            </a:extLst>
          </p:cNvPr>
          <p:cNvSpPr>
            <a:spLocks noGrp="1"/>
          </p:cNvSpPr>
          <p:nvPr>
            <p:ph type="title"/>
          </p:nvPr>
        </p:nvSpPr>
        <p:spPr>
          <a:xfrm>
            <a:off x="838200" y="136525"/>
            <a:ext cx="10515600" cy="1325563"/>
          </a:xfrm>
        </p:spPr>
        <p:txBody>
          <a:bodyPr/>
          <a:lstStyle/>
          <a:p>
            <a:r>
              <a:rPr lang="en-US" dirty="0"/>
              <a:t>Smote</a:t>
            </a:r>
          </a:p>
        </p:txBody>
      </p:sp>
      <p:sp>
        <p:nvSpPr>
          <p:cNvPr id="3" name="Θέση περιεχομένου 2">
            <a:extLst>
              <a:ext uri="{FF2B5EF4-FFF2-40B4-BE49-F238E27FC236}">
                <a16:creationId xmlns:a16="http://schemas.microsoft.com/office/drawing/2014/main" id="{CC57595B-59D5-7AE1-9871-AA9B31406FDA}"/>
              </a:ext>
            </a:extLst>
          </p:cNvPr>
          <p:cNvSpPr>
            <a:spLocks noGrp="1"/>
          </p:cNvSpPr>
          <p:nvPr>
            <p:ph idx="1"/>
          </p:nvPr>
        </p:nvSpPr>
        <p:spPr/>
        <p:txBody>
          <a:bodyPr/>
          <a:lstStyle/>
          <a:p>
            <a:endParaRPr lang="en-US" dirty="0"/>
          </a:p>
        </p:txBody>
      </p:sp>
      <p:sp>
        <p:nvSpPr>
          <p:cNvPr id="4" name="Θέση υποσέλιδου 3">
            <a:extLst>
              <a:ext uri="{FF2B5EF4-FFF2-40B4-BE49-F238E27FC236}">
                <a16:creationId xmlns:a16="http://schemas.microsoft.com/office/drawing/2014/main" id="{63D37EF7-6149-C298-5847-3BD73FE6AA16}"/>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B696D514-616E-839C-3317-4619A64153A0}"/>
              </a:ext>
            </a:extLst>
          </p:cNvPr>
          <p:cNvSpPr>
            <a:spLocks noGrp="1"/>
          </p:cNvSpPr>
          <p:nvPr>
            <p:ph type="sldNum" sz="quarter" idx="12"/>
          </p:nvPr>
        </p:nvSpPr>
        <p:spPr/>
        <p:txBody>
          <a:bodyPr/>
          <a:lstStyle/>
          <a:p>
            <a:fld id="{4ACA1919-B5C6-4827-8B15-372F46BB4020}" type="slidenum">
              <a:rPr lang="en-US" smtClean="0"/>
              <a:t>30</a:t>
            </a:fld>
            <a:endParaRPr lang="en-US"/>
          </a:p>
        </p:txBody>
      </p:sp>
    </p:spTree>
    <p:extLst>
      <p:ext uri="{BB962C8B-B14F-4D97-AF65-F5344CB8AC3E}">
        <p14:creationId xmlns:p14="http://schemas.microsoft.com/office/powerpoint/2010/main" val="1240627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6BF27DF-EC80-B78E-D1C1-B00F00E147CC}"/>
              </a:ext>
            </a:extLst>
          </p:cNvPr>
          <p:cNvSpPr>
            <a:spLocks noGrp="1"/>
          </p:cNvSpPr>
          <p:nvPr>
            <p:ph type="title"/>
          </p:nvPr>
        </p:nvSpPr>
        <p:spPr>
          <a:xfrm>
            <a:off x="838200" y="136525"/>
            <a:ext cx="10515600" cy="1325563"/>
          </a:xfrm>
        </p:spPr>
        <p:txBody>
          <a:bodyPr/>
          <a:lstStyle/>
          <a:p>
            <a:r>
              <a:rPr lang="en-US" dirty="0"/>
              <a:t>Smote-NN</a:t>
            </a:r>
          </a:p>
        </p:txBody>
      </p:sp>
      <p:sp>
        <p:nvSpPr>
          <p:cNvPr id="3" name="Θέση περιεχομένου 2">
            <a:extLst>
              <a:ext uri="{FF2B5EF4-FFF2-40B4-BE49-F238E27FC236}">
                <a16:creationId xmlns:a16="http://schemas.microsoft.com/office/drawing/2014/main" id="{3EAC1AA5-4C76-281E-EF99-B69C9E903E26}"/>
              </a:ext>
            </a:extLst>
          </p:cNvPr>
          <p:cNvSpPr>
            <a:spLocks noGrp="1"/>
          </p:cNvSpPr>
          <p:nvPr>
            <p:ph idx="1"/>
          </p:nvPr>
        </p:nvSpPr>
        <p:spPr/>
        <p:txBody>
          <a:bodyPr/>
          <a:lstStyle/>
          <a:p>
            <a:endParaRPr lang="en-US" dirty="0"/>
          </a:p>
        </p:txBody>
      </p:sp>
      <p:sp>
        <p:nvSpPr>
          <p:cNvPr id="4" name="Θέση υποσέλιδου 3">
            <a:extLst>
              <a:ext uri="{FF2B5EF4-FFF2-40B4-BE49-F238E27FC236}">
                <a16:creationId xmlns:a16="http://schemas.microsoft.com/office/drawing/2014/main" id="{0E989B0D-0F73-85C3-E6C8-EC1002C7BC0D}"/>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0E12B451-CC6B-AF67-C3D9-59061D31229E}"/>
              </a:ext>
            </a:extLst>
          </p:cNvPr>
          <p:cNvSpPr>
            <a:spLocks noGrp="1"/>
          </p:cNvSpPr>
          <p:nvPr>
            <p:ph type="sldNum" sz="quarter" idx="12"/>
          </p:nvPr>
        </p:nvSpPr>
        <p:spPr/>
        <p:txBody>
          <a:bodyPr/>
          <a:lstStyle/>
          <a:p>
            <a:fld id="{4ACA1919-B5C6-4827-8B15-372F46BB4020}" type="slidenum">
              <a:rPr lang="en-US" smtClean="0"/>
              <a:t>31</a:t>
            </a:fld>
            <a:endParaRPr lang="en-US"/>
          </a:p>
        </p:txBody>
      </p:sp>
    </p:spTree>
    <p:extLst>
      <p:ext uri="{BB962C8B-B14F-4D97-AF65-F5344CB8AC3E}">
        <p14:creationId xmlns:p14="http://schemas.microsoft.com/office/powerpoint/2010/main" val="479010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0B2E607-C903-2950-B3AB-A1D8063446D4}"/>
              </a:ext>
            </a:extLst>
          </p:cNvPr>
          <p:cNvSpPr>
            <a:spLocks noGrp="1"/>
          </p:cNvSpPr>
          <p:nvPr>
            <p:ph type="title"/>
          </p:nvPr>
        </p:nvSpPr>
        <p:spPr>
          <a:xfrm>
            <a:off x="838200" y="136525"/>
            <a:ext cx="10515600" cy="1325563"/>
          </a:xfrm>
        </p:spPr>
        <p:txBody>
          <a:bodyPr/>
          <a:lstStyle/>
          <a:p>
            <a:r>
              <a:rPr lang="en-US" dirty="0"/>
              <a:t>Model Probabilities Calibration</a:t>
            </a:r>
          </a:p>
        </p:txBody>
      </p:sp>
      <p:sp>
        <p:nvSpPr>
          <p:cNvPr id="3" name="Θέση περιεχομένου 2">
            <a:extLst>
              <a:ext uri="{FF2B5EF4-FFF2-40B4-BE49-F238E27FC236}">
                <a16:creationId xmlns:a16="http://schemas.microsoft.com/office/drawing/2014/main" id="{85C97A8D-2528-5974-C169-5924B52FB427}"/>
              </a:ext>
            </a:extLst>
          </p:cNvPr>
          <p:cNvSpPr>
            <a:spLocks noGrp="1"/>
          </p:cNvSpPr>
          <p:nvPr>
            <p:ph idx="1"/>
          </p:nvPr>
        </p:nvSpPr>
        <p:spPr/>
        <p:txBody>
          <a:bodyPr/>
          <a:lstStyle/>
          <a:p>
            <a:endParaRPr lang="en-US"/>
          </a:p>
        </p:txBody>
      </p:sp>
      <p:sp>
        <p:nvSpPr>
          <p:cNvPr id="4" name="Θέση υποσέλιδου 3">
            <a:extLst>
              <a:ext uri="{FF2B5EF4-FFF2-40B4-BE49-F238E27FC236}">
                <a16:creationId xmlns:a16="http://schemas.microsoft.com/office/drawing/2014/main" id="{3AC477D1-260A-DC3F-CF25-1DA401FDA416}"/>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822C0228-0022-F4F5-563A-7850C9058B8C}"/>
              </a:ext>
            </a:extLst>
          </p:cNvPr>
          <p:cNvSpPr>
            <a:spLocks noGrp="1"/>
          </p:cNvSpPr>
          <p:nvPr>
            <p:ph type="sldNum" sz="quarter" idx="12"/>
          </p:nvPr>
        </p:nvSpPr>
        <p:spPr/>
        <p:txBody>
          <a:bodyPr/>
          <a:lstStyle/>
          <a:p>
            <a:fld id="{4ACA1919-B5C6-4827-8B15-372F46BB4020}" type="slidenum">
              <a:rPr lang="en-US" smtClean="0"/>
              <a:t>32</a:t>
            </a:fld>
            <a:endParaRPr lang="en-US"/>
          </a:p>
        </p:txBody>
      </p:sp>
    </p:spTree>
    <p:extLst>
      <p:ext uri="{BB962C8B-B14F-4D97-AF65-F5344CB8AC3E}">
        <p14:creationId xmlns:p14="http://schemas.microsoft.com/office/powerpoint/2010/main" val="1416971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390EE-7223-F03E-E078-EFB97722E26E}"/>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94722CF-E3A1-6C02-23E7-213CFB78523B}"/>
              </a:ext>
            </a:extLst>
          </p:cNvPr>
          <p:cNvSpPr>
            <a:spLocks noGrp="1"/>
          </p:cNvSpPr>
          <p:nvPr>
            <p:ph type="ctrTitle"/>
          </p:nvPr>
        </p:nvSpPr>
        <p:spPr/>
        <p:txBody>
          <a:bodyPr/>
          <a:lstStyle/>
          <a:p>
            <a:r>
              <a:rPr lang="en-US" dirty="0"/>
              <a:t>Machine Learning</a:t>
            </a:r>
          </a:p>
        </p:txBody>
      </p:sp>
      <p:sp>
        <p:nvSpPr>
          <p:cNvPr id="3" name="Υπότιτλος 2">
            <a:extLst>
              <a:ext uri="{FF2B5EF4-FFF2-40B4-BE49-F238E27FC236}">
                <a16:creationId xmlns:a16="http://schemas.microsoft.com/office/drawing/2014/main" id="{39AF8FCE-89C2-D810-BA56-DC8F238FF9CE}"/>
              </a:ext>
            </a:extLst>
          </p:cNvPr>
          <p:cNvSpPr>
            <a:spLocks noGrp="1"/>
          </p:cNvSpPr>
          <p:nvPr>
            <p:ph type="subTitle" idx="1"/>
          </p:nvPr>
        </p:nvSpPr>
        <p:spPr/>
        <p:txBody>
          <a:bodyPr/>
          <a:lstStyle/>
          <a:p>
            <a:r>
              <a:rPr lang="en-US" dirty="0"/>
              <a:t>Data Engineering Notes</a:t>
            </a:r>
          </a:p>
          <a:p>
            <a:endParaRPr lang="en-US" dirty="0"/>
          </a:p>
        </p:txBody>
      </p:sp>
      <p:sp>
        <p:nvSpPr>
          <p:cNvPr id="4" name="Θέση υποσέλιδου 3">
            <a:extLst>
              <a:ext uri="{FF2B5EF4-FFF2-40B4-BE49-F238E27FC236}">
                <a16:creationId xmlns:a16="http://schemas.microsoft.com/office/drawing/2014/main" id="{16E749B5-B320-1AA1-1760-566CE6B2E222}"/>
              </a:ext>
            </a:extLst>
          </p:cNvPr>
          <p:cNvSpPr>
            <a:spLocks noGrp="1"/>
          </p:cNvSpPr>
          <p:nvPr>
            <p:ph type="ftr" sz="quarter" idx="11"/>
          </p:nvPr>
        </p:nvSpPr>
        <p:spPr/>
        <p:txBody>
          <a:bodyPr/>
          <a:lstStyle/>
          <a:p>
            <a:r>
              <a:rPr lang="el-GR"/>
              <a:t>Βασίλειος Κοχλιαρίδης</a:t>
            </a:r>
            <a:endParaRPr lang="en-US"/>
          </a:p>
        </p:txBody>
      </p:sp>
      <p:sp>
        <p:nvSpPr>
          <p:cNvPr id="5" name="Θέση αριθμού διαφάνειας 4">
            <a:extLst>
              <a:ext uri="{FF2B5EF4-FFF2-40B4-BE49-F238E27FC236}">
                <a16:creationId xmlns:a16="http://schemas.microsoft.com/office/drawing/2014/main" id="{108868B2-9FE7-07BC-FA61-1F84DE654C8F}"/>
              </a:ext>
            </a:extLst>
          </p:cNvPr>
          <p:cNvSpPr>
            <a:spLocks noGrp="1"/>
          </p:cNvSpPr>
          <p:nvPr>
            <p:ph type="sldNum" sz="quarter" idx="12"/>
          </p:nvPr>
        </p:nvSpPr>
        <p:spPr/>
        <p:txBody>
          <a:bodyPr/>
          <a:lstStyle/>
          <a:p>
            <a:fld id="{4ACA1919-B5C6-4827-8B15-372F46BB4020}" type="slidenum">
              <a:rPr lang="en-US" smtClean="0"/>
              <a:t>33</a:t>
            </a:fld>
            <a:endParaRPr lang="en-US"/>
          </a:p>
        </p:txBody>
      </p:sp>
    </p:spTree>
    <p:extLst>
      <p:ext uri="{BB962C8B-B14F-4D97-AF65-F5344CB8AC3E}">
        <p14:creationId xmlns:p14="http://schemas.microsoft.com/office/powerpoint/2010/main" val="2842181882"/>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4689</TotalTime>
  <Words>2699</Words>
  <Application>Microsoft Office PowerPoint</Application>
  <PresentationFormat>Ευρεία οθόνη</PresentationFormat>
  <Paragraphs>260</Paragraphs>
  <Slides>33</Slides>
  <Notes>0</Notes>
  <HiddenSlides>0</HiddenSlides>
  <MMClips>2</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33</vt:i4>
      </vt:variant>
    </vt:vector>
  </HeadingPairs>
  <TitlesOfParts>
    <vt:vector size="39" baseType="lpstr">
      <vt:lpstr>Aptos</vt:lpstr>
      <vt:lpstr>Aptos Display</vt:lpstr>
      <vt:lpstr>Arial</vt:lpstr>
      <vt:lpstr>Cambria Math</vt:lpstr>
      <vt:lpstr>Wingdings</vt:lpstr>
      <vt:lpstr>Θέμα του Office</vt:lpstr>
      <vt:lpstr>Machine Learning</vt:lpstr>
      <vt:lpstr>Variable Types</vt:lpstr>
      <vt:lpstr>Categorical Variables Encoding</vt:lpstr>
      <vt:lpstr>Ordinal Encoding</vt:lpstr>
      <vt:lpstr>One-Hot Encoding</vt:lpstr>
      <vt:lpstr>Ordinal vs One-Hot Encoding</vt:lpstr>
      <vt:lpstr>Frequency Encoding</vt:lpstr>
      <vt:lpstr>Target Encoding</vt:lpstr>
      <vt:lpstr>Other Data Types (IDs, Dates, Locations)</vt:lpstr>
      <vt:lpstr>Data Normalization</vt:lpstr>
      <vt:lpstr>Data Normalization Methods</vt:lpstr>
      <vt:lpstr>Data Normalization Methods Comparison</vt:lpstr>
      <vt:lpstr>Missing Values</vt:lpstr>
      <vt:lpstr>Imputation Methods</vt:lpstr>
      <vt:lpstr>Discretization</vt:lpstr>
      <vt:lpstr>Feature Selection</vt:lpstr>
      <vt:lpstr>Recursive Feature Elimination (RFE)</vt:lpstr>
      <vt:lpstr>Dimensionality Reduction</vt:lpstr>
      <vt:lpstr>Singular Value Decomposition (SVD)</vt:lpstr>
      <vt:lpstr>SVD Example</vt:lpstr>
      <vt:lpstr>Principal Component Analysis (PCA)</vt:lpstr>
      <vt:lpstr>PCA Example</vt:lpstr>
      <vt:lpstr>Kernel PCA</vt:lpstr>
      <vt:lpstr>Linear Discriminant Analysis (LDA)</vt:lpstr>
      <vt:lpstr>Quadratic Discriminant Analysis (QDA)</vt:lpstr>
      <vt:lpstr>Uniform Manifold Approximation and Projection(UMAP)</vt:lpstr>
      <vt:lpstr>Dimensionality Reduction Methods Comparison</vt:lpstr>
      <vt:lpstr>Imbalanced Classes</vt:lpstr>
      <vt:lpstr>Synthetic Data Generation</vt:lpstr>
      <vt:lpstr>Smote</vt:lpstr>
      <vt:lpstr>Smote-NN</vt:lpstr>
      <vt:lpstr>Model Probabilities Calibration</vt:lpstr>
      <vt:lpstr>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Vasileios Kochliaridis</dc:creator>
  <cp:lastModifiedBy>Vasileios Kochliaridis</cp:lastModifiedBy>
  <cp:revision>67</cp:revision>
  <dcterms:created xsi:type="dcterms:W3CDTF">2025-10-22T08:27:29Z</dcterms:created>
  <dcterms:modified xsi:type="dcterms:W3CDTF">2025-11-27T15:32:19Z</dcterms:modified>
</cp:coreProperties>
</file>