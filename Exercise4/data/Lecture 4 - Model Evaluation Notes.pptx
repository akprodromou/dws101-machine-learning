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86" r:id="rId3"/>
    <p:sldId id="288" r:id="rId4"/>
    <p:sldId id="289" r:id="rId5"/>
    <p:sldId id="291" r:id="rId6"/>
    <p:sldId id="292" r:id="rId7"/>
    <p:sldId id="294" r:id="rId8"/>
    <p:sldId id="295" r:id="rId9"/>
    <p:sldId id="318" r:id="rId10"/>
    <p:sldId id="319" r:id="rId11"/>
    <p:sldId id="321" r:id="rId12"/>
    <p:sldId id="323" r:id="rId13"/>
    <p:sldId id="324" r:id="rId14"/>
    <p:sldId id="325" r:id="rId15"/>
    <p:sldId id="326" r:id="rId16"/>
    <p:sldId id="322" r:id="rId17"/>
    <p:sldId id="331" r:id="rId18"/>
    <p:sldId id="334" r:id="rId19"/>
    <p:sldId id="335" r:id="rId20"/>
    <p:sldId id="336" r:id="rId21"/>
    <p:sldId id="332" r:id="rId22"/>
    <p:sldId id="338" r:id="rId23"/>
    <p:sldId id="328" r:id="rId24"/>
    <p:sldId id="329" r:id="rId25"/>
    <p:sldId id="333" r:id="rId26"/>
    <p:sldId id="337" r:id="rId27"/>
    <p:sldId id="290" r:id="rId28"/>
    <p:sldId id="293" r:id="rId29"/>
    <p:sldId id="320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000000"/>
    <a:srgbClr val="7E95A9"/>
    <a:srgbClr val="3E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Φωτεινό στυλ 2 - Έμφαση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5758FB7-9AC5-4552-8A53-C91805E547FA}" styleName="Στυλ με θέμα 1 - Έμφαση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Στυλ με θέμα 1 - Έμφαση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8D230F3-CF80-4859-8CE7-A43EE81993B5}" styleName="Φωτεινό στυλ 1 - Έμφαση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Φωτεινό στυλ 2 - Έμφαση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Φωτεινό στυλ 3 - Έμφαση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E574E-E298-4894-A198-54B8693C00D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EEC81-55A3-45B1-86BF-5CEFB88E3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80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6E3F2C7-4BFA-96D7-D7DB-89CE059E9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87FA496E-15E4-B6BD-2619-3D34222E0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DF0B0D9-EE98-037A-2344-7CC4B4E7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2831-E9E5-441A-988F-2CF775A095F7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BBFB534-8947-8C37-4FA7-9FA9C424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DC8CE2F-F2D2-7280-2306-D7F69279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41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460618F-C768-41A8-48DE-BB108636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7AEF68D-C62B-FCBA-1472-10F022DE8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9CACAF7-E2AE-6617-78A1-EFF8C0D7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617B9-7FDC-483F-873E-DA0B569A49AF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2F76099-BCF7-C484-CCA4-7360E1B4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E7E7D658-FD80-BF1C-12C2-96A60BE9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5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4DAC28B-5302-263A-BFA3-A9B067C6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41E70EB-D764-5148-416C-C22E4252D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90778B5-0C05-BA17-E905-83FD5C40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9D5F0-2BFE-4CF8-8E92-6585B621437A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75BF08D-2CE8-E775-5227-75DC306C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D73FBE2-BDCD-71A0-40F6-879EAB92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7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39AC0BF-ED31-BD2F-ADDC-10F1DC31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518A3B0-B3BB-D820-8653-9FF6BD585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1AC07E0-13D4-AC1D-FDC2-1AFD08E33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3A1EF92E-745E-94D7-11C5-D264A7E0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ADA2-3B4C-46E9-8174-5D0E15805C71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87AF416-7FBD-C8A0-B475-79C435CB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8004D500-C8D4-2F31-DFA0-25EFC092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38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4393112-FBEE-410C-70DA-170D9B76D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0FFF49C-A0C5-9203-D2A1-E1893DB81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71752245-D4AF-76ED-FDE1-EDFAD6F35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A1DE0065-EB8D-B3F7-D776-46B6D8B09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B3B07BD2-28E5-1381-56E6-FDBA5B435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7A1D7FF4-7624-31A5-1C91-857E16CE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A38BB-A4D8-4872-B24E-5D3AC6E6DC33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04A2E9E-E9B6-CD71-8E7A-575739CB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DE27359-0D89-C15A-9B92-9FC2FBE3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0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B25A365-3116-1AE4-20AD-C24E0088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2994D23B-458D-EF75-DA0D-79F7559A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5F4BD-973A-410F-8C3C-0269CFA833D8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CE3F91F-411E-6138-2000-0C1B4A6A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A25C88F-6C11-0912-3A92-4EF89619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2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274D46C-3FB2-E5C2-1A88-A86DF47DA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B471D-D131-45DE-A009-59BE12540FC5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07EB22A4-CB01-7737-EAC5-469ACE78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48F6454-9E8B-A0B9-FE09-97AC27133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8F319A-89EB-5A06-E3E7-4F31DF5D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2F6087A-78D5-D13D-D00B-8ABBF6FF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EFCA236A-EF71-4BE2-0068-A7932DE46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B8F22118-6220-4D40-A2B9-5890D2C6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3553-CE6B-4599-9928-D38612B86624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59E8D599-74CF-87BF-8586-22C44968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8D3BB52-2005-14C4-8122-00625EA0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4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3225D27-9791-3105-6CF9-668B24BB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FB710D2D-77E8-9D9F-F582-BEBAF69B0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39E8FF25-A3C8-2EC5-165B-526B0903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9C752309-981B-6AC1-FC07-F8C9580E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8521-FE12-480A-BC4B-DD515FBC730F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09E01FB-A5C2-62AA-DF55-231B81CE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484544D-E8E1-4A5B-17F7-CB11B1C1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16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006B2C6-EEEC-C58E-69FA-F4D9739A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8CB615D6-C424-9ECA-8BD2-EE399612E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0FE6F3F-FE13-FB7A-51D8-B5770F49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2010-1B2A-440F-AFD4-664A5CC9F1F8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1BE53B9-0998-15D4-A075-4E2803BB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2BDF2C4-019D-FC39-4F9B-09A5D833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1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97A29ED4-6DEF-6149-40E0-7D201F864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A5541CB6-75EF-2782-A141-A6FE8E5E1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F137CBE-93FC-E5E3-31F2-1F1A9FEC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C63D-8EAA-47D9-8532-DD60D85DB32C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C17E096-0B6B-1DBC-0F56-F1096F9B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28CD2A0-0861-531B-745E-990D44C8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4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F36916FB-0020-AB95-D03C-EC374918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6860E355-EAA0-65F2-0BAF-DD2CA165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2B012A8-F0C5-ACC9-FC4F-F4144F37E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4F95B-A8D5-4244-9736-EEDE6971DA72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A9EF4B0-F0A6-6557-006E-B134CC405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0A72897-7FBD-FD58-B77B-3B037316E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A1919-B5C6-4827-8B15-372F46BB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1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DE5A4C6-24CC-B4BF-FFD4-07EF3EC0FA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99ED8208-0A9E-336C-19B8-C5445430F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  <a:p>
            <a:endParaRPr lang="en-US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79200B8-EB55-E5BC-2B8F-EF918652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66CBEA11-E944-2EC7-870A-E6864FD2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6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3483CB1-7E96-8F4F-421D-98C033682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Machine Learning Pipeline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AE8F4662-7267-E53B-FA6F-F28BDCFD9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F2FD2EE-3121-89FF-3B2E-A4C5BE32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</a:t>
            </a:fld>
            <a:endParaRPr lang="en-US"/>
          </a:p>
        </p:txBody>
      </p:sp>
      <p:grpSp>
        <p:nvGrpSpPr>
          <p:cNvPr id="28" name="Ομάδα 27">
            <a:extLst>
              <a:ext uri="{FF2B5EF4-FFF2-40B4-BE49-F238E27FC236}">
                <a16:creationId xmlns:a16="http://schemas.microsoft.com/office/drawing/2014/main" id="{0EF09240-D1A5-CE5F-3BE9-E08BE7FAE61F}"/>
              </a:ext>
            </a:extLst>
          </p:cNvPr>
          <p:cNvGrpSpPr/>
          <p:nvPr/>
        </p:nvGrpSpPr>
        <p:grpSpPr>
          <a:xfrm>
            <a:off x="1017098" y="1462088"/>
            <a:ext cx="10549944" cy="1947113"/>
            <a:chOff x="1007954" y="1462088"/>
            <a:chExt cx="10549944" cy="1947113"/>
          </a:xfrm>
        </p:grpSpPr>
        <p:pic>
          <p:nvPicPr>
            <p:cNvPr id="1036" name="Picture 12" descr="Hand drawn weather effects | Premium Vector">
              <a:extLst>
                <a:ext uri="{FF2B5EF4-FFF2-40B4-BE49-F238E27FC236}">
                  <a16:creationId xmlns:a16="http://schemas.microsoft.com/office/drawing/2014/main" id="{528E1A35-737F-A8BA-445A-0467A3FDCD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954" y="1862198"/>
              <a:ext cx="2276475" cy="15164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E6A73C-1782-6D7C-CDEA-330E1394086C}"/>
                </a:ext>
              </a:extLst>
            </p:cNvPr>
            <p:cNvSpPr txBox="1"/>
            <p:nvPr/>
          </p:nvSpPr>
          <p:spPr>
            <a:xfrm>
              <a:off x="1129992" y="1462088"/>
              <a:ext cx="22481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Problem Definition</a:t>
              </a:r>
            </a:p>
          </p:txBody>
        </p:sp>
        <p:sp>
          <p:nvSpPr>
            <p:cNvPr id="11" name="Βέλος: Δεξιό 10">
              <a:extLst>
                <a:ext uri="{FF2B5EF4-FFF2-40B4-BE49-F238E27FC236}">
                  <a16:creationId xmlns:a16="http://schemas.microsoft.com/office/drawing/2014/main" id="{0BEE0301-B401-E2F6-2CA3-58436FB08C16}"/>
                </a:ext>
              </a:extLst>
            </p:cNvPr>
            <p:cNvSpPr/>
            <p:nvPr/>
          </p:nvSpPr>
          <p:spPr>
            <a:xfrm>
              <a:off x="3284429" y="2519833"/>
              <a:ext cx="661797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8" name="Picture 14" descr="Data pod Images - Free Download on Freepik">
              <a:extLst>
                <a:ext uri="{FF2B5EF4-FFF2-40B4-BE49-F238E27FC236}">
                  <a16:creationId xmlns:a16="http://schemas.microsoft.com/office/drawing/2014/main" id="{522E8C5B-3D41-45D6-43F7-605878A632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6226" y="1970545"/>
              <a:ext cx="1438656" cy="14386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4E6F60-E4A5-6F31-BB2A-C3AB90629714}"/>
                </a:ext>
              </a:extLst>
            </p:cNvPr>
            <p:cNvSpPr txBox="1"/>
            <p:nvPr/>
          </p:nvSpPr>
          <p:spPr>
            <a:xfrm>
              <a:off x="3863667" y="1462088"/>
              <a:ext cx="19155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Data Collection</a:t>
              </a:r>
            </a:p>
          </p:txBody>
        </p:sp>
        <p:sp>
          <p:nvSpPr>
            <p:cNvPr id="14" name="Βέλος: Δεξιό 13">
              <a:extLst>
                <a:ext uri="{FF2B5EF4-FFF2-40B4-BE49-F238E27FC236}">
                  <a16:creationId xmlns:a16="http://schemas.microsoft.com/office/drawing/2014/main" id="{2B57829C-FF94-7319-0A82-0F8EA169A718}"/>
                </a:ext>
              </a:extLst>
            </p:cNvPr>
            <p:cNvSpPr/>
            <p:nvPr/>
          </p:nvSpPr>
          <p:spPr>
            <a:xfrm>
              <a:off x="5320493" y="2492401"/>
              <a:ext cx="661797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2" name="Picture 18" descr="Machine learning Generic Flat icon | Freepik">
              <a:extLst>
                <a:ext uri="{FF2B5EF4-FFF2-40B4-BE49-F238E27FC236}">
                  <a16:creationId xmlns:a16="http://schemas.microsoft.com/office/drawing/2014/main" id="{D29809F7-958E-B4B2-F1C8-D8903E7E9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6021" y="2069605"/>
              <a:ext cx="1240536" cy="1240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BE9DC66-0A55-BED8-EAE1-7B2C38CE70D8}"/>
                </a:ext>
              </a:extLst>
            </p:cNvPr>
            <p:cNvSpPr txBox="1"/>
            <p:nvPr/>
          </p:nvSpPr>
          <p:spPr>
            <a:xfrm>
              <a:off x="6315275" y="1462088"/>
              <a:ext cx="8739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Model</a:t>
              </a:r>
            </a:p>
          </p:txBody>
        </p:sp>
        <p:sp>
          <p:nvSpPr>
            <p:cNvPr id="16" name="Βέλος: Δεξιό 15">
              <a:extLst>
                <a:ext uri="{FF2B5EF4-FFF2-40B4-BE49-F238E27FC236}">
                  <a16:creationId xmlns:a16="http://schemas.microsoft.com/office/drawing/2014/main" id="{F7890487-8810-6114-E1A9-DC648B30B914}"/>
                </a:ext>
              </a:extLst>
            </p:cNvPr>
            <p:cNvSpPr/>
            <p:nvPr/>
          </p:nvSpPr>
          <p:spPr>
            <a:xfrm>
              <a:off x="7425899" y="2450376"/>
              <a:ext cx="661797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10F1AF-D5C1-AB70-7E1E-B603A5238F10}"/>
                </a:ext>
              </a:extLst>
            </p:cNvPr>
            <p:cNvSpPr txBox="1"/>
            <p:nvPr/>
          </p:nvSpPr>
          <p:spPr>
            <a:xfrm>
              <a:off x="8168459" y="1462088"/>
              <a:ext cx="10407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Training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078106-BFC9-2D35-6920-910BEBC8D8EB}"/>
                </a:ext>
              </a:extLst>
            </p:cNvPr>
            <p:cNvSpPr txBox="1"/>
            <p:nvPr/>
          </p:nvSpPr>
          <p:spPr>
            <a:xfrm>
              <a:off x="10019592" y="1462088"/>
              <a:ext cx="15383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Deployment</a:t>
              </a:r>
            </a:p>
          </p:txBody>
        </p:sp>
        <p:pic>
          <p:nvPicPr>
            <p:cNvPr id="1044" name="Picture 20" descr="Machine learning - Free miscellaneous icons">
              <a:extLst>
                <a:ext uri="{FF2B5EF4-FFF2-40B4-BE49-F238E27FC236}">
                  <a16:creationId xmlns:a16="http://schemas.microsoft.com/office/drawing/2014/main" id="{FED0C390-B8F8-7836-597A-7C43CC0F39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038" y="2013864"/>
              <a:ext cx="1213104" cy="1213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Γραμμή σύνδεσης: Γωνιώδης 19">
              <a:extLst>
                <a:ext uri="{FF2B5EF4-FFF2-40B4-BE49-F238E27FC236}">
                  <a16:creationId xmlns:a16="http://schemas.microsoft.com/office/drawing/2014/main" id="{0DEBE053-C702-4E51-2BD4-B1ECD50EC71D}"/>
                </a:ext>
              </a:extLst>
            </p:cNvPr>
            <p:cNvCxnSpPr>
              <a:stCxn id="1038" idx="2"/>
              <a:endCxn id="1044" idx="2"/>
            </p:cNvCxnSpPr>
            <p:nvPr/>
          </p:nvCxnSpPr>
          <p:spPr>
            <a:xfrm rot="5400000" flipH="1" flipV="1">
              <a:off x="6623455" y="1269067"/>
              <a:ext cx="182233" cy="4098036"/>
            </a:xfrm>
            <a:prstGeom prst="bentConnector3">
              <a:avLst>
                <a:gd name="adj1" fmla="val -170605"/>
              </a:avLst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2" name="Βέλος: Δεξιό 21">
              <a:extLst>
                <a:ext uri="{FF2B5EF4-FFF2-40B4-BE49-F238E27FC236}">
                  <a16:creationId xmlns:a16="http://schemas.microsoft.com/office/drawing/2014/main" id="{3E308234-E83C-9A93-0C15-D2EAF2EB5E88}"/>
                </a:ext>
              </a:extLst>
            </p:cNvPr>
            <p:cNvSpPr/>
            <p:nvPr/>
          </p:nvSpPr>
          <p:spPr>
            <a:xfrm>
              <a:off x="9439484" y="2450375"/>
              <a:ext cx="661797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6" name="Picture 22" descr="Deployment - Free seo and web icons">
              <a:extLst>
                <a:ext uri="{FF2B5EF4-FFF2-40B4-BE49-F238E27FC236}">
                  <a16:creationId xmlns:a16="http://schemas.microsoft.com/office/drawing/2014/main" id="{B80C8626-5A54-AAC0-B7FE-647FC1F74A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4432" y="2100731"/>
              <a:ext cx="1039368" cy="1039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Θέση περιεχομένου 2">
            <a:extLst>
              <a:ext uri="{FF2B5EF4-FFF2-40B4-BE49-F238E27FC236}">
                <a16:creationId xmlns:a16="http://schemas.microsoft.com/office/drawing/2014/main" id="{E6E68703-3B37-B1BA-F2C3-257FA77BC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036" y="3845712"/>
            <a:ext cx="10239928" cy="2554919"/>
          </a:xfrm>
        </p:spPr>
        <p:txBody>
          <a:bodyPr>
            <a:normAutofit/>
          </a:bodyPr>
          <a:lstStyle/>
          <a:p>
            <a:r>
              <a:rPr lang="en-US" sz="2000" dirty="0"/>
              <a:t>Even if the model achieves 100% accuracy, it can still be garbage, because it is unable to predict new (unseen) instances correctly.</a:t>
            </a:r>
          </a:p>
          <a:p>
            <a:r>
              <a:rPr lang="en-US" sz="2000" dirty="0"/>
              <a:t>The dataset could be biased: include only a small portion of the real-world observations.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For instance, a model trained on patients &lt; 30 years old could fail to predict correctly a patient at 50 years old.</a:t>
            </a:r>
          </a:p>
          <a:p>
            <a:r>
              <a:rPr lang="en-US" sz="2000" dirty="0"/>
              <a:t>The model could easily overfit. Since we used all the available data for training, there is no way to tell whether the model has overfit.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Deployment of such models could be disastrous. </a:t>
            </a:r>
          </a:p>
        </p:txBody>
      </p:sp>
    </p:spTree>
    <p:extLst>
      <p:ext uri="{BB962C8B-B14F-4D97-AF65-F5344CB8AC3E}">
        <p14:creationId xmlns:p14="http://schemas.microsoft.com/office/powerpoint/2010/main" val="223092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FE53-F864-1A7A-8627-A0EF9835B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507E465-28FC-17AF-5D28-16A5F00B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774"/>
            <a:ext cx="10515600" cy="1325563"/>
          </a:xfrm>
        </p:spPr>
        <p:txBody>
          <a:bodyPr/>
          <a:lstStyle/>
          <a:p>
            <a:r>
              <a:rPr lang="en-US" dirty="0"/>
              <a:t>Improved Machine Learning Pipeline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BC502A08-08CC-5051-B7B3-10657FF92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8FB9CE2-9567-361F-815E-41609325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3</a:t>
            </a:fld>
            <a:endParaRPr lang="en-US"/>
          </a:p>
        </p:txBody>
      </p:sp>
      <p:sp>
        <p:nvSpPr>
          <p:cNvPr id="29" name="Θέση περιεχομένου 2">
            <a:extLst>
              <a:ext uri="{FF2B5EF4-FFF2-40B4-BE49-F238E27FC236}">
                <a16:creationId xmlns:a16="http://schemas.microsoft.com/office/drawing/2014/main" id="{8DC67AB9-5DE1-158E-1430-DBF2A75AA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180" y="3995489"/>
            <a:ext cx="10920308" cy="2362583"/>
          </a:xfrm>
        </p:spPr>
        <p:txBody>
          <a:bodyPr>
            <a:normAutofit/>
          </a:bodyPr>
          <a:lstStyle/>
          <a:p>
            <a:r>
              <a:rPr lang="en-US" sz="2000" dirty="0"/>
              <a:t>We cannot evaluate a model based on the training set score only (because the data are known).</a:t>
            </a:r>
          </a:p>
          <a:p>
            <a:r>
              <a:rPr lang="en-US" sz="2000" dirty="0"/>
              <a:t>We need to measure how well a model generalizes well in “unseen” data.</a:t>
            </a:r>
          </a:p>
          <a:p>
            <a:r>
              <a:rPr lang="en-US" sz="2000" dirty="0"/>
              <a:t>The dataset can be split into train-test sets, consisting of random samples.</a:t>
            </a:r>
          </a:p>
          <a:p>
            <a:r>
              <a:rPr lang="en-US" sz="2000" dirty="0"/>
              <a:t>Splitting Methods:</a:t>
            </a:r>
          </a:p>
          <a:p>
            <a:pPr lvl="1"/>
            <a:r>
              <a:rPr lang="en-US" sz="1600" b="1" dirty="0"/>
              <a:t>Holdout</a:t>
            </a:r>
            <a:r>
              <a:rPr lang="en-US" sz="1600" dirty="0"/>
              <a:t> (Random, Stratified, Repeated)</a:t>
            </a:r>
          </a:p>
          <a:p>
            <a:pPr lvl="1"/>
            <a:r>
              <a:rPr lang="en-US" sz="1600" b="1" dirty="0"/>
              <a:t>Cross-Validation</a:t>
            </a:r>
            <a:r>
              <a:rPr lang="en-US" sz="1600" dirty="0"/>
              <a:t> (Leave-One-Out, K-Fold, Stratified K-Fold, Nested)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B7EC1-404F-20BE-4A03-675B8DDE8BE5}"/>
              </a:ext>
            </a:extLst>
          </p:cNvPr>
          <p:cNvSpPr txBox="1"/>
          <p:nvPr/>
        </p:nvSpPr>
        <p:spPr>
          <a:xfrm>
            <a:off x="4194971" y="1037068"/>
            <a:ext cx="1244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Train/Test</a:t>
            </a:r>
            <a:br>
              <a:rPr lang="en-US" sz="2000" dirty="0"/>
            </a:br>
            <a:r>
              <a:rPr lang="en-US" sz="2000" dirty="0"/>
              <a:t>Splitting</a:t>
            </a:r>
          </a:p>
        </p:txBody>
      </p:sp>
      <p:grpSp>
        <p:nvGrpSpPr>
          <p:cNvPr id="1053" name="Ομάδα 1052">
            <a:extLst>
              <a:ext uri="{FF2B5EF4-FFF2-40B4-BE49-F238E27FC236}">
                <a16:creationId xmlns:a16="http://schemas.microsoft.com/office/drawing/2014/main" id="{61C10661-5713-B5DB-F2B7-C2D65EA90B4A}"/>
              </a:ext>
            </a:extLst>
          </p:cNvPr>
          <p:cNvGrpSpPr/>
          <p:nvPr/>
        </p:nvGrpSpPr>
        <p:grpSpPr>
          <a:xfrm>
            <a:off x="43401" y="1104091"/>
            <a:ext cx="11676087" cy="2714977"/>
            <a:chOff x="43401" y="1104091"/>
            <a:chExt cx="11676087" cy="2714977"/>
          </a:xfrm>
        </p:grpSpPr>
        <p:pic>
          <p:nvPicPr>
            <p:cNvPr id="1038" name="Picture 14" descr="Data pod Images - Free Download on Freepik">
              <a:extLst>
                <a:ext uri="{FF2B5EF4-FFF2-40B4-BE49-F238E27FC236}">
                  <a16:creationId xmlns:a16="http://schemas.microsoft.com/office/drawing/2014/main" id="{19CCD9A7-415A-4A1D-528C-2A346C240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6197" y="1914925"/>
              <a:ext cx="1240537" cy="12405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Hand drawn weather effects | Premium Vector">
              <a:extLst>
                <a:ext uri="{FF2B5EF4-FFF2-40B4-BE49-F238E27FC236}">
                  <a16:creationId xmlns:a16="http://schemas.microsoft.com/office/drawing/2014/main" id="{845C4362-AC7B-C747-1CDE-350BCEE756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819" y="1772604"/>
              <a:ext cx="1934823" cy="1288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164274-329D-1DCC-6F0B-FE717A87BE5D}"/>
                </a:ext>
              </a:extLst>
            </p:cNvPr>
            <p:cNvSpPr txBox="1"/>
            <p:nvPr/>
          </p:nvSpPr>
          <p:spPr>
            <a:xfrm>
              <a:off x="43401" y="1118537"/>
              <a:ext cx="22481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Problem Definition</a:t>
              </a:r>
            </a:p>
          </p:txBody>
        </p:sp>
        <p:sp>
          <p:nvSpPr>
            <p:cNvPr id="11" name="Βέλος: Δεξιό 10">
              <a:extLst>
                <a:ext uri="{FF2B5EF4-FFF2-40B4-BE49-F238E27FC236}">
                  <a16:creationId xmlns:a16="http://schemas.microsoft.com/office/drawing/2014/main" id="{31B8D7C8-8C7F-570D-E760-81326DE89400}"/>
                </a:ext>
              </a:extLst>
            </p:cNvPr>
            <p:cNvSpPr/>
            <p:nvPr/>
          </p:nvSpPr>
          <p:spPr>
            <a:xfrm>
              <a:off x="2090698" y="2316524"/>
              <a:ext cx="401638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660CA3-3980-C22A-D029-C393DC61A830}"/>
                </a:ext>
              </a:extLst>
            </p:cNvPr>
            <p:cNvSpPr txBox="1"/>
            <p:nvPr/>
          </p:nvSpPr>
          <p:spPr>
            <a:xfrm>
              <a:off x="2329449" y="1118537"/>
              <a:ext cx="19155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Data Collection</a:t>
              </a:r>
            </a:p>
          </p:txBody>
        </p:sp>
        <p:pic>
          <p:nvPicPr>
            <p:cNvPr id="1042" name="Picture 18" descr="Machine learning Generic Flat icon | Freepik">
              <a:extLst>
                <a:ext uri="{FF2B5EF4-FFF2-40B4-BE49-F238E27FC236}">
                  <a16:creationId xmlns:a16="http://schemas.microsoft.com/office/drawing/2014/main" id="{383A1CAC-3ACB-8E4B-835B-1C43233BF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6416" y="1902071"/>
              <a:ext cx="1066265" cy="10662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537101-24D6-31B5-FC61-D7E59F445E7F}"/>
                </a:ext>
              </a:extLst>
            </p:cNvPr>
            <p:cNvSpPr txBox="1"/>
            <p:nvPr/>
          </p:nvSpPr>
          <p:spPr>
            <a:xfrm>
              <a:off x="5891135" y="1109833"/>
              <a:ext cx="8739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Model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8DAE334-5316-5FA7-9F0D-638F1E35CE61}"/>
                </a:ext>
              </a:extLst>
            </p:cNvPr>
            <p:cNvSpPr txBox="1"/>
            <p:nvPr/>
          </p:nvSpPr>
          <p:spPr>
            <a:xfrm>
              <a:off x="7242357" y="1104091"/>
              <a:ext cx="10407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Training</a:t>
              </a:r>
            </a:p>
          </p:txBody>
        </p:sp>
        <p:pic>
          <p:nvPicPr>
            <p:cNvPr id="9" name="Εικόνα 8">
              <a:extLst>
                <a:ext uri="{FF2B5EF4-FFF2-40B4-BE49-F238E27FC236}">
                  <a16:creationId xmlns:a16="http://schemas.microsoft.com/office/drawing/2014/main" id="{12C0BFDE-D80F-03CA-F01D-867CB22C6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72887" y="1815996"/>
              <a:ext cx="646188" cy="646188"/>
            </a:xfrm>
            <a:prstGeom prst="rect">
              <a:avLst/>
            </a:prstGeom>
          </p:spPr>
        </p:pic>
        <p:pic>
          <p:nvPicPr>
            <p:cNvPr id="13" name="Εικόνα 12">
              <a:extLst>
                <a:ext uri="{FF2B5EF4-FFF2-40B4-BE49-F238E27FC236}">
                  <a16:creationId xmlns:a16="http://schemas.microsoft.com/office/drawing/2014/main" id="{F7F9A9DA-93E5-F3C9-E9E0-551AE2ADB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10058" y="1815995"/>
              <a:ext cx="646188" cy="646188"/>
            </a:xfrm>
            <a:prstGeom prst="rect">
              <a:avLst/>
            </a:prstGeom>
          </p:spPr>
        </p:pic>
        <p:pic>
          <p:nvPicPr>
            <p:cNvPr id="19" name="Εικόνα 18">
              <a:extLst>
                <a:ext uri="{FF2B5EF4-FFF2-40B4-BE49-F238E27FC236}">
                  <a16:creationId xmlns:a16="http://schemas.microsoft.com/office/drawing/2014/main" id="{950FE6E4-3A7C-4D18-FB93-BB7FCC7BA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4306045" y="2571035"/>
              <a:ext cx="646188" cy="646188"/>
            </a:xfrm>
            <a:prstGeom prst="rect">
              <a:avLst/>
            </a:prstGeom>
          </p:spPr>
        </p:pic>
        <p:sp>
          <p:nvSpPr>
            <p:cNvPr id="24" name="Βέλος: Δεξιό 23">
              <a:extLst>
                <a:ext uri="{FF2B5EF4-FFF2-40B4-BE49-F238E27FC236}">
                  <a16:creationId xmlns:a16="http://schemas.microsoft.com/office/drawing/2014/main" id="{70190216-0A3B-00D8-C8E3-691977798E65}"/>
                </a:ext>
              </a:extLst>
            </p:cNvPr>
            <p:cNvSpPr/>
            <p:nvPr/>
          </p:nvSpPr>
          <p:spPr>
            <a:xfrm>
              <a:off x="3671249" y="2315920"/>
              <a:ext cx="401638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Βέλος: Δεξιό 24">
              <a:extLst>
                <a:ext uri="{FF2B5EF4-FFF2-40B4-BE49-F238E27FC236}">
                  <a16:creationId xmlns:a16="http://schemas.microsoft.com/office/drawing/2014/main" id="{094D7EA9-8C75-B9F7-2941-0538172FA6E2}"/>
                </a:ext>
              </a:extLst>
            </p:cNvPr>
            <p:cNvSpPr/>
            <p:nvPr/>
          </p:nvSpPr>
          <p:spPr>
            <a:xfrm>
              <a:off x="5261613" y="2341893"/>
              <a:ext cx="401638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Βέλος: Δεξιό 29">
              <a:extLst>
                <a:ext uri="{FF2B5EF4-FFF2-40B4-BE49-F238E27FC236}">
                  <a16:creationId xmlns:a16="http://schemas.microsoft.com/office/drawing/2014/main" id="{FBD86F9E-94CD-41E7-DCE5-18CD011056C7}"/>
                </a:ext>
              </a:extLst>
            </p:cNvPr>
            <p:cNvSpPr/>
            <p:nvPr/>
          </p:nvSpPr>
          <p:spPr>
            <a:xfrm>
              <a:off x="6862044" y="2330787"/>
              <a:ext cx="401638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20" descr="Machine learning - Free miscellaneous icons">
              <a:extLst>
                <a:ext uri="{FF2B5EF4-FFF2-40B4-BE49-F238E27FC236}">
                  <a16:creationId xmlns:a16="http://schemas.microsoft.com/office/drawing/2014/main" id="{A938B83F-D600-6CAF-DA44-3EC959C72E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3682" y="1938567"/>
              <a:ext cx="1019409" cy="1019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Γραμμή σύνδεσης: Γωνιώδης 31">
              <a:extLst>
                <a:ext uri="{FF2B5EF4-FFF2-40B4-BE49-F238E27FC236}">
                  <a16:creationId xmlns:a16="http://schemas.microsoft.com/office/drawing/2014/main" id="{39BABFFF-0331-1B91-F7AD-CEDCE796AEAF}"/>
                </a:ext>
              </a:extLst>
            </p:cNvPr>
            <p:cNvCxnSpPr>
              <a:cxnSpLocks/>
              <a:stCxn id="13" idx="3"/>
              <a:endCxn id="31" idx="0"/>
            </p:cNvCxnSpPr>
            <p:nvPr/>
          </p:nvCxnSpPr>
          <p:spPr>
            <a:xfrm flipV="1">
              <a:off x="5256246" y="1938567"/>
              <a:ext cx="2517141" cy="200522"/>
            </a:xfrm>
            <a:prstGeom prst="bentConnector4">
              <a:avLst>
                <a:gd name="adj1" fmla="val 14083"/>
                <a:gd name="adj2" fmla="val 275129"/>
              </a:avLst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5" name="Βέλος: Δεξιό 44">
              <a:extLst>
                <a:ext uri="{FF2B5EF4-FFF2-40B4-BE49-F238E27FC236}">
                  <a16:creationId xmlns:a16="http://schemas.microsoft.com/office/drawing/2014/main" id="{B72A6454-8EE4-8C59-2673-F27F4524CB5B}"/>
                </a:ext>
              </a:extLst>
            </p:cNvPr>
            <p:cNvSpPr/>
            <p:nvPr/>
          </p:nvSpPr>
          <p:spPr>
            <a:xfrm>
              <a:off x="8310558" y="2292142"/>
              <a:ext cx="401638" cy="340081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4" name="Picture 6" descr="Download Free Evaluation Icons in PNG &amp; SVG">
              <a:extLst>
                <a:ext uri="{FF2B5EF4-FFF2-40B4-BE49-F238E27FC236}">
                  <a16:creationId xmlns:a16="http://schemas.microsoft.com/office/drawing/2014/main" id="{A9D09405-15D5-E812-E69B-50A947B703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5372" y="1897281"/>
              <a:ext cx="915303" cy="9153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E41D87A-D33D-E8F1-9E4E-07FB3064373C}"/>
                </a:ext>
              </a:extLst>
            </p:cNvPr>
            <p:cNvSpPr txBox="1"/>
            <p:nvPr/>
          </p:nvSpPr>
          <p:spPr>
            <a:xfrm>
              <a:off x="8567714" y="1109804"/>
              <a:ext cx="13491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Evaluation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29F51AC-5C71-78D4-BD5E-A6555210E22A}"/>
                </a:ext>
              </a:extLst>
            </p:cNvPr>
            <p:cNvSpPr txBox="1"/>
            <p:nvPr/>
          </p:nvSpPr>
          <p:spPr>
            <a:xfrm>
              <a:off x="10181182" y="1118537"/>
              <a:ext cx="15383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Deployment</a:t>
              </a:r>
            </a:p>
          </p:txBody>
        </p:sp>
        <p:pic>
          <p:nvPicPr>
            <p:cNvPr id="55" name="Picture 22" descr="Deployment - Free seo and web icons">
              <a:extLst>
                <a:ext uri="{FF2B5EF4-FFF2-40B4-BE49-F238E27FC236}">
                  <a16:creationId xmlns:a16="http://schemas.microsoft.com/office/drawing/2014/main" id="{70A837E6-9585-A392-7167-662ECB4B9D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0651" y="1772458"/>
              <a:ext cx="1039368" cy="1039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55F2870-3D04-C55F-4786-41800CA53367}"/>
                </a:ext>
              </a:extLst>
            </p:cNvPr>
            <p:cNvSpPr txBox="1"/>
            <p:nvPr/>
          </p:nvSpPr>
          <p:spPr>
            <a:xfrm>
              <a:off x="9753851" y="1588263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4EA72E"/>
                  </a:solidFill>
                </a:rPr>
                <a:t>Good</a:t>
              </a: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A09A140F-42BD-A332-D1C8-BFCE7CD5F3C9}"/>
                </a:ext>
              </a:extLst>
            </p:cNvPr>
            <p:cNvSpPr txBox="1"/>
            <p:nvPr/>
          </p:nvSpPr>
          <p:spPr>
            <a:xfrm>
              <a:off x="9444492" y="2767832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Bad</a:t>
              </a:r>
            </a:p>
          </p:txBody>
        </p:sp>
        <p:cxnSp>
          <p:nvCxnSpPr>
            <p:cNvPr id="1025" name="Γραμμή σύνδεσης: Γωνιώδης 1024">
              <a:extLst>
                <a:ext uri="{FF2B5EF4-FFF2-40B4-BE49-F238E27FC236}">
                  <a16:creationId xmlns:a16="http://schemas.microsoft.com/office/drawing/2014/main" id="{44F46C62-4DA8-805E-BEB5-CFDD3B8CC0C3}"/>
                </a:ext>
              </a:extLst>
            </p:cNvPr>
            <p:cNvCxnSpPr>
              <a:cxnSpLocks/>
              <a:stCxn id="2054" idx="3"/>
              <a:endCxn id="1042" idx="2"/>
            </p:cNvCxnSpPr>
            <p:nvPr/>
          </p:nvCxnSpPr>
          <p:spPr>
            <a:xfrm flipH="1">
              <a:off x="6289549" y="2354933"/>
              <a:ext cx="3401126" cy="613403"/>
            </a:xfrm>
            <a:prstGeom prst="bentConnector4">
              <a:avLst>
                <a:gd name="adj1" fmla="val -8871"/>
                <a:gd name="adj2" fmla="val 137268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9" name="Γραμμή σύνδεσης: Γωνιώδης 1028">
              <a:extLst>
                <a:ext uri="{FF2B5EF4-FFF2-40B4-BE49-F238E27FC236}">
                  <a16:creationId xmlns:a16="http://schemas.microsoft.com/office/drawing/2014/main" id="{C5F2BD8D-A6D4-FBC4-4A28-81FE2E105CEB}"/>
                </a:ext>
              </a:extLst>
            </p:cNvPr>
            <p:cNvCxnSpPr>
              <a:cxnSpLocks/>
              <a:stCxn id="19" idx="2"/>
              <a:endCxn id="2054" idx="2"/>
            </p:cNvCxnSpPr>
            <p:nvPr/>
          </p:nvCxnSpPr>
          <p:spPr>
            <a:xfrm rot="5400000" flipH="1" flipV="1">
              <a:off x="6728761" y="712961"/>
              <a:ext cx="404639" cy="4603885"/>
            </a:xfrm>
            <a:prstGeom prst="bentConnector3">
              <a:avLst>
                <a:gd name="adj1" fmla="val -56495"/>
              </a:avLst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1" name="Γραμμή σύνδεσης: Γωνιώδης 1040">
              <a:extLst>
                <a:ext uri="{FF2B5EF4-FFF2-40B4-BE49-F238E27FC236}">
                  <a16:creationId xmlns:a16="http://schemas.microsoft.com/office/drawing/2014/main" id="{9D4C5F55-0722-FCC4-36F1-ED97513F6218}"/>
                </a:ext>
              </a:extLst>
            </p:cNvPr>
            <p:cNvCxnSpPr>
              <a:cxnSpLocks/>
              <a:stCxn id="2054" idx="0"/>
              <a:endCxn id="55" idx="0"/>
            </p:cNvCxnSpPr>
            <p:nvPr/>
          </p:nvCxnSpPr>
          <p:spPr>
            <a:xfrm rot="5400000" flipH="1" flipV="1">
              <a:off x="10029268" y="976215"/>
              <a:ext cx="124823" cy="1717311"/>
            </a:xfrm>
            <a:prstGeom prst="bentConnector3">
              <a:avLst>
                <a:gd name="adj1" fmla="val 268488"/>
              </a:avLst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F7E98FC6-CADA-1272-30DA-7A0812C4CFCE}"/>
                </a:ext>
              </a:extLst>
            </p:cNvPr>
            <p:cNvSpPr txBox="1"/>
            <p:nvPr/>
          </p:nvSpPr>
          <p:spPr>
            <a:xfrm>
              <a:off x="6206627" y="1557837"/>
              <a:ext cx="11837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Train Data</a:t>
              </a: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A36F9E40-B182-BFEF-380B-A20DD142387A}"/>
                </a:ext>
              </a:extLst>
            </p:cNvPr>
            <p:cNvSpPr txBox="1"/>
            <p:nvPr/>
          </p:nvSpPr>
          <p:spPr>
            <a:xfrm>
              <a:off x="6206627" y="3449736"/>
              <a:ext cx="1602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Eval/Test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555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D08ECF3-FBA7-C658-9F87-8BD27C26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Holdout Procedure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8B6694D-A383-FAC7-A2C1-05D058BC4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6294120" cy="4894262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Goal</a:t>
                </a:r>
                <a:r>
                  <a:rPr lang="en-US" sz="2000" dirty="0"/>
                  <a:t>: Splits the dataset randomly into train-test (e.g., 80-20%).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We train the model using the training set, while evaluating it in the test set, making the evaluation procedure less biased.</a:t>
                </a:r>
              </a:p>
              <a:p>
                <a:r>
                  <a:rPr lang="en-US" sz="2000" b="1" dirty="0"/>
                  <a:t>Disadvantage</a:t>
                </a:r>
                <a:r>
                  <a:rPr lang="en-US" sz="2000" dirty="0"/>
                  <a:t>: </a:t>
                </a:r>
              </a:p>
              <a:p>
                <a:pPr lvl="1"/>
                <a:r>
                  <a:rPr lang="en-US" sz="1600" dirty="0"/>
                  <a:t>The basic holdout procedure does not consider class imbalances.</a:t>
                </a:r>
              </a:p>
              <a:p>
                <a:pPr lvl="1"/>
                <a:r>
                  <a:rPr lang="en-US" sz="1600" dirty="0"/>
                  <a:t>We might get lucky by selecting samples that are easy to classify/predict.</a:t>
                </a:r>
              </a:p>
              <a:p>
                <a:r>
                  <a:rPr lang="en-US" sz="2000" b="1" dirty="0"/>
                  <a:t>Stratified Holdout</a:t>
                </a:r>
                <a:r>
                  <a:rPr lang="en-US" sz="2000" dirty="0"/>
                  <a:t>: A variation for classification tasks, which ensures the distribution of the target variable (class proportions) is maintained in both training and testing subsets.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For instance, an 80-20% split in a classification dataset would result in the training set including 80% of the samples of each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and the test set including 20% of the samples.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Requires at least 2 samples per class!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8B6694D-A383-FAC7-A2C1-05D058BC4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6294120" cy="4894262"/>
              </a:xfrm>
              <a:blipFill>
                <a:blip r:embed="rId2"/>
                <a:stretch>
                  <a:fillRect l="-872" t="-1245" r="-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209F2307-4E5F-B542-1079-E3557D61B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DAAEFE9E-F057-1833-8237-C5D2872AF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2" descr="Understanding Hold-Out Methods for Training Machine Learning Models - Comet">
            <a:extLst>
              <a:ext uri="{FF2B5EF4-FFF2-40B4-BE49-F238E27FC236}">
                <a16:creationId xmlns:a16="http://schemas.microsoft.com/office/drawing/2014/main" id="{555F4860-CD5A-A4E2-6577-42295C024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364" y="2295144"/>
            <a:ext cx="5125628" cy="269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090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797B-848E-2AFE-DED9-16D60D68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F21B2BF-F9E8-C76B-0753-FC657FE6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938"/>
            <a:ext cx="10515600" cy="1325563"/>
          </a:xfrm>
        </p:spPr>
        <p:txBody>
          <a:bodyPr/>
          <a:lstStyle/>
          <a:p>
            <a:r>
              <a:rPr lang="en-US" dirty="0"/>
              <a:t>Repeated Holdout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8650B85A-9E69-CDF0-3B04-9B9862BBB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5886" y="1283296"/>
                <a:ext cx="6667744" cy="5154080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Split the dataset into train-test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times (e.g., 𝑁=10) using different random seed each time. Then train the model with the same hyperparameters in each train set and calculate its score in the test set.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Calculate the mean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/>
                  <a:t> and standard deviation</a:t>
                </a:r>
                <a:r>
                  <a:rPr lang="el-GR" sz="2000" dirty="0"/>
                  <a:t>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/>
                  <a:t> of the score in both train and test sets.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The performance of the model can then be calculated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l-G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l-GR" sz="2000" dirty="0"/>
                  <a:t>.</a:t>
                </a: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Examine standard deviation</a:t>
                </a:r>
                <a:r>
                  <a:rPr lang="el-GR" sz="2000" dirty="0"/>
                  <a:t> (</a:t>
                </a:r>
                <a:r>
                  <a:rPr lang="en-US" sz="2000" i="1" dirty="0"/>
                  <a:t>std</a:t>
                </a:r>
                <a:r>
                  <a:rPr lang="en-US" sz="2000" dirty="0"/>
                  <a:t>):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High </a:t>
                </a:r>
                <a:r>
                  <a:rPr lang="en-US" sz="1600" i="1" dirty="0"/>
                  <a:t>std</a:t>
                </a:r>
                <a:r>
                  <a:rPr lang="en-US" sz="1600" dirty="0"/>
                  <a:t> implies that it is uncertain whether the model performs around the average performance </a:t>
                </a:r>
                <a14:m>
                  <m:oMath xmlns:m="http://schemas.openxmlformats.org/officeDocument/2006/math">
                    <m:r>
                      <a:rPr lang="el-GR" sz="16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600" dirty="0"/>
                  <a:t> (since the error varies between in split).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Low </a:t>
                </a:r>
                <a:r>
                  <a:rPr lang="en-US" sz="1600" i="1" dirty="0"/>
                  <a:t>std</a:t>
                </a:r>
                <a:r>
                  <a:rPr lang="en-US" sz="1600" dirty="0"/>
                  <a:t> demonstrates that model scores around the average performance.</a:t>
                </a:r>
                <a:endParaRPr lang="en-US" sz="2000" b="1" dirty="0"/>
              </a:p>
              <a:p>
                <a:r>
                  <a:rPr lang="en-US" sz="2000" b="1" dirty="0"/>
                  <a:t>Advantage</a:t>
                </a:r>
                <a:r>
                  <a:rPr lang="en-US" sz="2000" dirty="0"/>
                  <a:t>: The mean train/test score is more accurate than a single score.</a:t>
                </a:r>
                <a:endParaRPr lang="en-US" sz="2000" b="1" dirty="0"/>
              </a:p>
              <a:p>
                <a:r>
                  <a:rPr lang="en-US" sz="2000" b="1" dirty="0"/>
                  <a:t>Disadvantage</a:t>
                </a:r>
                <a:r>
                  <a:rPr lang="en-US" sz="2000" dirty="0"/>
                  <a:t>: Random splits can contain overlaps. Not all data samples are evaluated.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8650B85A-9E69-CDF0-3B04-9B9862BBB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5886" y="1283296"/>
                <a:ext cx="6667744" cy="5154080"/>
              </a:xfrm>
              <a:blipFill>
                <a:blip r:embed="rId2"/>
                <a:stretch>
                  <a:fillRect l="-1005" t="-2012" r="-1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78F4F85C-D517-3413-78FD-DD8775EB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/>
              <a:t>Βασίλειος Κοχλιαρίδης</a:t>
            </a:r>
            <a:endParaRPr lang="en-US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BBC0C0E-3555-AE9F-B22F-DF0D8A54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2" name="Ομάδα 61">
            <a:extLst>
              <a:ext uri="{FF2B5EF4-FFF2-40B4-BE49-F238E27FC236}">
                <a16:creationId xmlns:a16="http://schemas.microsoft.com/office/drawing/2014/main" id="{E09C1F9D-0C84-6555-BE88-2D3E4E940FBE}"/>
              </a:ext>
            </a:extLst>
          </p:cNvPr>
          <p:cNvGrpSpPr/>
          <p:nvPr/>
        </p:nvGrpSpPr>
        <p:grpSpPr>
          <a:xfrm>
            <a:off x="7306220" y="1081073"/>
            <a:ext cx="4698600" cy="4695853"/>
            <a:chOff x="7324508" y="550594"/>
            <a:chExt cx="4698600" cy="4695853"/>
          </a:xfrm>
        </p:grpSpPr>
        <p:sp>
          <p:nvSpPr>
            <p:cNvPr id="7" name="Ορθογώνιο 6">
              <a:extLst>
                <a:ext uri="{FF2B5EF4-FFF2-40B4-BE49-F238E27FC236}">
                  <a16:creationId xmlns:a16="http://schemas.microsoft.com/office/drawing/2014/main" id="{D4F828D6-F566-AFFA-3E6C-811FD6C30394}"/>
                </a:ext>
              </a:extLst>
            </p:cNvPr>
            <p:cNvSpPr/>
            <p:nvPr/>
          </p:nvSpPr>
          <p:spPr>
            <a:xfrm>
              <a:off x="8142623" y="2047304"/>
              <a:ext cx="3870960" cy="24784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Ορθογώνιο 8">
              <a:extLst>
                <a:ext uri="{FF2B5EF4-FFF2-40B4-BE49-F238E27FC236}">
                  <a16:creationId xmlns:a16="http://schemas.microsoft.com/office/drawing/2014/main" id="{DA78180B-2168-E9E7-3291-EF2DFE156E29}"/>
                </a:ext>
              </a:extLst>
            </p:cNvPr>
            <p:cNvSpPr/>
            <p:nvPr/>
          </p:nvSpPr>
          <p:spPr>
            <a:xfrm>
              <a:off x="8773559" y="2047304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BA323D-10FF-B4DB-79E9-3F4A6D7574C0}"/>
                </a:ext>
              </a:extLst>
            </p:cNvPr>
            <p:cNvSpPr txBox="1"/>
            <p:nvPr/>
          </p:nvSpPr>
          <p:spPr>
            <a:xfrm>
              <a:off x="7334033" y="1986558"/>
              <a:ext cx="749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Iter 1:</a:t>
              </a:r>
            </a:p>
          </p:txBody>
        </p:sp>
        <p:sp>
          <p:nvSpPr>
            <p:cNvPr id="11" name="Ορθογώνιο 10">
              <a:extLst>
                <a:ext uri="{FF2B5EF4-FFF2-40B4-BE49-F238E27FC236}">
                  <a16:creationId xmlns:a16="http://schemas.microsoft.com/office/drawing/2014/main" id="{166E4C24-DBF6-8DBA-0106-825FCCC0BABE}"/>
                </a:ext>
              </a:extLst>
            </p:cNvPr>
            <p:cNvSpPr/>
            <p:nvPr/>
          </p:nvSpPr>
          <p:spPr>
            <a:xfrm>
              <a:off x="8142623" y="2529110"/>
              <a:ext cx="3870960" cy="24784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96FD2D-B456-164F-A5BF-2FE87D345A86}"/>
                </a:ext>
              </a:extLst>
            </p:cNvPr>
            <p:cNvSpPr txBox="1"/>
            <p:nvPr/>
          </p:nvSpPr>
          <p:spPr>
            <a:xfrm>
              <a:off x="7334033" y="2468364"/>
              <a:ext cx="749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Iter 2:</a:t>
              </a:r>
            </a:p>
          </p:txBody>
        </p:sp>
        <p:sp>
          <p:nvSpPr>
            <p:cNvPr id="14" name="Ορθογώνιο 13">
              <a:extLst>
                <a:ext uri="{FF2B5EF4-FFF2-40B4-BE49-F238E27FC236}">
                  <a16:creationId xmlns:a16="http://schemas.microsoft.com/office/drawing/2014/main" id="{712C2EDE-EDAC-85BE-BED5-572737E87172}"/>
                </a:ext>
              </a:extLst>
            </p:cNvPr>
            <p:cNvSpPr/>
            <p:nvPr/>
          </p:nvSpPr>
          <p:spPr>
            <a:xfrm>
              <a:off x="8142623" y="3010916"/>
              <a:ext cx="3870960" cy="24784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654FC7-4F7D-EE93-5BB2-7AB9F5F181C2}"/>
                </a:ext>
              </a:extLst>
            </p:cNvPr>
            <p:cNvSpPr txBox="1"/>
            <p:nvPr/>
          </p:nvSpPr>
          <p:spPr>
            <a:xfrm>
              <a:off x="7334033" y="2950170"/>
              <a:ext cx="7493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Iter 3:</a:t>
              </a:r>
            </a:p>
          </p:txBody>
        </p:sp>
        <p:sp>
          <p:nvSpPr>
            <p:cNvPr id="17" name="Ορθογώνιο 16">
              <a:extLst>
                <a:ext uri="{FF2B5EF4-FFF2-40B4-BE49-F238E27FC236}">
                  <a16:creationId xmlns:a16="http://schemas.microsoft.com/office/drawing/2014/main" id="{6A2E8392-710D-0093-E895-86C1421C1C34}"/>
                </a:ext>
              </a:extLst>
            </p:cNvPr>
            <p:cNvSpPr/>
            <p:nvPr/>
          </p:nvSpPr>
          <p:spPr>
            <a:xfrm>
              <a:off x="8142623" y="3492722"/>
              <a:ext cx="3870960" cy="24784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C0EBCD0-76FB-3064-6708-4CFF4F64188E}"/>
                    </a:ext>
                  </a:extLst>
                </p:cNvPr>
                <p:cNvSpPr txBox="1"/>
                <p:nvPr/>
              </p:nvSpPr>
              <p:spPr>
                <a:xfrm>
                  <a:off x="7334033" y="3431976"/>
                  <a:ext cx="7990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 dirty="0"/>
                    <a:t>Iter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a14:m>
                  <a:r>
                    <a:rPr lang="en-US" i="1" dirty="0"/>
                    <a:t>:</a:t>
                  </a: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C0EBCD0-76FB-3064-6708-4CFF4F641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4033" y="3431976"/>
                  <a:ext cx="799065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6107" t="-6557" r="-6107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Ορθογώνιο 19">
              <a:extLst>
                <a:ext uri="{FF2B5EF4-FFF2-40B4-BE49-F238E27FC236}">
                  <a16:creationId xmlns:a16="http://schemas.microsoft.com/office/drawing/2014/main" id="{01FE95B7-C1DE-5B84-6741-4D969B2CC3DC}"/>
                </a:ext>
              </a:extLst>
            </p:cNvPr>
            <p:cNvSpPr/>
            <p:nvPr/>
          </p:nvSpPr>
          <p:spPr>
            <a:xfrm>
              <a:off x="8133098" y="3964544"/>
              <a:ext cx="3870960" cy="24784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02507E-5593-20A7-CFAA-A21A0DBC1D54}"/>
                    </a:ext>
                  </a:extLst>
                </p:cNvPr>
                <p:cNvSpPr txBox="1"/>
                <p:nvPr/>
              </p:nvSpPr>
              <p:spPr>
                <a:xfrm>
                  <a:off x="7324508" y="3903798"/>
                  <a:ext cx="7998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i="1" dirty="0"/>
                    <a:t>Iter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a14:m>
                  <a:r>
                    <a:rPr lang="en-US" i="1" dirty="0"/>
                    <a:t>:</a:t>
                  </a: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902507E-5593-20A7-CFAA-A21A0DBC1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4508" y="3903798"/>
                  <a:ext cx="79989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6870" t="-6557" r="-5344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Ορθογώνιο 22">
              <a:extLst>
                <a:ext uri="{FF2B5EF4-FFF2-40B4-BE49-F238E27FC236}">
                  <a16:creationId xmlns:a16="http://schemas.microsoft.com/office/drawing/2014/main" id="{27FD2F82-C7C4-BBB5-3B63-A62A217B4BEF}"/>
                </a:ext>
              </a:extLst>
            </p:cNvPr>
            <p:cNvSpPr/>
            <p:nvPr/>
          </p:nvSpPr>
          <p:spPr>
            <a:xfrm>
              <a:off x="9416433" y="2047304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4" name="Ορθογώνιο 23">
              <a:extLst>
                <a:ext uri="{FF2B5EF4-FFF2-40B4-BE49-F238E27FC236}">
                  <a16:creationId xmlns:a16="http://schemas.microsoft.com/office/drawing/2014/main" id="{39FEB551-1C64-4FBC-AC5B-C3A872A52037}"/>
                </a:ext>
              </a:extLst>
            </p:cNvPr>
            <p:cNvSpPr/>
            <p:nvPr/>
          </p:nvSpPr>
          <p:spPr>
            <a:xfrm>
              <a:off x="10324483" y="2047304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5" name="Ορθογώνιο 24">
              <a:extLst>
                <a:ext uri="{FF2B5EF4-FFF2-40B4-BE49-F238E27FC236}">
                  <a16:creationId xmlns:a16="http://schemas.microsoft.com/office/drawing/2014/main" id="{F98C9926-EB02-190B-CB33-3957C7A3BDE9}"/>
                </a:ext>
              </a:extLst>
            </p:cNvPr>
            <p:cNvSpPr/>
            <p:nvPr/>
          </p:nvSpPr>
          <p:spPr>
            <a:xfrm>
              <a:off x="11010791" y="2047304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6" name="Ορθογώνιο 25">
              <a:extLst>
                <a:ext uri="{FF2B5EF4-FFF2-40B4-BE49-F238E27FC236}">
                  <a16:creationId xmlns:a16="http://schemas.microsoft.com/office/drawing/2014/main" id="{0954B6A8-0798-8EF4-5344-B2DD98A33751}"/>
                </a:ext>
              </a:extLst>
            </p:cNvPr>
            <p:cNvSpPr/>
            <p:nvPr/>
          </p:nvSpPr>
          <p:spPr>
            <a:xfrm>
              <a:off x="8773559" y="2525935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7" name="Ορθογώνιο 26">
              <a:extLst>
                <a:ext uri="{FF2B5EF4-FFF2-40B4-BE49-F238E27FC236}">
                  <a16:creationId xmlns:a16="http://schemas.microsoft.com/office/drawing/2014/main" id="{57DD2209-3CEF-6541-11AF-A193FB2115B4}"/>
                </a:ext>
              </a:extLst>
            </p:cNvPr>
            <p:cNvSpPr/>
            <p:nvPr/>
          </p:nvSpPr>
          <p:spPr>
            <a:xfrm>
              <a:off x="8358523" y="2525935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8" name="Ορθογώνιο 27">
              <a:extLst>
                <a:ext uri="{FF2B5EF4-FFF2-40B4-BE49-F238E27FC236}">
                  <a16:creationId xmlns:a16="http://schemas.microsoft.com/office/drawing/2014/main" id="{BC4AD5C9-FE6D-9FD5-B8A9-D20A47B233C0}"/>
                </a:ext>
              </a:extLst>
            </p:cNvPr>
            <p:cNvSpPr/>
            <p:nvPr/>
          </p:nvSpPr>
          <p:spPr>
            <a:xfrm>
              <a:off x="9911987" y="2525935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29" name="Ορθογώνιο 28">
              <a:extLst>
                <a:ext uri="{FF2B5EF4-FFF2-40B4-BE49-F238E27FC236}">
                  <a16:creationId xmlns:a16="http://schemas.microsoft.com/office/drawing/2014/main" id="{A37DB31F-906D-D790-E980-58A9BC1093D7}"/>
                </a:ext>
              </a:extLst>
            </p:cNvPr>
            <p:cNvSpPr/>
            <p:nvPr/>
          </p:nvSpPr>
          <p:spPr>
            <a:xfrm>
              <a:off x="11010791" y="2525935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0" name="Ορθογώνιο 29">
              <a:extLst>
                <a:ext uri="{FF2B5EF4-FFF2-40B4-BE49-F238E27FC236}">
                  <a16:creationId xmlns:a16="http://schemas.microsoft.com/office/drawing/2014/main" id="{D7E218B4-BCA2-A6F3-9928-C53D1DE56220}"/>
                </a:ext>
              </a:extLst>
            </p:cNvPr>
            <p:cNvSpPr/>
            <p:nvPr/>
          </p:nvSpPr>
          <p:spPr>
            <a:xfrm>
              <a:off x="9631317" y="3010916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1" name="Ορθογώνιο 30">
              <a:extLst>
                <a:ext uri="{FF2B5EF4-FFF2-40B4-BE49-F238E27FC236}">
                  <a16:creationId xmlns:a16="http://schemas.microsoft.com/office/drawing/2014/main" id="{5CA898CE-5DA6-FC69-47AF-E2B23A2C77B4}"/>
                </a:ext>
              </a:extLst>
            </p:cNvPr>
            <p:cNvSpPr/>
            <p:nvPr/>
          </p:nvSpPr>
          <p:spPr>
            <a:xfrm>
              <a:off x="8975380" y="3008971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2" name="Ορθογώνιο 31">
              <a:extLst>
                <a:ext uri="{FF2B5EF4-FFF2-40B4-BE49-F238E27FC236}">
                  <a16:creationId xmlns:a16="http://schemas.microsoft.com/office/drawing/2014/main" id="{76E702F2-2F1A-91CB-2824-6B2D48DF05D7}"/>
                </a:ext>
              </a:extLst>
            </p:cNvPr>
            <p:cNvSpPr/>
            <p:nvPr/>
          </p:nvSpPr>
          <p:spPr>
            <a:xfrm>
              <a:off x="11503623" y="3005924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3" name="Ορθογώνιο 32">
              <a:extLst>
                <a:ext uri="{FF2B5EF4-FFF2-40B4-BE49-F238E27FC236}">
                  <a16:creationId xmlns:a16="http://schemas.microsoft.com/office/drawing/2014/main" id="{1426C2A1-8FC4-3C2B-8621-9A6B227B858F}"/>
                </a:ext>
              </a:extLst>
            </p:cNvPr>
            <p:cNvSpPr/>
            <p:nvPr/>
          </p:nvSpPr>
          <p:spPr>
            <a:xfrm>
              <a:off x="8142623" y="3008971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4" name="Ορθογώνιο 33">
              <a:extLst>
                <a:ext uri="{FF2B5EF4-FFF2-40B4-BE49-F238E27FC236}">
                  <a16:creationId xmlns:a16="http://schemas.microsoft.com/office/drawing/2014/main" id="{65F478B0-348F-A245-4820-01903342F2C8}"/>
                </a:ext>
              </a:extLst>
            </p:cNvPr>
            <p:cNvSpPr/>
            <p:nvPr/>
          </p:nvSpPr>
          <p:spPr>
            <a:xfrm>
              <a:off x="9805307" y="3492365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5" name="Ορθογώνιο 34">
              <a:extLst>
                <a:ext uri="{FF2B5EF4-FFF2-40B4-BE49-F238E27FC236}">
                  <a16:creationId xmlns:a16="http://schemas.microsoft.com/office/drawing/2014/main" id="{7CA60D9C-BDC5-8BE0-E3FA-9CDAA765A1E8}"/>
                </a:ext>
              </a:extLst>
            </p:cNvPr>
            <p:cNvSpPr/>
            <p:nvPr/>
          </p:nvSpPr>
          <p:spPr>
            <a:xfrm>
              <a:off x="9141496" y="3492365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6" name="Ορθογώνιο 35">
              <a:extLst>
                <a:ext uri="{FF2B5EF4-FFF2-40B4-BE49-F238E27FC236}">
                  <a16:creationId xmlns:a16="http://schemas.microsoft.com/office/drawing/2014/main" id="{74081473-B6DA-2E00-986B-D1D32DAC921B}"/>
                </a:ext>
              </a:extLst>
            </p:cNvPr>
            <p:cNvSpPr/>
            <p:nvPr/>
          </p:nvSpPr>
          <p:spPr>
            <a:xfrm>
              <a:off x="11690876" y="3492365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7" name="Ορθογώνιο 36">
              <a:extLst>
                <a:ext uri="{FF2B5EF4-FFF2-40B4-BE49-F238E27FC236}">
                  <a16:creationId xmlns:a16="http://schemas.microsoft.com/office/drawing/2014/main" id="{27F55B44-EB8C-F739-0CB8-1A5F8D23AD5D}"/>
                </a:ext>
              </a:extLst>
            </p:cNvPr>
            <p:cNvSpPr/>
            <p:nvPr/>
          </p:nvSpPr>
          <p:spPr>
            <a:xfrm>
              <a:off x="8308739" y="3492365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8" name="Ορθογώνιο 37">
              <a:extLst>
                <a:ext uri="{FF2B5EF4-FFF2-40B4-BE49-F238E27FC236}">
                  <a16:creationId xmlns:a16="http://schemas.microsoft.com/office/drawing/2014/main" id="{8121C6F2-6345-D6FB-991C-F2C16760B887}"/>
                </a:ext>
              </a:extLst>
            </p:cNvPr>
            <p:cNvSpPr/>
            <p:nvPr/>
          </p:nvSpPr>
          <p:spPr>
            <a:xfrm>
              <a:off x="9902462" y="3964544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39" name="Ορθογώνιο 38">
              <a:extLst>
                <a:ext uri="{FF2B5EF4-FFF2-40B4-BE49-F238E27FC236}">
                  <a16:creationId xmlns:a16="http://schemas.microsoft.com/office/drawing/2014/main" id="{1BF3E2F4-070B-6BB0-9659-B7AFAB128351}"/>
                </a:ext>
              </a:extLst>
            </p:cNvPr>
            <p:cNvSpPr/>
            <p:nvPr/>
          </p:nvSpPr>
          <p:spPr>
            <a:xfrm>
              <a:off x="9582549" y="3964187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40" name="Ορθογώνιο 39">
              <a:extLst>
                <a:ext uri="{FF2B5EF4-FFF2-40B4-BE49-F238E27FC236}">
                  <a16:creationId xmlns:a16="http://schemas.microsoft.com/office/drawing/2014/main" id="{810CA0AB-0991-E1A7-6691-C99799F5B745}"/>
                </a:ext>
              </a:extLst>
            </p:cNvPr>
            <p:cNvSpPr/>
            <p:nvPr/>
          </p:nvSpPr>
          <p:spPr>
            <a:xfrm>
              <a:off x="10234694" y="3964187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41" name="Ορθογώνιο 40">
              <a:extLst>
                <a:ext uri="{FF2B5EF4-FFF2-40B4-BE49-F238E27FC236}">
                  <a16:creationId xmlns:a16="http://schemas.microsoft.com/office/drawing/2014/main" id="{3C08AF4A-DA9E-F65F-42FE-E9CB79196459}"/>
                </a:ext>
              </a:extLst>
            </p:cNvPr>
            <p:cNvSpPr/>
            <p:nvPr/>
          </p:nvSpPr>
          <p:spPr>
            <a:xfrm>
              <a:off x="8809264" y="3964107"/>
              <a:ext cx="332232" cy="2478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rgbClr val="000000"/>
                </a:solidFill>
              </a:endParaRPr>
            </a:p>
          </p:txBody>
        </p:sp>
        <p:sp>
          <p:nvSpPr>
            <p:cNvPr id="42" name="Ορθογώνιο 41">
              <a:extLst>
                <a:ext uri="{FF2B5EF4-FFF2-40B4-BE49-F238E27FC236}">
                  <a16:creationId xmlns:a16="http://schemas.microsoft.com/office/drawing/2014/main" id="{006C2458-A799-2ABA-21F1-B764C42C079F}"/>
                </a:ext>
              </a:extLst>
            </p:cNvPr>
            <p:cNvSpPr/>
            <p:nvPr/>
          </p:nvSpPr>
          <p:spPr>
            <a:xfrm>
              <a:off x="8152148" y="882421"/>
              <a:ext cx="3870960" cy="2478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5DB0513-952A-5CD3-F941-768F8194B764}"/>
                </a:ext>
              </a:extLst>
            </p:cNvPr>
            <p:cNvSpPr txBox="1"/>
            <p:nvPr/>
          </p:nvSpPr>
          <p:spPr>
            <a:xfrm>
              <a:off x="9665491" y="550594"/>
              <a:ext cx="9656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Dataset</a:t>
              </a:r>
            </a:p>
          </p:txBody>
        </p:sp>
        <p:cxnSp>
          <p:nvCxnSpPr>
            <p:cNvPr id="47" name="Ευθύγραμμο βέλος σύνδεσης 46">
              <a:extLst>
                <a:ext uri="{FF2B5EF4-FFF2-40B4-BE49-F238E27FC236}">
                  <a16:creationId xmlns:a16="http://schemas.microsoft.com/office/drawing/2014/main" id="{E3328D01-EC9B-6E22-3DC0-3EAC823438C0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>
              <a:off x="8311201" y="1666671"/>
              <a:ext cx="163654" cy="3542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4E5CCB6-CC28-1116-1CEA-606F0EFB70C5}"/>
                </a:ext>
              </a:extLst>
            </p:cNvPr>
            <p:cNvSpPr txBox="1"/>
            <p:nvPr/>
          </p:nvSpPr>
          <p:spPr>
            <a:xfrm>
              <a:off x="7981431" y="1297339"/>
              <a:ext cx="659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Train</a:t>
              </a:r>
            </a:p>
          </p:txBody>
        </p:sp>
        <p:cxnSp>
          <p:nvCxnSpPr>
            <p:cNvPr id="52" name="Ευθύγραμμο βέλος σύνδεσης 51">
              <a:extLst>
                <a:ext uri="{FF2B5EF4-FFF2-40B4-BE49-F238E27FC236}">
                  <a16:creationId xmlns:a16="http://schemas.microsoft.com/office/drawing/2014/main" id="{B00FCDAD-CC66-703A-5228-E0A635FC8817}"/>
                </a:ext>
              </a:extLst>
            </p:cNvPr>
            <p:cNvCxnSpPr>
              <a:cxnSpLocks/>
              <a:stCxn id="54" idx="2"/>
              <a:endCxn id="9" idx="0"/>
            </p:cNvCxnSpPr>
            <p:nvPr/>
          </p:nvCxnSpPr>
          <p:spPr>
            <a:xfrm flipH="1">
              <a:off x="8939675" y="1662829"/>
              <a:ext cx="138545" cy="3844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F4D738D-969E-FE94-814C-E2A065FE123A}"/>
                </a:ext>
              </a:extLst>
            </p:cNvPr>
            <p:cNvSpPr txBox="1"/>
            <p:nvPr/>
          </p:nvSpPr>
          <p:spPr>
            <a:xfrm>
              <a:off x="8785800" y="1293497"/>
              <a:ext cx="584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Test</a:t>
              </a:r>
            </a:p>
          </p:txBody>
        </p:sp>
        <p:sp>
          <p:nvSpPr>
            <p:cNvPr id="60" name="Βέλος: Κάτω 59">
              <a:extLst>
                <a:ext uri="{FF2B5EF4-FFF2-40B4-BE49-F238E27FC236}">
                  <a16:creationId xmlns:a16="http://schemas.microsoft.com/office/drawing/2014/main" id="{29AB4A54-B7DA-6C6D-22B4-A702CC66EAFB}"/>
                </a:ext>
              </a:extLst>
            </p:cNvPr>
            <p:cNvSpPr/>
            <p:nvPr/>
          </p:nvSpPr>
          <p:spPr>
            <a:xfrm>
              <a:off x="9997839" y="1311190"/>
              <a:ext cx="236855" cy="542552"/>
            </a:xfrm>
            <a:prstGeom prst="downArrow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0EC3481-C629-DE28-290F-E29487D584B2}"/>
                    </a:ext>
                  </a:extLst>
                </p:cNvPr>
                <p:cNvSpPr txBox="1"/>
                <p:nvPr/>
              </p:nvSpPr>
              <p:spPr>
                <a:xfrm>
                  <a:off x="9105791" y="4375183"/>
                  <a:ext cx="2286331" cy="8712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𝑠𝑐𝑜𝑟𝑒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𝑠𝑐𝑜𝑟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0EC3481-C629-DE28-290F-E29487D58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5791" y="4375183"/>
                  <a:ext cx="2286331" cy="8712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1309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Ομάδα 12">
            <a:extLst>
              <a:ext uri="{FF2B5EF4-FFF2-40B4-BE49-F238E27FC236}">
                <a16:creationId xmlns:a16="http://schemas.microsoft.com/office/drawing/2014/main" id="{B7BF026E-4244-E82D-C634-1154470DB0F0}"/>
              </a:ext>
            </a:extLst>
          </p:cNvPr>
          <p:cNvGrpSpPr/>
          <p:nvPr/>
        </p:nvGrpSpPr>
        <p:grpSpPr>
          <a:xfrm>
            <a:off x="8315324" y="4420500"/>
            <a:ext cx="3707375" cy="2118412"/>
            <a:chOff x="7894051" y="4020801"/>
            <a:chExt cx="4087381" cy="2335549"/>
          </a:xfrm>
        </p:grpSpPr>
        <p:pic>
          <p:nvPicPr>
            <p:cNvPr id="6146" name="Picture 2" descr="How to Train and Test Data Like a Pro – Data Masters Club">
              <a:extLst>
                <a:ext uri="{FF2B5EF4-FFF2-40B4-BE49-F238E27FC236}">
                  <a16:creationId xmlns:a16="http://schemas.microsoft.com/office/drawing/2014/main" id="{AF1C69DF-A5D4-752B-18D5-0E90292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2050" y="4020801"/>
              <a:ext cx="3199382" cy="23355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17BF0D-4F61-E53C-1F12-F3DBCE6F5E27}"/>
                </a:ext>
              </a:extLst>
            </p:cNvPr>
            <p:cNvSpPr txBox="1"/>
            <p:nvPr/>
          </p:nvSpPr>
          <p:spPr>
            <a:xfrm>
              <a:off x="7903957" y="4927748"/>
              <a:ext cx="9076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Holdout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909624-8786-CD15-8EC4-16B7FB1246D0}"/>
                </a:ext>
              </a:extLst>
            </p:cNvPr>
            <p:cNvSpPr txBox="1"/>
            <p:nvPr/>
          </p:nvSpPr>
          <p:spPr>
            <a:xfrm>
              <a:off x="7894051" y="5557837"/>
              <a:ext cx="10139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Extended</a:t>
              </a:r>
            </a:p>
            <a:p>
              <a:pPr algn="ctr"/>
              <a:r>
                <a:rPr lang="en-US" sz="1600" dirty="0"/>
                <a:t>Holdout</a:t>
              </a:r>
            </a:p>
          </p:txBody>
        </p:sp>
      </p:grpSp>
      <p:sp>
        <p:nvSpPr>
          <p:cNvPr id="2" name="Τίτλος 1">
            <a:extLst>
              <a:ext uri="{FF2B5EF4-FFF2-40B4-BE49-F238E27FC236}">
                <a16:creationId xmlns:a16="http://schemas.microsoft.com/office/drawing/2014/main" id="{7FAF3D39-085E-DAAA-373B-2376554D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5"/>
            <a:ext cx="7477124" cy="1325563"/>
          </a:xfrm>
        </p:spPr>
        <p:txBody>
          <a:bodyPr/>
          <a:lstStyle/>
          <a:p>
            <a:r>
              <a:rPr lang="en-US" dirty="0"/>
              <a:t>Hyperparameter Optimization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C24399A-9EC9-8DDF-D52E-448667070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163"/>
            <a:ext cx="6979675" cy="5238749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Hyperparameter</a:t>
            </a:r>
            <a:r>
              <a:rPr lang="en-US" sz="2000" dirty="0"/>
              <a:t>: the model’s settings 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(e.g. number of trees in Random Forests).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While a typical number is 100, it does not work always well in all tasks/datasets.</a:t>
            </a:r>
          </a:p>
          <a:p>
            <a:r>
              <a:rPr lang="en-US" sz="2000" b="1" dirty="0"/>
              <a:t>Hyperparameter Optimization (a.k.a. Fine-Tuning): </a:t>
            </a:r>
            <a:r>
              <a:rPr lang="en-US" sz="2000" dirty="0"/>
              <a:t>the process of finding effective model parameters (settings) for the specified task. </a:t>
            </a:r>
          </a:p>
          <a:p>
            <a:r>
              <a:rPr lang="en-US" sz="2200" dirty="0"/>
              <a:t>The holdout procedure (train/eval) split is biased.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Optimization using the </a:t>
            </a:r>
            <a:r>
              <a:rPr lang="en-US" sz="1600" b="1" dirty="0"/>
              <a:t>train set </a:t>
            </a:r>
            <a:r>
              <a:rPr lang="en-US" sz="1600" dirty="0"/>
              <a:t>could easily result in </a:t>
            </a:r>
            <a:r>
              <a:rPr lang="en-US" sz="1600" b="1" dirty="0"/>
              <a:t>overfitting</a:t>
            </a:r>
            <a:r>
              <a:rPr lang="en-US" sz="16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/>
              <a:t>Optimization using the </a:t>
            </a:r>
            <a:r>
              <a:rPr lang="en-US" sz="1600" b="1" dirty="0"/>
              <a:t>eval set is biased</a:t>
            </a:r>
            <a:r>
              <a:rPr lang="en-US" sz="1600" dirty="0"/>
              <a:t>, because then we optimize the model to work well in the eval set, even though the model does not “see” the eval samples.</a:t>
            </a:r>
          </a:p>
          <a:p>
            <a:r>
              <a:rPr lang="en-US" sz="2200" b="1" dirty="0"/>
              <a:t>Extended Holdout Procedure</a:t>
            </a:r>
            <a:r>
              <a:rPr lang="en-US" sz="2200" dirty="0"/>
              <a:t>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700" dirty="0"/>
              <a:t>Split the dataset into train-validation-test (e.g. 70-20-10%).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700" dirty="0"/>
              <a:t>Fine-tune the model in the validation set.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700" dirty="0"/>
              <a:t>Then, split the initial dataset into 90-10% (or combine the train and validation sets)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700" dirty="0"/>
              <a:t>Train the model in the combined dataset using the best parameters found in step 2 and evaluate the model in the test set.</a:t>
            </a:r>
          </a:p>
          <a:p>
            <a:endParaRPr lang="en-US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B9BB2E0-1D33-01F9-B0BE-EC4DB024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97194A77-9285-2B45-9814-A121B9A4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6</a:t>
            </a:fld>
            <a:endParaRPr lang="en-US"/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935FE162-6EA5-11A7-2BFE-D7BB09D30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5" y="2649230"/>
            <a:ext cx="3707375" cy="1938296"/>
          </a:xfrm>
          <a:prstGeom prst="rect">
            <a:avLst/>
          </a:prstGeom>
        </p:spPr>
      </p:pic>
      <p:pic>
        <p:nvPicPr>
          <p:cNvPr id="6148" name="Picture 4" descr="Guide to Hyperparameter tuning">
            <a:extLst>
              <a:ext uri="{FF2B5EF4-FFF2-40B4-BE49-F238E27FC236}">
                <a16:creationId xmlns:a16="http://schemas.microsoft.com/office/drawing/2014/main" id="{C5C79C11-081D-DC4F-BB8F-0C4884578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309" y="562689"/>
            <a:ext cx="3707375" cy="195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36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58B2E27-E655-B9DB-39AB-F22E7B4C4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Cross Validation (CV)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7C2CC14-D5F2-C03B-C8B3-D1F9F4085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0"/>
            <a:ext cx="10515600" cy="4679950"/>
          </a:xfrm>
        </p:spPr>
        <p:txBody>
          <a:bodyPr>
            <a:normAutofit/>
          </a:bodyPr>
          <a:lstStyle/>
          <a:p>
            <a:r>
              <a:rPr lang="en-US" sz="2000" dirty="0"/>
              <a:t>Repeated holdout procedure utilizes random sampling during train-test split, which is not ideal, because several test sets could be identical (e.g., include the same samples in more than 1 test set).</a:t>
            </a:r>
          </a:p>
          <a:p>
            <a:r>
              <a:rPr lang="en-US" sz="2000" b="1" dirty="0"/>
              <a:t>Cross-Validation</a:t>
            </a:r>
            <a:r>
              <a:rPr lang="en-US" sz="2000" dirty="0"/>
              <a:t>: Evaluates the model in multiple test sets, but it ensures that each test set is unique. </a:t>
            </a:r>
          </a:p>
          <a:p>
            <a:r>
              <a:rPr lang="en-US" sz="2000" dirty="0"/>
              <a:t>Ideal for fine-tuning, as it eliminates evaluation biases.</a:t>
            </a:r>
          </a:p>
          <a:p>
            <a:r>
              <a:rPr lang="en-US" sz="2000" dirty="0"/>
              <a:t>It is more reliable than holdout, but it requires further training time.</a:t>
            </a:r>
          </a:p>
          <a:p>
            <a:r>
              <a:rPr lang="en-US" sz="2000" dirty="0"/>
              <a:t>Methods: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Leave-One-Out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K-Fold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Nested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F803F0D-D142-5C70-AB2A-7B1ADEAF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C5DBAB0C-E808-5831-9C51-B1C8AC6C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9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A9D70F-8B22-03D5-423B-52AF9C038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Leave-One-Out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95C0C37-8CFB-024A-A4E3-38B9DA23B6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515600" cy="1585912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Splits the dataset into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train-test sets,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is the total dataset samples.</a:t>
                </a:r>
              </a:p>
              <a:p>
                <a:r>
                  <a:rPr lang="en-US" sz="2000" dirty="0"/>
                  <a:t>In each iteration, it trains the model 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samples, evaluates it in a single sample (the test size is 1).</a:t>
                </a:r>
              </a:p>
              <a:p>
                <a:r>
                  <a:rPr lang="en-US" sz="2000" dirty="0"/>
                  <a:t>Finally, it calculates the average score</a:t>
                </a:r>
                <a:r>
                  <a:rPr lang="el-GR" sz="2000" dirty="0"/>
                  <a:t>. 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95C0C37-8CFB-024A-A4E3-38B9DA23B6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515600" cy="1585912"/>
              </a:xfrm>
              <a:blipFill>
                <a:blip r:embed="rId2"/>
                <a:stretch>
                  <a:fillRect l="-522" t="-3846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C00930C-6F6D-31E5-D892-AA3B50AA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0E19B05A-C368-F6AA-ED54-1418BE5B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8</a:t>
            </a:fld>
            <a:endParaRPr lang="en-US"/>
          </a:p>
        </p:txBody>
      </p:sp>
      <p:grpSp>
        <p:nvGrpSpPr>
          <p:cNvPr id="7" name="Ομάδα 6">
            <a:extLst>
              <a:ext uri="{FF2B5EF4-FFF2-40B4-BE49-F238E27FC236}">
                <a16:creationId xmlns:a16="http://schemas.microsoft.com/office/drawing/2014/main" id="{160FF728-D611-1991-BBD8-E32B71BD236E}"/>
              </a:ext>
            </a:extLst>
          </p:cNvPr>
          <p:cNvGrpSpPr/>
          <p:nvPr/>
        </p:nvGrpSpPr>
        <p:grpSpPr>
          <a:xfrm>
            <a:off x="408279" y="3210829"/>
            <a:ext cx="11163108" cy="2622067"/>
            <a:chOff x="1873679" y="4010929"/>
            <a:chExt cx="11163108" cy="2622067"/>
          </a:xfrm>
        </p:grpSpPr>
        <p:grpSp>
          <p:nvGrpSpPr>
            <p:cNvPr id="8" name="Ομάδα 7">
              <a:extLst>
                <a:ext uri="{FF2B5EF4-FFF2-40B4-BE49-F238E27FC236}">
                  <a16:creationId xmlns:a16="http://schemas.microsoft.com/office/drawing/2014/main" id="{B51F249E-10BA-ED4C-0B89-6CE9E7F27502}"/>
                </a:ext>
              </a:extLst>
            </p:cNvPr>
            <p:cNvGrpSpPr/>
            <p:nvPr/>
          </p:nvGrpSpPr>
          <p:grpSpPr>
            <a:xfrm>
              <a:off x="1873679" y="4010929"/>
              <a:ext cx="5708843" cy="2622067"/>
              <a:chOff x="1873679" y="4010929"/>
              <a:chExt cx="5708843" cy="2622067"/>
            </a:xfrm>
          </p:grpSpPr>
          <p:pic>
            <p:nvPicPr>
              <p:cNvPr id="14" name="Εικόνα 13">
                <a:extLst>
                  <a:ext uri="{FF2B5EF4-FFF2-40B4-BE49-F238E27FC236}">
                    <a16:creationId xmlns:a16="http://schemas.microsoft.com/office/drawing/2014/main" id="{6C97504A-DAC9-AAF5-E4C3-CBAAA322E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9896" y="4325778"/>
                <a:ext cx="3842626" cy="2307218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CB01F8-B94E-C0C7-ABBA-E20F8E05F511}"/>
                  </a:ext>
                </a:extLst>
              </p:cNvPr>
              <p:cNvSpPr txBox="1"/>
              <p:nvPr/>
            </p:nvSpPr>
            <p:spPr>
              <a:xfrm>
                <a:off x="1873679" y="5294721"/>
                <a:ext cx="1866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Iterations </a:t>
                </a:r>
                <a:r>
                  <a:rPr lang="en-US" i="1" dirty="0"/>
                  <a:t>1 to N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0890F7-A6F5-832A-1C52-62245CEB5EBF}"/>
                  </a:ext>
                </a:extLst>
              </p:cNvPr>
              <p:cNvSpPr txBox="1"/>
              <p:nvPr/>
            </p:nvSpPr>
            <p:spPr>
              <a:xfrm>
                <a:off x="4165775" y="4010929"/>
                <a:ext cx="600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Test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0894B2-7594-5462-FDA4-E1EB1BE0058B}"/>
                  </a:ext>
                </a:extLst>
              </p:cNvPr>
              <p:cNvSpPr txBox="1"/>
              <p:nvPr/>
            </p:nvSpPr>
            <p:spPr>
              <a:xfrm>
                <a:off x="5853579" y="4010929"/>
                <a:ext cx="705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Train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22F8C1-8132-9A4C-6279-E563C19D732F}"/>
                </a:ext>
              </a:extLst>
            </p:cNvPr>
            <p:cNvSpPr txBox="1"/>
            <p:nvPr/>
          </p:nvSpPr>
          <p:spPr>
            <a:xfrm>
              <a:off x="7582522" y="4693681"/>
              <a:ext cx="982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Score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8A8BAE-61B5-8AA2-9051-3C0878D5C857}"/>
                </a:ext>
              </a:extLst>
            </p:cNvPr>
            <p:cNvSpPr txBox="1"/>
            <p:nvPr/>
          </p:nvSpPr>
          <p:spPr>
            <a:xfrm>
              <a:off x="7582522" y="5138714"/>
              <a:ext cx="982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Score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CE697D-5496-DDD5-DEFD-9A9772471001}"/>
                </a:ext>
              </a:extLst>
            </p:cNvPr>
            <p:cNvSpPr txBox="1"/>
            <p:nvPr/>
          </p:nvSpPr>
          <p:spPr>
            <a:xfrm>
              <a:off x="7884514" y="5667050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F5C181-CB2C-D0CF-760F-5F08BB9001D6}"/>
                </a:ext>
              </a:extLst>
            </p:cNvPr>
            <p:cNvSpPr txBox="1"/>
            <p:nvPr/>
          </p:nvSpPr>
          <p:spPr>
            <a:xfrm>
              <a:off x="7579142" y="6215870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Score </a:t>
              </a:r>
              <a:r>
                <a:rPr lang="en-US" i="1" dirty="0"/>
                <a:t>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65FA4A2-C3BB-B391-FC4C-B1ABDC261B70}"/>
                    </a:ext>
                  </a:extLst>
                </p:cNvPr>
                <p:cNvSpPr txBox="1"/>
                <p:nvPr/>
              </p:nvSpPr>
              <p:spPr>
                <a:xfrm>
                  <a:off x="8705088" y="5479387"/>
                  <a:ext cx="4331699" cy="6109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𝑆𝑐𝑜𝑟𝑒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𝑆𝑐𝑜𝑟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𝑆𝑐𝑜𝑟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𝑆𝑐𝑜𝑟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60CF3D0-C88A-22ED-B366-E46BC314C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5088" y="5479387"/>
                  <a:ext cx="4331699" cy="61093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2329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64FF5-B8EE-D372-A149-43CDC1B2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A5F01FB-75F0-306F-23D7-018CF8C2F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41" y="292653"/>
            <a:ext cx="5912845" cy="1442463"/>
          </a:xfrm>
        </p:spPr>
        <p:txBody>
          <a:bodyPr/>
          <a:lstStyle/>
          <a:p>
            <a:r>
              <a:rPr lang="en-US" dirty="0"/>
              <a:t>K-Fold Cross Validation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15C1E149-F005-275B-AFED-2355A2D14B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3841" y="2162601"/>
                <a:ext cx="5482159" cy="4333449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Splits the dataset into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 equal folds. </a:t>
                </a:r>
              </a:p>
              <a:p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training samples, the number of training samples in each iteration after the split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Fit the model on k-1 parts and calculate test error using the fitted model on the kth part</a:t>
                </a:r>
              </a:p>
              <a:p>
                <a:r>
                  <a:rPr lang="en-US" sz="2000" dirty="0"/>
                  <a:t>Repeat k times, using each data subset as the test set once. (usually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10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Stratified K-Fold</a:t>
                </a:r>
                <a:r>
                  <a:rPr lang="en-US" sz="2000" dirty="0"/>
                  <a:t>: Variation of K-Fold cross validation, which utilizes stratified split for each fold.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15C1E149-F005-275B-AFED-2355A2D14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3841" y="2162601"/>
                <a:ext cx="5482159" cy="4333449"/>
              </a:xfrm>
              <a:blipFill>
                <a:blip r:embed="rId2"/>
                <a:stretch>
                  <a:fillRect l="-1001" t="-1406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3917F94-408E-6F5C-A197-292E0D3E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4100" name="Picture 4" descr="Cross Validation, Explained - Sharp Sight">
            <a:extLst>
              <a:ext uri="{FF2B5EF4-FFF2-40B4-BE49-F238E27FC236}">
                <a16:creationId xmlns:a16="http://schemas.microsoft.com/office/drawing/2014/main" id="{D40F8FFA-3334-E548-F5CD-A694F2891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686" y="0"/>
            <a:ext cx="5086350" cy="321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ow Cross-Validation Works In Machine Learning - Dataaspirant">
            <a:extLst>
              <a:ext uri="{FF2B5EF4-FFF2-40B4-BE49-F238E27FC236}">
                <a16:creationId xmlns:a16="http://schemas.microsoft.com/office/drawing/2014/main" id="{60E87F98-67D7-FD68-B623-CF0CEAA28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075" y="3150513"/>
            <a:ext cx="4871572" cy="327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Θέση υποσέλιδου 3">
            <a:extLst>
              <a:ext uri="{FF2B5EF4-FFF2-40B4-BE49-F238E27FC236}">
                <a16:creationId xmlns:a16="http://schemas.microsoft.com/office/drawing/2014/main" id="{29A77426-CB46-2B6F-3904-CD275019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0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88041-F002-89EE-3F78-093702B46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31A79B3-557A-5CD2-5907-BB3C6B11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72491"/>
            <a:ext cx="10325000" cy="1442463"/>
          </a:xfrm>
        </p:spPr>
        <p:txBody>
          <a:bodyPr/>
          <a:lstStyle/>
          <a:p>
            <a:r>
              <a:rPr lang="en-US" dirty="0"/>
              <a:t>Stratified K-Fold Cross Validation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5E9F069-756F-1F22-31A1-D04844C7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sp>
        <p:nvSpPr>
          <p:cNvPr id="12" name="Θέση περιεχομένου 11">
            <a:extLst>
              <a:ext uri="{FF2B5EF4-FFF2-40B4-BE49-F238E27FC236}">
                <a16:creationId xmlns:a16="http://schemas.microsoft.com/office/drawing/2014/main" id="{9CD171DD-D7B1-7FAA-139B-B9A2D736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4767889" cy="3564436"/>
          </a:xfrm>
        </p:spPr>
        <p:txBody>
          <a:bodyPr>
            <a:normAutofit/>
          </a:bodyPr>
          <a:lstStyle/>
          <a:p>
            <a:r>
              <a:rPr lang="en-US" sz="2000" dirty="0"/>
              <a:t>Variation of K-Fold cross validation, which utilizes stratified split for each fold.</a:t>
            </a:r>
          </a:p>
        </p:txBody>
      </p:sp>
      <p:pic>
        <p:nvPicPr>
          <p:cNvPr id="3074" name="Picture 2" descr="How Cross-Validation Works In Machine Learning - Dataaspirant">
            <a:extLst>
              <a:ext uri="{FF2B5EF4-FFF2-40B4-BE49-F238E27FC236}">
                <a16:creationId xmlns:a16="http://schemas.microsoft.com/office/drawing/2014/main" id="{532E15DB-1E66-062D-A8EC-69EB97492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578" y="2099451"/>
            <a:ext cx="6129221" cy="411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Θέση υποσέλιδου 3">
            <a:extLst>
              <a:ext uri="{FF2B5EF4-FFF2-40B4-BE49-F238E27FC236}">
                <a16:creationId xmlns:a16="http://schemas.microsoft.com/office/drawing/2014/main" id="{0AB562BA-B6AE-A2ED-AB44-1B4DF802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3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8F16FB-B74F-5503-F040-464E498C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Classification Metrics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38B9BB2-D747-6742-F513-A2D2A890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2145507"/>
            <a:ext cx="2305050" cy="2424112"/>
          </a:xfrm>
        </p:spPr>
        <p:txBody>
          <a:bodyPr>
            <a:normAutofit/>
          </a:bodyPr>
          <a:lstStyle/>
          <a:p>
            <a:r>
              <a:rPr lang="en-US" sz="2000" dirty="0"/>
              <a:t>Confusion Matrix</a:t>
            </a:r>
          </a:p>
          <a:p>
            <a:r>
              <a:rPr lang="en-US" sz="2000" dirty="0"/>
              <a:t>Accuracy</a:t>
            </a:r>
          </a:p>
          <a:p>
            <a:r>
              <a:rPr lang="en-US" sz="2000" dirty="0"/>
              <a:t>Precision</a:t>
            </a:r>
          </a:p>
          <a:p>
            <a:r>
              <a:rPr lang="en-US" sz="2000" dirty="0"/>
              <a:t>Recall</a:t>
            </a:r>
          </a:p>
          <a:p>
            <a:r>
              <a:rPr lang="en-US" sz="2000" dirty="0"/>
              <a:t>F1-Score</a:t>
            </a:r>
          </a:p>
          <a:p>
            <a:r>
              <a:rPr lang="en-US" sz="2000" dirty="0"/>
              <a:t>ROC &amp; AUC</a:t>
            </a:r>
          </a:p>
          <a:p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79E932DF-8653-ED26-BA27-C728C8D07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7898FDF-A714-9D12-9CD3-46679E75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07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0E5FBBD-FCE6-2A5B-4520-9DB5A8FC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84"/>
            <a:ext cx="10515600" cy="1325563"/>
          </a:xfrm>
        </p:spPr>
        <p:txBody>
          <a:bodyPr/>
          <a:lstStyle/>
          <a:p>
            <a:r>
              <a:rPr lang="en-US" dirty="0"/>
              <a:t>Confusion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7586B9A-52AD-2684-42DC-B35D6AC85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5090" y="1253423"/>
                <a:ext cx="6807736" cy="3010384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2000" dirty="0"/>
                  <a:t>It is used as building block for classification metrics.</a:t>
                </a:r>
              </a:p>
              <a:p>
                <a:pPr lvl="1"/>
                <a:r>
                  <a:rPr lang="en-US" sz="2000" dirty="0"/>
                  <a:t>Displays: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True Positives (TP)</a:t>
                </a:r>
                <a:r>
                  <a:rPr lang="en-US" sz="1600" dirty="0"/>
                  <a:t>: Positive samples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) that are correctly classified as positives.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True Negatives (TN): </a:t>
                </a:r>
                <a:r>
                  <a:rPr lang="en-US" sz="1600" dirty="0"/>
                  <a:t>Negative samples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) that are correctly classified as negatives.</a:t>
                </a:r>
                <a:endParaRPr lang="en-US" sz="1600" b="1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False Positives (FP): </a:t>
                </a:r>
                <a:r>
                  <a:rPr lang="en-US" sz="1600" dirty="0"/>
                  <a:t>Negative samples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) that are incorrectly classified as positives.</a:t>
                </a:r>
                <a:endParaRPr lang="en-US" sz="1600" b="1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False Negatives (FN): </a:t>
                </a:r>
                <a:r>
                  <a:rPr lang="en-US" sz="1600" dirty="0"/>
                  <a:t>Positive samples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) that are incorrectly classified as negatives.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7586B9A-52AD-2684-42DC-B35D6AC85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5090" y="1253423"/>
                <a:ext cx="6807736" cy="3010384"/>
              </a:xfrm>
              <a:blipFill>
                <a:blip r:embed="rId2"/>
                <a:stretch>
                  <a:fillRect t="-2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279360E-4C5C-9FCC-9A8D-9B36D408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grpSp>
        <p:nvGrpSpPr>
          <p:cNvPr id="8" name="Ομάδα 7">
            <a:extLst>
              <a:ext uri="{FF2B5EF4-FFF2-40B4-BE49-F238E27FC236}">
                <a16:creationId xmlns:a16="http://schemas.microsoft.com/office/drawing/2014/main" id="{9F85557F-5383-45E6-979D-7509BDD2371A}"/>
              </a:ext>
            </a:extLst>
          </p:cNvPr>
          <p:cNvGrpSpPr/>
          <p:nvPr/>
        </p:nvGrpSpPr>
        <p:grpSpPr>
          <a:xfrm>
            <a:off x="7226935" y="207478"/>
            <a:ext cx="4965065" cy="2824347"/>
            <a:chOff x="7017735" y="776283"/>
            <a:chExt cx="4965065" cy="2824347"/>
          </a:xfrm>
        </p:grpSpPr>
        <p:pic>
          <p:nvPicPr>
            <p:cNvPr id="5122" name="Picture 2" descr="How to interpret a confusion matrix for a machine learning model">
              <a:extLst>
                <a:ext uri="{FF2B5EF4-FFF2-40B4-BE49-F238E27FC236}">
                  <a16:creationId xmlns:a16="http://schemas.microsoft.com/office/drawing/2014/main" id="{3FC8D900-D3F7-5897-8151-336FD66A3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7735" y="776283"/>
              <a:ext cx="4965065" cy="2794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02497B0-DC9E-2244-356D-D446FF3DCA72}"/>
                </a:ext>
              </a:extLst>
            </p:cNvPr>
            <p:cNvSpPr txBox="1"/>
            <p:nvPr/>
          </p:nvSpPr>
          <p:spPr>
            <a:xfrm>
              <a:off x="8771185" y="3231298"/>
              <a:ext cx="2308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Binary Classification</a:t>
              </a:r>
            </a:p>
          </p:txBody>
        </p:sp>
      </p:grpSp>
      <p:grpSp>
        <p:nvGrpSpPr>
          <p:cNvPr id="7" name="Ομάδα 6">
            <a:extLst>
              <a:ext uri="{FF2B5EF4-FFF2-40B4-BE49-F238E27FC236}">
                <a16:creationId xmlns:a16="http://schemas.microsoft.com/office/drawing/2014/main" id="{A75D78C5-9877-36D2-F909-0EDCCDF95ED4}"/>
              </a:ext>
            </a:extLst>
          </p:cNvPr>
          <p:cNvGrpSpPr/>
          <p:nvPr/>
        </p:nvGrpSpPr>
        <p:grpSpPr>
          <a:xfrm>
            <a:off x="8610600" y="3222140"/>
            <a:ext cx="3150824" cy="2943894"/>
            <a:chOff x="8350096" y="3719607"/>
            <a:chExt cx="3150824" cy="2943894"/>
          </a:xfrm>
        </p:grpSpPr>
        <p:pic>
          <p:nvPicPr>
            <p:cNvPr id="5124" name="Picture 4" descr="Understanding the Confusion Matrix in Machine Learning - GeeksforGeeks">
              <a:extLst>
                <a:ext uri="{FF2B5EF4-FFF2-40B4-BE49-F238E27FC236}">
                  <a16:creationId xmlns:a16="http://schemas.microsoft.com/office/drawing/2014/main" id="{2EB13E4D-4A8D-7FF0-0475-4D0042ED44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50096" y="3719607"/>
              <a:ext cx="3150824" cy="26405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F0AD59-A073-45C5-DAFE-447B0C3DAE03}"/>
                </a:ext>
              </a:extLst>
            </p:cNvPr>
            <p:cNvSpPr txBox="1"/>
            <p:nvPr/>
          </p:nvSpPr>
          <p:spPr>
            <a:xfrm>
              <a:off x="8582030" y="6294169"/>
              <a:ext cx="26869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Multiclass Classification</a:t>
              </a:r>
            </a:p>
          </p:txBody>
        </p:sp>
      </p:grpSp>
      <p:pic>
        <p:nvPicPr>
          <p:cNvPr id="9218" name="Picture 2" descr="Metrics for Classification Model">
            <a:extLst>
              <a:ext uri="{FF2B5EF4-FFF2-40B4-BE49-F238E27FC236}">
                <a16:creationId xmlns:a16="http://schemas.microsoft.com/office/drawing/2014/main" id="{8FB01F3F-27A8-069F-4FBE-9FE3BA230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386" y="4080731"/>
            <a:ext cx="5286374" cy="227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Θέση υποσέλιδου 3">
            <a:extLst>
              <a:ext uri="{FF2B5EF4-FFF2-40B4-BE49-F238E27FC236}">
                <a16:creationId xmlns:a16="http://schemas.microsoft.com/office/drawing/2014/main" id="{7058F176-ADA5-F37F-B06D-C13753E2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28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C4BBDA-53FC-6EE3-E152-73C5A85B8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D7BF3B9-DBD7-03C9-9540-63843FC060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63250" cy="311785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Counts the percentage of the correctly classified samples.</a:t>
                </a:r>
              </a:p>
              <a:p>
                <a:r>
                  <a:rPr lang="en-US" sz="2000" b="1" dirty="0"/>
                  <a:t>For Binary Classification</a:t>
                </a:r>
                <a:r>
                  <a:rPr lang="en-US" sz="2000" b="0" dirty="0"/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𝐴𝑐𝑐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𝐶𝑜𝑟𝑟𝑒𝑐𝑡𝑙𝑦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𝐶𝑙𝑎𝑠𝑠𝑖𝑓𝑖𝑒𝑑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𝑆𝑎𝑚𝑝𝑙𝑒𝑠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∗100=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∗100</m:t>
                    </m:r>
                  </m:oMath>
                </a14:m>
                <a:endParaRPr lang="en-US" sz="2000" b="0" dirty="0"/>
              </a:p>
              <a:p>
                <a:r>
                  <a:rPr lang="en-US" sz="2000" dirty="0"/>
                  <a:t>For Multiclass Classification: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Macro Accuracy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𝑀𝑎𝑐𝑟𝑜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𝐴𝑐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𝐴𝑐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𝐴𝑐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𝐴𝑐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1600" dirty="0"/>
                  <a:t>, where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1600" dirty="0"/>
                  <a:t> is the accuracy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sz="1600" dirty="0"/>
                  <a:t> class. Macro Acc considers equally importance for all classes.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Micro Accuracy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𝑀𝑖𝑐𝑟𝑜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𝑆𝑎𝑚𝑝𝑙𝑒𝑠</m:t>
                        </m:r>
                      </m:den>
                    </m:f>
                  </m:oMath>
                </a14:m>
                <a:r>
                  <a:rPr lang="en-US" sz="1600" dirty="0"/>
                  <a:t>. Micro Acc emphasizes in the accuracy of the majority class.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b="1" dirty="0"/>
                  <a:t>Weighted Accuracy</a:t>
                </a:r>
                <a:r>
                  <a:rPr lang="en-US" sz="1600" dirty="0"/>
                  <a:t>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𝐴𝑐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𝑊𝑒𝑖𝑔h𝑡𝑒𝑑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𝐴𝑐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600" b="1" dirty="0"/>
                  <a:t> </a:t>
                </a:r>
                <a:r>
                  <a:rPr lang="en-US" sz="16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1600" b="1" dirty="0"/>
                  <a:t> </a:t>
                </a:r>
                <a:r>
                  <a:rPr lang="en-US" sz="1600" dirty="0"/>
                  <a:t>. 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b="1" dirty="0"/>
                  <a:t> </a:t>
                </a:r>
                <a:r>
                  <a:rPr lang="en-US" sz="1600" dirty="0"/>
                  <a:t>is the portion of samples with class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600" b="1" dirty="0"/>
                  <a:t>. </a:t>
                </a:r>
                <a:r>
                  <a:rPr lang="en-US" sz="1600" dirty="0"/>
                  <a:t>Weighted Acc tries to balance the accuracy based on the class size.</a:t>
                </a:r>
                <a:endParaRPr lang="en-US" sz="1600" b="1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D7BF3B9-DBD7-03C9-9540-63843FC060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63250" cy="3117850"/>
              </a:xfrm>
              <a:blipFill>
                <a:blip r:embed="rId2"/>
                <a:stretch>
                  <a:fillRect l="-510" t="-1758" b="-5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AEC8550-BD11-B383-CA33-0D97A633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sp>
        <p:nvSpPr>
          <p:cNvPr id="5" name="Θέση υποσέλιδου 3">
            <a:extLst>
              <a:ext uri="{FF2B5EF4-FFF2-40B4-BE49-F238E27FC236}">
                <a16:creationId xmlns:a16="http://schemas.microsoft.com/office/drawing/2014/main" id="{54B8CB0A-BAFF-AE9D-AD07-E6DE51A0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96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8E9D784-F4B8-F3BA-E2DD-FAFDF3EF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Precision-Recall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6D00086-D125-839A-2480-F2FF4FAA7A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7475"/>
                <a:ext cx="10515600" cy="3260725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sz="2000" b="1" dirty="0"/>
                  <a:t>Precision (</a:t>
                </a:r>
                <a:r>
                  <a:rPr lang="en-US" sz="2000" b="1" dirty="0" err="1"/>
                  <a:t>Prec</a:t>
                </a:r>
                <a:r>
                  <a:rPr lang="en-US" sz="2000" b="1" dirty="0"/>
                  <a:t>)</a:t>
                </a:r>
                <a:r>
                  <a:rPr lang="en-US" sz="2000" dirty="0"/>
                  <a:t> measures how many positive classes are predicted correctly as positives: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𝑟𝑒𝑐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 sz="2000" dirty="0"/>
                  <a:t>.</a:t>
                </a:r>
              </a:p>
              <a:p>
                <a:pPr algn="ctr"/>
                <a:r>
                  <a:rPr lang="en-US" sz="2000" b="1" dirty="0"/>
                  <a:t>Recall (Rec) </a:t>
                </a:r>
                <a:r>
                  <a:rPr lang="en-US" sz="2000" dirty="0"/>
                  <a:t>expresses how many positive classes the classifier tends to predict correct: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Precision aims to minimize false alarms and is best suited when false positives are costly (e.g., medical applications where the medical tests are expensive).</a:t>
                </a:r>
              </a:p>
              <a:p>
                <a:r>
                  <a:rPr lang="en-US" sz="2000" dirty="0"/>
                  <a:t>Recall aims to minimize false negatives in critical applicates, where false negatives are costly, even if some negatives are classified as positives (e.g., medical applications where detecting a disease is crucial).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6D00086-D125-839A-2480-F2FF4FAA7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7475"/>
                <a:ext cx="10515600" cy="3260725"/>
              </a:xfrm>
              <a:blipFill>
                <a:blip r:embed="rId2"/>
                <a:stretch>
                  <a:fillRect l="-522" t="-1869" b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BDCFF30-C9E7-58D5-22FF-263B2E8F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17FFA3C5-4E07-38EE-EA7A-16542C516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6" y="4519522"/>
            <a:ext cx="5077255" cy="1902006"/>
          </a:xfrm>
          <a:prstGeom prst="rect">
            <a:avLst/>
          </a:prstGeom>
        </p:spPr>
      </p:pic>
      <p:sp>
        <p:nvSpPr>
          <p:cNvPr id="7" name="Θέση υποσέλιδου 3">
            <a:extLst>
              <a:ext uri="{FF2B5EF4-FFF2-40B4-BE49-F238E27FC236}">
                <a16:creationId xmlns:a16="http://schemas.microsoft.com/office/drawing/2014/main" id="{3CD681A9-E2C8-C358-D7D0-29C7351F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04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EE4F-121A-1505-C64A-C6399481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A9D11B7-830A-0DA4-BD0A-689668E9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F1-Score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1C1B0A4D-8C6F-A89E-B8C0-530C525CE6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9850"/>
                <a:ext cx="10515600" cy="226060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expresses the harmonic average of precision and recall.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1=2∗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2000" dirty="0"/>
                  <a:t>More appropriate than accuracy score in imbalanced classification.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1C1B0A4D-8C6F-A89E-B8C0-530C525CE6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9850"/>
                <a:ext cx="10515600" cy="2260600"/>
              </a:xfrm>
              <a:blipFill>
                <a:blip r:embed="rId2"/>
                <a:stretch>
                  <a:fillRect l="-522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4B1065D-936C-CA41-AF91-4B517F35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  <p:sp>
        <p:nvSpPr>
          <p:cNvPr id="5" name="Θέση υποσέλιδου 3">
            <a:extLst>
              <a:ext uri="{FF2B5EF4-FFF2-40B4-BE49-F238E27FC236}">
                <a16:creationId xmlns:a16="http://schemas.microsoft.com/office/drawing/2014/main" id="{CD12CE92-CF37-E75B-8FBA-234BB3E3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11318747-A48C-979C-562D-99926EA8A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06" y="2900225"/>
            <a:ext cx="6182588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95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375FE08-ACB8-72D5-F2EB-0AE5692A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775"/>
            <a:ext cx="10515600" cy="1325563"/>
          </a:xfrm>
        </p:spPr>
        <p:txBody>
          <a:bodyPr/>
          <a:lstStyle/>
          <a:p>
            <a:r>
              <a:rPr lang="en-US" dirty="0"/>
              <a:t>Regression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2DF8D95-C61C-E69C-FE49-3F764056A5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2600"/>
                <a:ext cx="10515600" cy="442436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Mean Squared Error (MSE)</a:t>
                </a:r>
              </a:p>
              <a:p>
                <a:r>
                  <a:rPr lang="en-US" sz="2000" dirty="0"/>
                  <a:t>Root Mean Squared Error (RMSE)</a:t>
                </a:r>
              </a:p>
              <a:p>
                <a:r>
                  <a:rPr lang="en-US" sz="2000" dirty="0"/>
                  <a:t>Mean Absolute Error (MAE)</a:t>
                </a:r>
                <a:endParaRPr lang="el-GR" sz="2000" dirty="0"/>
              </a:p>
              <a:p>
                <a:r>
                  <a:rPr lang="en-US" sz="2000" dirty="0"/>
                  <a:t>Mean Absolute Percentage Error (MAPE)</a:t>
                </a:r>
              </a:p>
              <a:p>
                <a:r>
                  <a:rPr lang="en-US" sz="2000" dirty="0"/>
                  <a:t>Normalized Mean Absolute Error (NMAE)</a:t>
                </a:r>
                <a:endParaRPr lang="el-GR" sz="2000" dirty="0"/>
              </a:p>
              <a:p>
                <a:r>
                  <a:rPr lang="en-US" sz="2000" dirty="0"/>
                  <a:t>Quantile Error (Q)</a:t>
                </a:r>
              </a:p>
              <a:p>
                <a:r>
                  <a:rPr lang="en-US" sz="2000" dirty="0"/>
                  <a:t>R-Squared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2DF8D95-C61C-E69C-FE49-3F764056A5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2600"/>
                <a:ext cx="10515600" cy="4424363"/>
              </a:xfrm>
              <a:blipFill>
                <a:blip r:embed="rId2"/>
                <a:stretch>
                  <a:fillRect l="-522" t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C596D1A2-3AE3-64C9-CA75-74FF04F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8B16F3AE-E56A-9B82-3842-F944087A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77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1C6D-9FFD-743C-D765-F77AA2EF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B36E715-9D48-5D6A-AFD7-FEB00C954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r>
              <a:rPr lang="en-US" dirty="0"/>
              <a:t>Mean Squared Error (MSE)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8A11E16F-7E96-E776-2B06-2611E92B26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352550"/>
                <a:ext cx="7719496" cy="5280952"/>
              </a:xfrm>
            </p:spPr>
            <p:txBody>
              <a:bodyPr>
                <a:normAutofit/>
              </a:bodyPr>
              <a:lstStyle/>
              <a:p>
                <a:r>
                  <a:rPr lang="el-GR" sz="2000" dirty="0"/>
                  <a:t>Εκφράζει το μέσο τετραγωνικό σφάλμα της πρόβλεψης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l-GR" sz="2000" dirty="0"/>
                  <a:t> από το πραγματικό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:</a:t>
                </a:r>
                <a:endParaRPr lang="en-US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r>
                  <a:rPr lang="el-GR" sz="2000" dirty="0"/>
                  <a:t>Η διαφορά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</a:t>
                </a:r>
                <a:r>
                  <a:rPr lang="el-GR" sz="2000" dirty="0"/>
                  <a:t>εκφράζει την απόσταση του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000" dirty="0"/>
                  <a:t> </a:t>
                </a:r>
                <a:r>
                  <a:rPr lang="el-GR" sz="2000" dirty="0"/>
                  <a:t>από το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l-GR" sz="2000" dirty="0"/>
                  <a:t>.</a:t>
                </a:r>
              </a:p>
              <a:p>
                <a:r>
                  <a:rPr lang="el-GR" sz="2000" dirty="0"/>
                  <a:t>Καθώς η διαφορά μπορεί να ναι αρνητική, την τετραγωνίζουμε, ώστε να ναι θετική και να υπολογιστεί σωστά το μέσο σφάλμα.</a:t>
                </a:r>
              </a:p>
              <a:p>
                <a:r>
                  <a:rPr lang="el-GR" sz="2000" dirty="0"/>
                  <a:t>Καλή μετρική ως συνάρτηση σφάλματος για αλγορίθμους βελτιστοποίησης.</a:t>
                </a:r>
              </a:p>
              <a:p>
                <a:r>
                  <a:rPr lang="el-GR" sz="2000" dirty="0"/>
                  <a:t>Δίνει έμφαση στα μεγάλα σφάλματα: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l-GR" sz="2000" b="0" i="0" smtClean="0">
                                  <a:latin typeface="Cambria Math" panose="02040503050406030204" pitchFamily="18" charset="0"/>
                                </a:rPr>
                                <m:t>Μεγάλο</m:t>
                              </m:r>
                              <m:r>
                                <a:rPr lang="el-GR" sz="20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  <m:t>𝛼𝜈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≥1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000" b="0" i="0" smtClean="0">
                                  <a:latin typeface="Cambria Math" panose="02040503050406030204" pitchFamily="18" charset="0"/>
                                </a:rPr>
                                <m:t>Μικρό</m:t>
                              </m:r>
                              <m:r>
                                <a:rPr lang="el-GR" sz="20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l-GR" sz="2000" i="1">
                                  <a:latin typeface="Cambria Math" panose="02040503050406030204" pitchFamily="18" charset="0"/>
                                </a:rPr>
                                <m:t>𝛼𝜈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l-GR" sz="2000" dirty="0"/>
              </a:p>
              <a:p>
                <a:r>
                  <a:rPr lang="el-GR" sz="2000" b="1" dirty="0"/>
                  <a:t>Μειονέκτημα 1</a:t>
                </a:r>
                <a:r>
                  <a:rPr lang="el-GR" sz="2000" dirty="0"/>
                  <a:t>: Επηρεάζεται από </a:t>
                </a:r>
                <a:r>
                  <a:rPr lang="en-US" sz="2000" dirty="0"/>
                  <a:t>outliers (</a:t>
                </a:r>
                <a:r>
                  <a:rPr lang="el-GR" sz="2000" dirty="0"/>
                  <a:t>λόγο μεγάλων σφαλμάτων).</a:t>
                </a:r>
              </a:p>
              <a:p>
                <a:r>
                  <a:rPr lang="el-GR" sz="2000" b="1" dirty="0"/>
                  <a:t>Μειονέκτημα 2</a:t>
                </a:r>
                <a:r>
                  <a:rPr lang="el-GR" sz="2000" dirty="0"/>
                  <a:t>: Δεν έχει φυσική σημασία.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8A11E16F-7E96-E776-2B06-2611E92B26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352550"/>
                <a:ext cx="7719496" cy="5280952"/>
              </a:xfrm>
              <a:blipFill>
                <a:blip r:embed="rId2"/>
                <a:stretch>
                  <a:fillRect l="-710" t="-1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245FF12-F726-2C7F-F0CA-91E3856E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7" name="Ομάδα 6">
            <a:extLst>
              <a:ext uri="{FF2B5EF4-FFF2-40B4-BE49-F238E27FC236}">
                <a16:creationId xmlns:a16="http://schemas.microsoft.com/office/drawing/2014/main" id="{C6D020BF-EACE-41ED-FE45-D4C06690268E}"/>
              </a:ext>
            </a:extLst>
          </p:cNvPr>
          <p:cNvGrpSpPr/>
          <p:nvPr/>
        </p:nvGrpSpPr>
        <p:grpSpPr>
          <a:xfrm>
            <a:off x="8153400" y="1999605"/>
            <a:ext cx="3933760" cy="3118589"/>
            <a:chOff x="8107899" y="1943099"/>
            <a:chExt cx="3933760" cy="3118589"/>
          </a:xfrm>
        </p:grpSpPr>
        <p:pic>
          <p:nvPicPr>
            <p:cNvPr id="8" name="Εικόνα 7">
              <a:extLst>
                <a:ext uri="{FF2B5EF4-FFF2-40B4-BE49-F238E27FC236}">
                  <a16:creationId xmlns:a16="http://schemas.microsoft.com/office/drawing/2014/main" id="{79BCA998-B502-C6CD-C79A-F730028BB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7899" y="1943099"/>
              <a:ext cx="3933760" cy="311858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C9DF095-F976-7498-B89A-5CC7784635CD}"/>
                    </a:ext>
                  </a:extLst>
                </p:cNvPr>
                <p:cNvSpPr txBox="1"/>
                <p:nvPr/>
              </p:nvSpPr>
              <p:spPr>
                <a:xfrm>
                  <a:off x="10007242" y="2832493"/>
                  <a:ext cx="14936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C9DF095-F976-7498-B89A-5CC7784635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7242" y="2832493"/>
                  <a:ext cx="1493679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6557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Θέση υποσέλιδου 3">
            <a:extLst>
              <a:ext uri="{FF2B5EF4-FFF2-40B4-BE49-F238E27FC236}">
                <a16:creationId xmlns:a16="http://schemas.microsoft.com/office/drawing/2014/main" id="{7BED9C01-CB27-4E24-4DF8-F28305E0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63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3C12D50-5EFB-87A0-F787-9C2682266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Root Mean Squared Error (RMSE)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21D28E86-A233-9955-DF68-84AC64E60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515600" cy="251491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𝑀𝑆𝐸</m:t>
                        </m:r>
                      </m:e>
                    </m:ra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rad>
                  </m:oMath>
                </a14:m>
                <a:endParaRPr lang="en-US" sz="2000" dirty="0"/>
              </a:p>
              <a:p>
                <a:r>
                  <a:rPr lang="el-GR" sz="2000" dirty="0"/>
                  <a:t>Εκφράζει το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𝑀𝑆𝐸</m:t>
                    </m:r>
                  </m:oMath>
                </a14:m>
                <a:r>
                  <a:rPr lang="en-US" sz="2000" dirty="0"/>
                  <a:t> </a:t>
                </a:r>
                <a:r>
                  <a:rPr lang="el-GR" sz="2000" dirty="0"/>
                  <a:t>στην κλίμακα των αρχικών δεδομένων.</a:t>
                </a:r>
              </a:p>
              <a:p>
                <a:r>
                  <a:rPr lang="el-GR" sz="2000" dirty="0"/>
                  <a:t>Είναι πιο επεξηγήσιμο από το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𝑀𝑆𝐸</m:t>
                    </m:r>
                  </m:oMath>
                </a14:m>
                <a:r>
                  <a:rPr lang="el-GR" sz="2000" dirty="0"/>
                  <a:t> και μπορεί να χρησιμοποιηθεί ως μετρική.</a:t>
                </a:r>
              </a:p>
              <a:p>
                <a:r>
                  <a:rPr lang="el-GR" sz="2000" dirty="0"/>
                  <a:t>Είναι παρόμοιο</a:t>
                </a:r>
                <a:r>
                  <a:rPr lang="en-US" sz="2000" dirty="0"/>
                  <a:t> </a:t>
                </a:r>
                <a:r>
                  <a:rPr lang="en-US" sz="2000" b="1" dirty="0"/>
                  <a:t>(</a:t>
                </a:r>
                <a:r>
                  <a:rPr lang="el-GR" sz="2000" b="1" dirty="0"/>
                  <a:t>όχι ίδιο) </a:t>
                </a:r>
                <a:r>
                  <a:rPr lang="el-GR" sz="2000" dirty="0"/>
                  <a:t>με την τυπική απόκλιση: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2000" dirty="0"/>
                  <a:t>, </a:t>
                </a:r>
                <a:r>
                  <a:rPr lang="el-GR" sz="2000" dirty="0"/>
                  <a:t>όπου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000" dirty="0"/>
                  <a:t> </a:t>
                </a:r>
                <a:r>
                  <a:rPr lang="el-GR" sz="2000" dirty="0"/>
                  <a:t>η μέση τιμή του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21D28E86-A233-9955-DF68-84AC64E60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515600" cy="2514917"/>
              </a:xfrm>
              <a:blipFill>
                <a:blip r:embed="rId2"/>
                <a:stretch>
                  <a:fillRect l="-522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FE3801E0-484E-50F8-46EF-C819F91B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/>
              <a:t>Βασίλειος Κοχλιαρίδης</a:t>
            </a:r>
            <a:endParaRPr lang="en-US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FD8819CD-FDC2-168E-C443-B802747A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18</a:t>
            </a:fld>
            <a:endParaRPr lang="en-US"/>
          </a:p>
        </p:txBody>
      </p:sp>
      <p:grpSp>
        <p:nvGrpSpPr>
          <p:cNvPr id="8" name="Ομάδα 7">
            <a:extLst>
              <a:ext uri="{FF2B5EF4-FFF2-40B4-BE49-F238E27FC236}">
                <a16:creationId xmlns:a16="http://schemas.microsoft.com/office/drawing/2014/main" id="{7CDF0E0A-DD57-2077-D26A-FDA00A8D3D74}"/>
              </a:ext>
            </a:extLst>
          </p:cNvPr>
          <p:cNvGrpSpPr/>
          <p:nvPr/>
        </p:nvGrpSpPr>
        <p:grpSpPr>
          <a:xfrm>
            <a:off x="3905250" y="3767032"/>
            <a:ext cx="5067285" cy="2675043"/>
            <a:chOff x="4038600" y="3681307"/>
            <a:chExt cx="5067285" cy="2675043"/>
          </a:xfrm>
        </p:grpSpPr>
        <p:pic>
          <p:nvPicPr>
            <p:cNvPr id="11266" name="Picture 2" descr="How to interpret root mean squared error (RMSE) vs standard deviation? -  Cross Validated">
              <a:extLst>
                <a:ext uri="{FF2B5EF4-FFF2-40B4-BE49-F238E27FC236}">
                  <a16:creationId xmlns:a16="http://schemas.microsoft.com/office/drawing/2014/main" id="{B4084A41-40E3-DFFB-C415-DD475062FA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8600" y="3681307"/>
              <a:ext cx="3757612" cy="2675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7506DD-5470-8D1F-8B9A-8D2ADA623B32}"/>
                </a:ext>
              </a:extLst>
            </p:cNvPr>
            <p:cNvSpPr txBox="1"/>
            <p:nvPr/>
          </p:nvSpPr>
          <p:spPr>
            <a:xfrm>
              <a:off x="7466975" y="4720471"/>
              <a:ext cx="16389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VAR (Variance)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4D8C0C-4313-6AF1-E24E-0173B44F2845}"/>
                </a:ext>
              </a:extLst>
            </p:cNvPr>
            <p:cNvSpPr txBox="1"/>
            <p:nvPr/>
          </p:nvSpPr>
          <p:spPr>
            <a:xfrm>
              <a:off x="7466974" y="4170680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MSE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9571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DAB82-8759-6A51-23D6-53433EBD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Ομάδα 6">
            <a:extLst>
              <a:ext uri="{FF2B5EF4-FFF2-40B4-BE49-F238E27FC236}">
                <a16:creationId xmlns:a16="http://schemas.microsoft.com/office/drawing/2014/main" id="{7B1DFF42-824E-965F-1B6A-EC79EB8FFB0B}"/>
              </a:ext>
            </a:extLst>
          </p:cNvPr>
          <p:cNvGrpSpPr/>
          <p:nvPr/>
        </p:nvGrpSpPr>
        <p:grpSpPr>
          <a:xfrm>
            <a:off x="8153400" y="1999605"/>
            <a:ext cx="3933760" cy="3118589"/>
            <a:chOff x="8107899" y="1943099"/>
            <a:chExt cx="3933760" cy="3118589"/>
          </a:xfrm>
        </p:grpSpPr>
        <p:pic>
          <p:nvPicPr>
            <p:cNvPr id="8" name="Εικόνα 7">
              <a:extLst>
                <a:ext uri="{FF2B5EF4-FFF2-40B4-BE49-F238E27FC236}">
                  <a16:creationId xmlns:a16="http://schemas.microsoft.com/office/drawing/2014/main" id="{4C56B365-C29B-8D48-DAA9-DAC94905A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07899" y="1943099"/>
              <a:ext cx="3933760" cy="3118589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BF54971-AA0E-3FD9-69ED-8C4CA9215B59}"/>
                    </a:ext>
                  </a:extLst>
                </p:cNvPr>
                <p:cNvSpPr txBox="1"/>
                <p:nvPr/>
              </p:nvSpPr>
              <p:spPr>
                <a:xfrm>
                  <a:off x="10007242" y="2832493"/>
                  <a:ext cx="134222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=|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BF54971-AA0E-3FD9-69ED-8C4CA9215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7242" y="2832493"/>
                  <a:ext cx="1342227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6557"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Τίτλος 1">
            <a:extLst>
              <a:ext uri="{FF2B5EF4-FFF2-40B4-BE49-F238E27FC236}">
                <a16:creationId xmlns:a16="http://schemas.microsoft.com/office/drawing/2014/main" id="{882F7BD1-B70D-FF9F-9CA9-4DC9A0AA6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r>
              <a:rPr lang="en-US" dirty="0"/>
              <a:t>Mean Absolute Error (MAE)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150EDD5C-C4F9-784C-4850-18727B0D6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352550"/>
                <a:ext cx="7719496" cy="5280952"/>
              </a:xfrm>
            </p:spPr>
            <p:txBody>
              <a:bodyPr>
                <a:normAutofit/>
              </a:bodyPr>
              <a:lstStyle/>
              <a:p>
                <a:r>
                  <a:rPr lang="el-GR" sz="2000" dirty="0"/>
                  <a:t>Εκφράζει το μέσο απόλυτο σφάλμα της πρόβλεψης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l-GR" sz="2000" dirty="0"/>
                  <a:t> από το πραγματικό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:</a:t>
                </a:r>
                <a:endParaRPr lang="en-US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r>
                  <a:rPr lang="el-GR" sz="2000" dirty="0"/>
                  <a:t>Η απόλυτη τιμή εξασφαλίζει πως η διαφορά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l-GR" sz="2000" dirty="0"/>
                  <a:t> είναι πάντα θετική.</a:t>
                </a:r>
              </a:p>
              <a:p>
                <a:r>
                  <a:rPr lang="el-GR" sz="2000" dirty="0"/>
                  <a:t>Καλή μετρική ως συνάρτηση σφάλματος για αλγορίθμους βελτιστοποίησης και ως ερμηνεία του σφάλματος.</a:t>
                </a:r>
              </a:p>
              <a:p>
                <a:r>
                  <a:rPr lang="el-GR" sz="2000" dirty="0"/>
                  <a:t>Δεν επηρεάζεται εύκολα από ακραίες τιμές (</a:t>
                </a:r>
                <a:r>
                  <a:rPr lang="en-US" sz="2000" dirty="0"/>
                  <a:t>outliers), </a:t>
                </a:r>
                <a:r>
                  <a:rPr lang="el-GR" sz="2000" dirty="0"/>
                  <a:t>καθώς το σφάλμα δε διπλασιάζεται όταν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l-GR" sz="2000" dirty="0"/>
                  <a:t>.</a:t>
                </a:r>
              </a:p>
              <a:p>
                <a:r>
                  <a:rPr lang="el-GR" sz="2000" b="1" dirty="0"/>
                  <a:t>Μειονέκτημα</a:t>
                </a:r>
                <a:r>
                  <a:rPr lang="el-GR" sz="2000" dirty="0"/>
                  <a:t>: Συγκλίνει πιο αργά από την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𝑀𝑆𝐸</m:t>
                    </m:r>
                  </m:oMath>
                </a14:m>
                <a:r>
                  <a:rPr lang="en-US" dirty="0"/>
                  <a:t> </a:t>
                </a:r>
                <a:r>
                  <a:rPr lang="el-GR" sz="2000" dirty="0"/>
                  <a:t>αν δεν υπάρχουν </a:t>
                </a:r>
                <a:r>
                  <a:rPr lang="en-US" sz="2000" dirty="0"/>
                  <a:t>outliers.</a:t>
                </a:r>
                <a:endParaRPr lang="en-US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150EDD5C-C4F9-784C-4850-18727B0D6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352550"/>
                <a:ext cx="7719496" cy="5280952"/>
              </a:xfrm>
              <a:blipFill>
                <a:blip r:embed="rId4"/>
                <a:stretch>
                  <a:fillRect l="-710" t="-1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5835CE0-8BF3-D010-815B-576E19C3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Θέση υποσέλιδου 3">
            <a:extLst>
              <a:ext uri="{FF2B5EF4-FFF2-40B4-BE49-F238E27FC236}">
                <a16:creationId xmlns:a16="http://schemas.microsoft.com/office/drawing/2014/main" id="{24C939ED-4C03-630B-5298-4AF3C8D92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3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B701E5BF-7925-D324-9967-9D28E72FB94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36525"/>
                <a:ext cx="10515600" cy="1325563"/>
              </a:xfrm>
            </p:spPr>
            <p:txBody>
              <a:bodyPr/>
              <a:lstStyle/>
              <a:p>
                <a:r>
                  <a:rPr lang="el-GR" dirty="0"/>
                  <a:t>Παραλλαγές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𝑀𝐴𝐸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B701E5BF-7925-D324-9967-9D28E72FB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36525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060E797-2817-53EA-9BD1-83E467BAE9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10515600" cy="4714875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Mean Absolute Percentage Error (MAPE):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dirty="0"/>
                  <a:t>Κανονικοποιημένη μετρική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𝑀𝐴𝐸</m:t>
                    </m:r>
                  </m:oMath>
                </a14:m>
                <a:r>
                  <a:rPr lang="en-US" sz="1600" dirty="0"/>
                  <a:t>.</a:t>
                </a:r>
                <a:r>
                  <a:rPr lang="el-GR" sz="1600" dirty="0"/>
                  <a:t> Χρησιμεύει μόνο ως μετρική.</a:t>
                </a:r>
                <a:endParaRPr lang="en-US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dirty="0"/>
                  <a:t>Εκφράζει το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>
                        <a:latin typeface="Cambria Math" panose="02040503050406030204" pitchFamily="18" charset="0"/>
                      </a:rPr>
                      <m:t>ΜΑΕ</m:t>
                    </m:r>
                  </m:oMath>
                </a14:m>
                <a:r>
                  <a:rPr lang="en-US" sz="1600" dirty="0"/>
                  <a:t> </a:t>
                </a:r>
                <a:r>
                  <a:rPr lang="el-GR" sz="1600" dirty="0"/>
                  <a:t>σε ποσοστό σφάλματος</a:t>
                </a:r>
                <a:r>
                  <a:rPr lang="en-US" sz="1600" dirty="0"/>
                  <a:t> (</a:t>
                </a:r>
                <a:r>
                  <a:rPr lang="el-GR" sz="1600" dirty="0"/>
                  <a:t>Σφάλμα/Πραγματική Τιμή</a:t>
                </a:r>
                <a:r>
                  <a:rPr lang="en-US" sz="1600" dirty="0"/>
                  <a:t>).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dirty="0"/>
                  <a:t>Χρήσιμο για σύγκριση απόδοσης αλγορίθμου μεταξύ διαφορετικών </a:t>
                </a:r>
                <a:r>
                  <a:rPr lang="en-US" sz="1600" dirty="0"/>
                  <a:t>dataset</a:t>
                </a:r>
                <a:r>
                  <a:rPr lang="el-GR" sz="1600" dirty="0"/>
                  <a:t>, όπου τα </a:t>
                </a:r>
                <a:r>
                  <a:rPr lang="en-US" sz="1600" dirty="0"/>
                  <a:t>targets </a:t>
                </a:r>
                <a:r>
                  <a:rPr lang="el-GR" sz="1600" dirty="0"/>
                  <a:t>έχουν διαφορετική κλίμακα (πχ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10, 20</m:t>
                        </m:r>
                      </m:e>
                    </m:d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20</m:t>
                        </m:r>
                        <m:r>
                          <a:rPr 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l-GR" sz="1600" dirty="0"/>
                  <a:t> όπου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el-GR" sz="1600" dirty="0"/>
                  <a:t>διαφορετικά </a:t>
                </a:r>
                <a:r>
                  <a:rPr lang="en-US" sz="1600" dirty="0"/>
                  <a:t>datasets).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𝑀𝐴𝑃𝐸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=100</m:t>
                    </m:r>
                    <m:nary>
                      <m:naryPr>
                        <m:chr m:val="∑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nary>
                  </m:oMath>
                </a14:m>
                <a:endParaRPr lang="el-G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b="1" dirty="0"/>
                  <a:t>Μειονέκτημα</a:t>
                </a:r>
                <a:r>
                  <a:rPr lang="el-GR" sz="1600" dirty="0"/>
                  <a:t>: Όταν το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 </a:t>
                </a:r>
                <a:r>
                  <a:rPr lang="el-GR" sz="1600" dirty="0"/>
                  <a:t>είναι πολύ μικρό, μπορεί να είναι πολύ μεγάλο.</a:t>
                </a:r>
                <a:endParaRPr lang="el-GR" sz="2000" b="1" dirty="0"/>
              </a:p>
              <a:p>
                <a:r>
                  <a:rPr lang="en-US" sz="2000" b="1" dirty="0"/>
                  <a:t>Normalized Mean Absolute Error (NMAE):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𝑁𝑀</m:t>
                    </m:r>
                    <m:r>
                      <m:rPr>
                        <m:sty m:val="p"/>
                      </m:rPr>
                      <a:rPr lang="el-GR" sz="20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nary>
                      </m:den>
                    </m:f>
                  </m:oMath>
                </a14:m>
                <a:endParaRPr lang="en-US" sz="2000" b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dirty="0"/>
                  <a:t>Εναλλακτική της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𝑀𝐴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1600" dirty="0"/>
                  <a:t>.</a:t>
                </a:r>
                <a:endParaRPr lang="el-G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dirty="0"/>
                  <a:t>Κανονικοποίηση του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𝑀𝐴𝐸</m:t>
                    </m:r>
                  </m:oMath>
                </a14:m>
                <a:r>
                  <a:rPr lang="en-US" sz="1600" b="1" dirty="0"/>
                  <a:t> </a:t>
                </a:r>
                <a:r>
                  <a:rPr lang="el-GR" sz="1600" dirty="0"/>
                  <a:t>με βάση το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0060E797-2817-53EA-9BD1-83E467BAE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10515600" cy="4714875"/>
              </a:xfrm>
              <a:blipFill>
                <a:blip r:embed="rId3"/>
                <a:stretch>
                  <a:fillRect l="-522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4FC62EA-B135-CD08-5EF5-65474CF5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C6EC5825-141A-FE1D-CBB2-479455CD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37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A0D286C8-C8A2-1884-DD30-40489A4155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276114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Metric</a:t>
                </a:r>
              </a:p>
            </p:txBody>
          </p:sp>
        </mc:Choice>
        <mc:Fallback>
          <p:sp>
            <p:nvSpPr>
              <p:cNvPr id="2" name="Τίτλος 1">
                <a:extLst>
                  <a:ext uri="{FF2B5EF4-FFF2-40B4-BE49-F238E27FC236}">
                    <a16:creationId xmlns:a16="http://schemas.microsoft.com/office/drawing/2014/main" id="{A0D286C8-C8A2-1884-DD30-40489A415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276114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F4FB907A-9CB2-8AC6-36DD-C8FAB4FB3D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849326"/>
                <a:ext cx="7527490" cy="4689586"/>
              </a:xfrm>
            </p:spPr>
            <p:txBody>
              <a:bodyPr>
                <a:normAutofit/>
              </a:bodyPr>
              <a:lstStyle/>
              <a:p>
                <a:r>
                  <a:rPr lang="el-GR" sz="1800" dirty="0"/>
                  <a:t>Μετράει πόσο καλά προβλέπεται η διακύμανση (πλάτος) και η τάση (πάνω-κάτω) της πραγματικής τιμής από το μοντέλο.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𝑟𝑒𝑠</m:t>
                            </m:r>
                          </m:sub>
                        </m:sSub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r>
                  <a:rPr lang="el-GR" sz="1800" dirty="0"/>
                  <a:t> ή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𝑆𝑆𝑅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l-GR" sz="1800" dirty="0"/>
                  <a:t> το άθροισμα του τετραγωνικού σφάλματος.</a:t>
                </a:r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l-GR" sz="1800" dirty="0"/>
                  <a:t> ή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𝑆𝑆𝑇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800" dirty="0"/>
                  <a:t> </a:t>
                </a:r>
                <a:r>
                  <a:rPr lang="el-GR" sz="1800" dirty="0"/>
                  <a:t>η διακύμανση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l-GR" sz="1800" dirty="0"/>
                  <a:t> </a:t>
                </a:r>
                <a:endParaRPr lang="en-US" sz="1800" dirty="0"/>
              </a:p>
              <a:p>
                <a:r>
                  <a:rPr lang="el-GR" sz="1800" dirty="0"/>
                  <a:t>Υπάρχει ο όρος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 </a:t>
                </a:r>
                <a:r>
                  <a:rPr lang="el-GR" sz="1800" dirty="0"/>
                  <a:t>στον παρονομαστή των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𝑆𝑆𝑅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𝑆𝑆𝑇</m:t>
                    </m:r>
                  </m:oMath>
                </a14:m>
                <a:r>
                  <a:rPr lang="el-GR" sz="1800" dirty="0"/>
                  <a:t>, που απαλείφεται</a:t>
                </a:r>
                <a:r>
                  <a:rPr lang="en-US" sz="1800" dirty="0"/>
                  <a:t>. </a:t>
                </a:r>
                <a:r>
                  <a:rPr lang="el-GR" sz="1800" dirty="0"/>
                  <a:t>Άρα πιο αναλυτικά, 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</a:t>
                </a:r>
                <a:r>
                  <a:rPr lang="el-GR" sz="1800" dirty="0"/>
                  <a:t>υπολογίζει το Μέσο Τετραγωνικό σφάλμα προς τη διακύμανση του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r>
                  <a:rPr lang="el-GR" sz="1800" dirty="0"/>
                  <a:t>Όταν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/>
                  <a:t> </a:t>
                </a:r>
                <a:r>
                  <a:rPr lang="el-GR" sz="1800" dirty="0"/>
                  <a:t>έχουμε τέλεια προσαρμογή, ενώ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800" dirty="0"/>
                  <a:t> </a:t>
                </a:r>
                <a:r>
                  <a:rPr lang="el-GR" sz="1800" dirty="0"/>
                  <a:t>είναι κακή προσαρμογή.</a:t>
                </a:r>
                <a:endParaRPr lang="en-US" sz="1800" dirty="0"/>
              </a:p>
              <a:p>
                <a:r>
                  <a:rPr lang="el-GR" sz="1800" b="1" dirty="0"/>
                  <a:t>Μειονέκτημα</a:t>
                </a:r>
                <a:r>
                  <a:rPr lang="el-GR" sz="1800" dirty="0"/>
                  <a:t>: Προορίζεται κυρίως για γραμμικά μοντέλα. Όχι τόσο αξιόπιστο για μη-γραμμικά μοντέλα.</a:t>
                </a:r>
                <a:endParaRPr lang="en-US" sz="18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F4FB907A-9CB2-8AC6-36DD-C8FAB4FB3D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849326"/>
                <a:ext cx="7527490" cy="4689586"/>
              </a:xfrm>
              <a:blipFill>
                <a:blip r:embed="rId3"/>
                <a:stretch>
                  <a:fillRect l="-486" t="-1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DDE7C6D-0C6B-2264-EA2E-D3F4F71C2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312EBF1F-4945-4A2B-B4C9-05CEA3C07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095" y="2012840"/>
            <a:ext cx="3635705" cy="26692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42A013-0419-0576-49E2-DD21702979B0}"/>
                  </a:ext>
                </a:extLst>
              </p:cNvPr>
              <p:cNvSpPr txBox="1"/>
              <p:nvPr/>
            </p:nvSpPr>
            <p:spPr>
              <a:xfrm>
                <a:off x="8811884" y="4788753"/>
                <a:ext cx="270612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1600" dirty="0"/>
                  <a:t>Υψηλό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, </a:t>
                </a:r>
                <a:r>
                  <a:rPr lang="el-GR" sz="1600" dirty="0"/>
                  <a:t>καθώς το μοντέλο</a:t>
                </a:r>
              </a:p>
              <a:p>
                <a:r>
                  <a:rPr lang="el-GR" sz="1600" dirty="0"/>
                  <a:t>προσαρμόζεται καλά στις </a:t>
                </a:r>
              </a:p>
              <a:p>
                <a:r>
                  <a:rPr lang="el-GR" sz="1600" dirty="0"/>
                  <a:t>διακυμάνσεις του </a:t>
                </a:r>
                <a:r>
                  <a:rPr lang="en-US" sz="1600" dirty="0"/>
                  <a:t>target.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42A013-0419-0576-49E2-DD2170297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884" y="4788753"/>
                <a:ext cx="2706125" cy="830997"/>
              </a:xfrm>
              <a:prstGeom prst="rect">
                <a:avLst/>
              </a:prstGeom>
              <a:blipFill>
                <a:blip r:embed="rId5"/>
                <a:stretch>
                  <a:fillRect l="-1354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Θέση υποσέλιδου 3">
            <a:extLst>
              <a:ext uri="{FF2B5EF4-FFF2-40B4-BE49-F238E27FC236}">
                <a16:creationId xmlns:a16="http://schemas.microsoft.com/office/drawing/2014/main" id="{189904FA-546B-BEAC-0E02-3EE9C317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55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888807D-908C-C17E-5319-F8ACFCABC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315200" cy="1325563"/>
          </a:xfrm>
        </p:spPr>
        <p:txBody>
          <a:bodyPr/>
          <a:lstStyle/>
          <a:p>
            <a:r>
              <a:rPr lang="en-US" dirty="0"/>
              <a:t>Quantile</a:t>
            </a:r>
            <a:r>
              <a:rPr lang="el-GR" dirty="0"/>
              <a:t> </a:t>
            </a:r>
            <a:r>
              <a:rPr lang="en-US" dirty="0"/>
              <a:t>Loss (Pinball Loss)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2696EE0-4CFA-0948-EE41-83DC768B3C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2088"/>
                <a:ext cx="7067550" cy="496728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In some applications, it is crucial to model the uncertainty (risk) of the predictions.</a:t>
                </a:r>
              </a:p>
              <a:p>
                <a:r>
                  <a:rPr lang="en-US" sz="2000" dirty="0"/>
                  <a:t>For instance, when analyzing stocks: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It is impossible to accurately predict the next timestep’s price.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It is possible to bound the prediction error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/>
                  <a:t> reduce uncertainty.</a:t>
                </a:r>
              </a:p>
              <a:p>
                <a:r>
                  <a:rPr lang="en-US" sz="2000" dirty="0"/>
                  <a:t>This application is called “</a:t>
                </a:r>
                <a:r>
                  <a:rPr lang="en-US" sz="2000" i="1" dirty="0"/>
                  <a:t>Quantile Regression</a:t>
                </a:r>
                <a:r>
                  <a:rPr lang="en-US" sz="2000" dirty="0"/>
                  <a:t>”. It uses Quantile Loss.</a:t>
                </a:r>
              </a:p>
              <a:p>
                <a:r>
                  <a:rPr lang="en-US" sz="2000" dirty="0"/>
                  <a:t>Quantile Loss: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2000" dirty="0"/>
                                <m:t> 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l-GR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l-G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(0.0, 1.0)</m:t>
                    </m:r>
                  </m:oMath>
                </a14:m>
                <a:r>
                  <a:rPr lang="el-GR" sz="1600" dirty="0"/>
                  <a:t>.</a:t>
                </a:r>
              </a:p>
              <a:p>
                <a:r>
                  <a:rPr lang="en-US" sz="2000" dirty="0"/>
                  <a:t>When Quantile Loss is used as loss function, it penalizes more the overestimations/underestimations depending on the value of </a:t>
                </a:r>
                <a14:m>
                  <m:oMath xmlns:m="http://schemas.openxmlformats.org/officeDocument/2006/math">
                    <m:r>
                      <a:rPr lang="el-GR" sz="20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l-GR" sz="1800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&lt;0.5→</m:t>
                    </m:r>
                  </m:oMath>
                </a14:m>
                <a:r>
                  <a:rPr lang="en-US" sz="1600" dirty="0"/>
                  <a:t> The overestimated values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are penalized more heavily, and model tends to underpredict.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0.5→</m:t>
                    </m:r>
                  </m:oMath>
                </a14:m>
                <a:r>
                  <a:rPr lang="en-US" sz="1600" dirty="0"/>
                  <a:t> The underestimated values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are penalized more heavily, and model tends to overpredict.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=0.5→</m:t>
                    </m:r>
                  </m:oMath>
                </a14:m>
                <a:r>
                  <a:rPr lang="en-US" sz="1600" dirty="0"/>
                  <a:t> The model tends to predict the median of the target.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2696EE0-4CFA-0948-EE41-83DC768B3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2088"/>
                <a:ext cx="7067550" cy="4967287"/>
              </a:xfrm>
              <a:blipFill>
                <a:blip r:embed="rId2"/>
                <a:stretch>
                  <a:fillRect l="-777" t="-1718" b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43151216-B7A1-B7A1-9F0A-2DB6BB4C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72649362-2041-1249-DE99-2E1B06F2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22</a:t>
            </a:fld>
            <a:endParaRPr lang="en-US"/>
          </a:p>
        </p:txBody>
      </p:sp>
      <p:grpSp>
        <p:nvGrpSpPr>
          <p:cNvPr id="9" name="Ομάδα 8">
            <a:extLst>
              <a:ext uri="{FF2B5EF4-FFF2-40B4-BE49-F238E27FC236}">
                <a16:creationId xmlns:a16="http://schemas.microsoft.com/office/drawing/2014/main" id="{AD0CBB68-5493-F7CD-C501-20AC59B059BD}"/>
              </a:ext>
            </a:extLst>
          </p:cNvPr>
          <p:cNvGrpSpPr/>
          <p:nvPr/>
        </p:nvGrpSpPr>
        <p:grpSpPr>
          <a:xfrm>
            <a:off x="8285533" y="3537415"/>
            <a:ext cx="3752514" cy="2891960"/>
            <a:chOff x="7531894" y="1924055"/>
            <a:chExt cx="4996252" cy="3850475"/>
          </a:xfrm>
        </p:grpSpPr>
        <p:pic>
          <p:nvPicPr>
            <p:cNvPr id="17410" name="Picture 2" descr="Quantile Regression - an overview | ScienceDirect Topics">
              <a:extLst>
                <a:ext uri="{FF2B5EF4-FFF2-40B4-BE49-F238E27FC236}">
                  <a16:creationId xmlns:a16="http://schemas.microsoft.com/office/drawing/2014/main" id="{8BB8BB7A-6C43-EF0F-FCF7-64D2D0173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31894" y="1924055"/>
              <a:ext cx="4195762" cy="3850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8B6403E-6D9F-2CEB-2A2A-3A5811E49065}"/>
                    </a:ext>
                  </a:extLst>
                </p:cNvPr>
                <p:cNvSpPr txBox="1"/>
                <p:nvPr/>
              </p:nvSpPr>
              <p:spPr>
                <a:xfrm>
                  <a:off x="11697019" y="3637865"/>
                  <a:ext cx="7317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(0.5)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8B6403E-6D9F-2CEB-2A2A-3A5811E49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7019" y="3637865"/>
                  <a:ext cx="731739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23077" b="-4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531D22D-75F7-9503-6F9A-E9F460E2E442}"/>
                    </a:ext>
                  </a:extLst>
                </p:cNvPr>
                <p:cNvSpPr txBox="1"/>
                <p:nvPr/>
              </p:nvSpPr>
              <p:spPr>
                <a:xfrm>
                  <a:off x="11697020" y="3379896"/>
                  <a:ext cx="83112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(0.75)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531D22D-75F7-9503-6F9A-E9F460E2E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7020" y="3379896"/>
                  <a:ext cx="831126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24272" b="-4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7B87351-5834-B875-47ED-1FA577F7DE88}"/>
                    </a:ext>
                  </a:extLst>
                </p:cNvPr>
                <p:cNvSpPr txBox="1"/>
                <p:nvPr/>
              </p:nvSpPr>
              <p:spPr>
                <a:xfrm>
                  <a:off x="11697020" y="3895834"/>
                  <a:ext cx="83112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(0.25)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7B87351-5834-B875-47ED-1FA577F7DE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7020" y="3895834"/>
                  <a:ext cx="831126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4272" b="-42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B6F4DE9C-B2DA-664D-8C2D-92200777B3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294999"/>
            <a:ext cx="3352800" cy="320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75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485412D-A338-39BF-4180-89835DB0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Loss vs Metric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0AF46B8-25BC-C709-7971-276D933D1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088"/>
            <a:ext cx="7105650" cy="4718050"/>
          </a:xfrm>
        </p:spPr>
        <p:txBody>
          <a:bodyPr>
            <a:normAutofit/>
          </a:bodyPr>
          <a:lstStyle/>
          <a:p>
            <a:r>
              <a:rPr lang="en-US" sz="2000" b="1" dirty="0"/>
              <a:t>Loss</a:t>
            </a:r>
            <a:r>
              <a:rPr lang="en-US" sz="2000" dirty="0"/>
              <a:t>: </a:t>
            </a:r>
            <a:r>
              <a:rPr lang="el-GR" sz="2000" dirty="0"/>
              <a:t>Συνάρτηση απώλειας/σφάλματος που χρησιμοποιείται ως ποσότητα βελτιστοποίησης σε έναν αλγόριθμο (πχ </a:t>
            </a:r>
            <a:r>
              <a:rPr lang="en-US" sz="2000" dirty="0"/>
              <a:t>Linear Regression).</a:t>
            </a:r>
          </a:p>
          <a:p>
            <a:r>
              <a:rPr lang="en-US" sz="2000" b="1" dirty="0"/>
              <a:t>Metric</a:t>
            </a:r>
            <a:r>
              <a:rPr lang="en-US" sz="2000" dirty="0"/>
              <a:t>: </a:t>
            </a:r>
            <a:r>
              <a:rPr lang="el-GR" sz="2000" dirty="0"/>
              <a:t>Συνάρτηση που χρησιμοποιείται για να μετρήσει την απόδοση ενός αλγορίθμου.</a:t>
            </a:r>
          </a:p>
          <a:p>
            <a:r>
              <a:rPr lang="el-GR" sz="2000" dirty="0"/>
              <a:t>Κάθε συνάρτηση σφάλματος μπορεί να γίνει μετρική, αλλά όχι το αντίστροφο (πχ η </a:t>
            </a:r>
            <a:r>
              <a:rPr lang="en-US" sz="2000" dirty="0"/>
              <a:t>Mean Accuracy </a:t>
            </a:r>
            <a:r>
              <a:rPr lang="el-GR" sz="2000" dirty="0"/>
              <a:t>δεν μπορεί να γίνει συνάρτηση σφάλματος).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600" dirty="0"/>
              <a:t>Συνήθως, οι αλγόριθμοι προσπαθούν να ελαχιστοποιήσουν το σφάλμα</a:t>
            </a:r>
            <a:r>
              <a:rPr lang="en-US" sz="1600" dirty="0"/>
              <a:t> (</a:t>
            </a:r>
            <a:r>
              <a:rPr lang="el-GR" sz="1600" dirty="0"/>
              <a:t>πχ </a:t>
            </a:r>
            <a:r>
              <a:rPr lang="en-US" sz="1600" dirty="0"/>
              <a:t>MSE)</a:t>
            </a:r>
            <a:r>
              <a:rPr lang="el-GR" sz="16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600" dirty="0"/>
              <a:t>Αντιθέτως, οι μετρικές θέλουμε να αυξηθούν (πχ </a:t>
            </a:r>
            <a:r>
              <a:rPr lang="en-US" sz="1600" dirty="0"/>
              <a:t>accuracy)</a:t>
            </a:r>
            <a:r>
              <a:rPr lang="el-GR" sz="1600" dirty="0"/>
              <a:t>.</a:t>
            </a:r>
          </a:p>
          <a:p>
            <a:r>
              <a:rPr lang="el-GR" sz="2000" dirty="0"/>
              <a:t>Συνήθως, η προϋπόθεση για μια μετρική να είναι και συνάρτηση σφάλματος είναι να είναι παραγωγίσιμη, καθώς πολλοί αλγόριθμοι βελτιστοποίησης βασίζονται στον υπολογισμό των παραγώγων (πχ </a:t>
            </a:r>
            <a:r>
              <a:rPr lang="en-US" sz="2000" dirty="0"/>
              <a:t>Gradient Descent).</a:t>
            </a:r>
            <a:endParaRPr lang="el-GR" sz="2000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7D9158D-943F-7975-2B0C-638B2988B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23</a:t>
            </a:fld>
            <a:endParaRPr lang="en-US" dirty="0"/>
          </a:p>
        </p:txBody>
      </p:sp>
      <p:pic>
        <p:nvPicPr>
          <p:cNvPr id="15362" name="Picture 2" descr="deep learning - The inconsistency between the loss curve and metric curve?  - Stack Overflow">
            <a:extLst>
              <a:ext uri="{FF2B5EF4-FFF2-40B4-BE49-F238E27FC236}">
                <a16:creationId xmlns:a16="http://schemas.microsoft.com/office/drawing/2014/main" id="{5A968BA7-BB80-F776-4319-3E77E1EBB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271" y="523858"/>
            <a:ext cx="3247454" cy="565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229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D96AEAD-638F-D8DA-389E-8C78706F7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52"/>
            <a:ext cx="10515600" cy="1325563"/>
          </a:xfrm>
        </p:spPr>
        <p:txBody>
          <a:bodyPr/>
          <a:lstStyle/>
          <a:p>
            <a:r>
              <a:rPr lang="en-US" dirty="0"/>
              <a:t>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A68F14C-5B54-4B1E-B1E6-9D92A275B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5115"/>
                <a:ext cx="6112057" cy="4881235"/>
              </a:xfrm>
            </p:spPr>
            <p:txBody>
              <a:bodyPr>
                <a:normAutofit/>
              </a:bodyPr>
              <a:lstStyle/>
              <a:p>
                <a:r>
                  <a:rPr lang="el-GR" sz="2000" dirty="0"/>
                  <a:t>Εκφράζει τη συσχέτιση μεταξύ 2 μεταβλητών (σε τι βαθμό κάποια μεταβλητή εξαρτάται από κάποια άλλη).</a:t>
                </a:r>
              </a:p>
              <a:p>
                <a:r>
                  <a:rPr lang="el-GR" sz="2000" dirty="0"/>
                  <a:t>Παίρνει τιμές από -1 ως 1, όπου: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b="0" dirty="0"/>
                  <a:t>:</a:t>
                </a:r>
                <a:r>
                  <a:rPr lang="el-GR" sz="1600" b="0" dirty="0"/>
                  <a:t> Οι μεταβλητές είναι αντίστροφες.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b="0" dirty="0"/>
                  <a:t>: </a:t>
                </a:r>
                <a:r>
                  <a:rPr lang="el-GR" sz="1600" dirty="0"/>
                  <a:t>Όταν αυξάνεται η μία, μειώνεται η άλλη με τον ίδιο ρυθμό.</a:t>
                </a:r>
                <a:r>
                  <a:rPr lang="en-US" sz="1600" b="0" dirty="0"/>
                  <a:t>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:</a:t>
                </a:r>
                <a:r>
                  <a:rPr lang="el-GR" sz="1600" dirty="0"/>
                  <a:t> Δεν Συσχετίζονται με κανέναν τρόπο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dirty="0"/>
                  <a:t>: </a:t>
                </a:r>
                <a:r>
                  <a:rPr lang="el-GR" sz="1600" dirty="0"/>
                  <a:t>Όταν αυξάνεται η μία, αυξάνεται και η άλλη με τον ίδιο ρυθμό.</a:t>
                </a:r>
                <a:r>
                  <a:rPr lang="en-US" sz="1600" dirty="0"/>
                  <a:t>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/>
                  <a:t>:</a:t>
                </a:r>
                <a:r>
                  <a:rPr lang="el-GR" sz="1600" dirty="0"/>
                  <a:t> Είναι ίδιες.</a:t>
                </a:r>
              </a:p>
              <a:p>
                <a:r>
                  <a:rPr lang="el-GR" sz="2000" dirty="0"/>
                  <a:t>Μπορεί να είναι είτε γραμμική είτε μη-γραμμική.</a:t>
                </a:r>
              </a:p>
              <a:p>
                <a:r>
                  <a:rPr lang="el-GR" sz="2000" dirty="0"/>
                  <a:t>Οι μεταβλητές που είναι </a:t>
                </a:r>
                <a:r>
                  <a:rPr lang="en-US" sz="2000" dirty="0"/>
                  <a:t>correlated</a:t>
                </a:r>
                <a:r>
                  <a:rPr lang="el-GR" sz="2000" dirty="0"/>
                  <a:t> λειτουργούν ως θόρυβος και επηρεάζουν αρνητικά την απόδοση ενός μοντέλου</a:t>
                </a:r>
                <a:r>
                  <a:rPr lang="en-US" sz="2000" dirty="0"/>
                  <a:t>, </a:t>
                </a:r>
                <a:r>
                  <a:rPr lang="el-GR" sz="2000" dirty="0"/>
                  <a:t>οπότε είναι καλό να απαλείφεται μία από τις δύο.</a:t>
                </a:r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9A68F14C-5B54-4B1E-B1E6-9D92A275B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5115"/>
                <a:ext cx="6112057" cy="4881235"/>
              </a:xfrm>
              <a:blipFill>
                <a:blip r:embed="rId2"/>
                <a:stretch>
                  <a:fillRect l="-898" t="-1248" r="-499" b="-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625B84F-30EC-8861-6B02-1427CD98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24</a:t>
            </a:fld>
            <a:endParaRPr lang="en-US"/>
          </a:p>
        </p:txBody>
      </p:sp>
      <p:pic>
        <p:nvPicPr>
          <p:cNvPr id="2050" name="Picture 2" descr="Correlation: Meaning, Types, Examples &amp; Coefficient">
            <a:extLst>
              <a:ext uri="{FF2B5EF4-FFF2-40B4-BE49-F238E27FC236}">
                <a16:creationId xmlns:a16="http://schemas.microsoft.com/office/drawing/2014/main" id="{4AC89316-FE91-86F6-EDB2-3318FF258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257" y="3429000"/>
            <a:ext cx="5160264" cy="261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102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6EEC-E830-E095-6A4B-AA8A0A20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620D23B-A17D-2B61-2232-6342F792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50"/>
            <a:ext cx="10515600" cy="1325563"/>
          </a:xfrm>
        </p:spPr>
        <p:txBody>
          <a:bodyPr/>
          <a:lstStyle/>
          <a:p>
            <a:r>
              <a:rPr lang="el-GR" dirty="0"/>
              <a:t>Τύποι </a:t>
            </a:r>
            <a:r>
              <a:rPr lang="en-US" dirty="0"/>
              <a:t>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C4E27B6C-FA3E-583A-90FE-8C8703C422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318356"/>
                <a:ext cx="6385995" cy="5403119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Pearson Corr</a:t>
                </a:r>
                <a:r>
                  <a:rPr lang="en-US" sz="2000" dirty="0"/>
                  <a:t>: </a:t>
                </a:r>
                <a:r>
                  <a:rPr lang="el-GR" sz="2000" dirty="0"/>
                  <a:t>Εκφράζει τη γραμμική συσχέτιση δύο μεταβλητών.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𝐶𝑂𝑉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el-G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6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el-GR" sz="1600" dirty="0"/>
                  <a:t>όπου: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𝐶𝑂𝑉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sz="1600" dirty="0"/>
                  <a:t> </a:t>
                </a:r>
                <a:r>
                  <a:rPr lang="el-GR" sz="1600" dirty="0"/>
                  <a:t>και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l-G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dirty="0"/>
                  <a:t>Μειονέκτημα: Θεωρεί γραμμική συσχέτιση μεταξύ των δύο μεταβλητών.</a:t>
                </a:r>
              </a:p>
              <a:p>
                <a:r>
                  <a:rPr lang="en-US" sz="2000" b="1" dirty="0"/>
                  <a:t>Spearman Corr</a:t>
                </a:r>
                <a:r>
                  <a:rPr lang="en-US" sz="2000" dirty="0"/>
                  <a:t>: </a:t>
                </a:r>
                <a:r>
                  <a:rPr lang="el-GR" sz="2000" dirty="0"/>
                  <a:t>Εκφράζει τη συσχέτιση 2 μεταβλητών </a:t>
                </a:r>
                <a:endParaRPr lang="el-GR" sz="1600" b="0" i="1" dirty="0">
                  <a:latin typeface="Cambria Math" panose="02040503050406030204" pitchFamily="18" charset="0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l-GR" sz="16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l-GR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𝑅𝐴𝑁𝐾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𝑅𝐴𝑁𝐾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l-G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dirty="0"/>
                  <a:t>Δε θεωρεί γραμμική συσχέτιση μεταξύ των δύο μεταβλητών.</a:t>
                </a:r>
                <a:endParaRPr lang="en-US" sz="1600" dirty="0"/>
              </a:p>
              <a:p>
                <a:r>
                  <a:rPr lang="en-US" sz="2000" b="1" dirty="0"/>
                  <a:t>Kendall Corr</a:t>
                </a:r>
                <a:r>
                  <a:rPr lang="en-US" sz="2000" dirty="0"/>
                  <a:t>: </a:t>
                </a:r>
                <a:r>
                  <a:rPr lang="el-GR" sz="2000" dirty="0"/>
                  <a:t>Παρόμοια με την </a:t>
                </a:r>
                <a:r>
                  <a:rPr lang="en-US" sz="2000" dirty="0"/>
                  <a:t>Spearman, </a:t>
                </a:r>
                <a:r>
                  <a:rPr lang="el-GR" sz="2000" dirty="0"/>
                  <a:t>αλλά είναι πιο αξιόπιστη σε μικρά σύνολα δεδομένων</a:t>
                </a:r>
                <a:r>
                  <a:rPr lang="en-US" sz="20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l-GR" sz="16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sgn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sgn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  <a:r>
                  <a:rPr lang="el-GR" sz="1600" dirty="0"/>
                  <a:t>ονομάζεται </a:t>
                </a:r>
                <a:r>
                  <a:rPr lang="en-US" sz="1600" dirty="0"/>
                  <a:t>signum function </a:t>
                </a:r>
                <a:r>
                  <a:rPr lang="el-GR" sz="1600" dirty="0"/>
                  <a:t>και καθορίζει το πρόσημο μιας μεταβλητής (παίρνει τιμές +1 ή -1).</a:t>
                </a:r>
                <a:endParaRPr lang="en-US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l-GR" sz="1600" dirty="0"/>
                  <a:t>Δε θεωρεί γραμμική συσχέτιση μεταξύ των δύο μεταβλητών.</a:t>
                </a:r>
                <a:endParaRPr lang="en-US" sz="1600" dirty="0"/>
              </a:p>
              <a:p>
                <a:pPr lvl="1"/>
                <a:endParaRPr lang="en-US" sz="16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C4E27B6C-FA3E-583A-90FE-8C8703C422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318356"/>
                <a:ext cx="6385995" cy="5403119"/>
              </a:xfrm>
              <a:blipFill>
                <a:blip r:embed="rId2"/>
                <a:stretch>
                  <a:fillRect l="-859" t="-1015" r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83F447D-64D0-EBC0-C11F-AEDAAEB6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25</a:t>
            </a:fld>
            <a:endParaRPr lang="en-US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4BA96607-6ABE-2630-0F01-7AB4C789F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411" y="236596"/>
            <a:ext cx="3610664" cy="2906654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50ED988A-8E1D-6884-42EB-FFAAC2A21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245" y="3264778"/>
            <a:ext cx="3577155" cy="2836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9AC4F7-8653-CCC9-A018-39875954C30A}"/>
              </a:ext>
            </a:extLst>
          </p:cNvPr>
          <p:cNvSpPr txBox="1"/>
          <p:nvPr/>
        </p:nvSpPr>
        <p:spPr>
          <a:xfrm>
            <a:off x="8864949" y="6100909"/>
            <a:ext cx="2385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/>
              <a:t>Εδώ αποτυγχάνουν όλες!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61106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97FDF58-D5D5-9E7C-883A-7D5D3A5EB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US" dirty="0"/>
              <a:t>Chatterjee Correlation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1E1CC6C6-D6A6-C492-577F-8477199139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1"/>
                <a:ext cx="10515600" cy="20042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Proposed in 2019.</a:t>
                </a:r>
              </a:p>
              <a:p>
                <a:r>
                  <a:rPr lang="en-US" sz="2000" dirty="0"/>
                  <a:t>Chatterjee’s correlation measures how well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can be expressed as a measurable function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, regardless of shape, monotonic or not.</a:t>
                </a:r>
              </a:p>
              <a:p>
                <a:r>
                  <a:rPr lang="en-US" sz="2000" dirty="0"/>
                  <a:t>Spearman and Kendal excel at monotonic non-linear relationships.</a:t>
                </a:r>
              </a:p>
              <a:p>
                <a:r>
                  <a:rPr lang="en-US" sz="2000" dirty="0"/>
                  <a:t>Chatterjee’s correlation excels at non-monotonic relationships (increasing at some regions while decreasing in others).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1E1CC6C6-D6A6-C492-577F-8477199139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1"/>
                <a:ext cx="10515600" cy="2004219"/>
              </a:xfrm>
              <a:blipFill>
                <a:blip r:embed="rId2"/>
                <a:stretch>
                  <a:fillRect l="-522" t="-4268" b="-3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C810CD1F-8C92-538E-B372-ABBB5655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4BB906FB-C764-76A2-9ADD-185B2BB9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26</a:t>
            </a:fld>
            <a:endParaRPr lang="en-US"/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D653C741-EDA2-9BD6-1704-048DA2498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3429000"/>
            <a:ext cx="10277475" cy="285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36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76AED8B-A72B-C14A-D320-98D6E4B7E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887" y="136525"/>
            <a:ext cx="10515600" cy="1325563"/>
          </a:xfrm>
        </p:spPr>
        <p:txBody>
          <a:bodyPr/>
          <a:lstStyle/>
          <a:p>
            <a:r>
              <a:rPr lang="en-US" dirty="0"/>
              <a:t>Imbalanced Targets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DE8C2DCA-9CCA-E48F-2650-EC43C3EEF6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1887" y="1462088"/>
                <a:ext cx="6961632" cy="4279279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Imbalance</a:t>
                </a:r>
                <a:r>
                  <a:rPr lang="en-US" sz="2000" dirty="0"/>
                  <a:t>: the distribution of the target variables is not uniform.</a:t>
                </a:r>
              </a:p>
              <a:p>
                <a:r>
                  <a:rPr lang="en-US" sz="2000" b="1" dirty="0"/>
                  <a:t>Imbalanced Classes</a:t>
                </a:r>
                <a:r>
                  <a:rPr lang="en-US" sz="2000" dirty="0"/>
                  <a:t>: Some labels appear more frequently than others.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For instance, given a dataset of 1000 samples and three classes: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:950,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:10, 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:40}</m:t>
                    </m:r>
                  </m:oMath>
                </a14:m>
                <a:r>
                  <a:rPr lang="en-US" sz="16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has 95% chance (likelihood) of appearing.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Without training a model, I can predict that a sample is classified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and still be 95% correct in our dataset, even with stratified splits.</a:t>
                </a:r>
              </a:p>
              <a:p>
                <a:r>
                  <a:rPr lang="en-US" sz="2000" b="1" dirty="0"/>
                  <a:t>Imbalanced Regression</a:t>
                </a:r>
                <a:r>
                  <a:rPr lang="en-US" sz="2000" dirty="0"/>
                  <a:t>: Some values of the target variable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appear more frequently than others.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For instance, 80% of values appear 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[10, 20]</m:t>
                    </m:r>
                  </m:oMath>
                </a14:m>
                <a:r>
                  <a:rPr lang="en-US" sz="1600" dirty="0"/>
                  <a:t> </a:t>
                </a:r>
                <a:br>
                  <a:rPr lang="en-US" sz="1600" dirty="0"/>
                </a:br>
                <a:r>
                  <a:rPr lang="en-US" sz="1600" dirty="0"/>
                  <a:t>while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r>
                  <a:rPr lang="en-US" sz="1600" dirty="0"/>
                  <a:t> appear 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[0, 10)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r>
                  <a:rPr lang="en-US" sz="1600" dirty="0"/>
                  <a:t> 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(20,30]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1600" dirty="0"/>
                  <a:t>Without training a model, I can predict that</a:t>
                </a:r>
                <a:br>
                  <a:rPr lang="en-US" sz="1600" dirty="0"/>
                </a:b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600" dirty="0"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[10, 20]</m:t>
                    </m:r>
                  </m:oMath>
                </a14:m>
                <a:r>
                  <a:rPr lang="en-US" sz="1600" dirty="0"/>
                  <a:t> and still be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sz="1600" dirty="0"/>
                  <a:t> correct in our dataset.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DE8C2DCA-9CCA-E48F-2650-EC43C3EEF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1887" y="1462088"/>
                <a:ext cx="6961632" cy="4279279"/>
              </a:xfrm>
              <a:blipFill>
                <a:blip r:embed="rId2"/>
                <a:stretch>
                  <a:fillRect l="-788" t="-1425" r="-1401" b="-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1C66CB4-D052-222A-2F2B-CCBA046F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 dirty="0"/>
              <a:t>Βασίλειος Κοχλιαρίδης</a:t>
            </a:r>
            <a:endParaRPr lang="en-US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ED6502EB-9320-6CB2-3B00-EA4BA6F6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27</a:t>
            </a:fld>
            <a:endParaRPr lang="en-US"/>
          </a:p>
        </p:txBody>
      </p:sp>
      <p:grpSp>
        <p:nvGrpSpPr>
          <p:cNvPr id="32" name="Ομάδα 31">
            <a:extLst>
              <a:ext uri="{FF2B5EF4-FFF2-40B4-BE49-F238E27FC236}">
                <a16:creationId xmlns:a16="http://schemas.microsoft.com/office/drawing/2014/main" id="{0385CCB5-9732-D673-14B7-22CC6049FE9B}"/>
              </a:ext>
            </a:extLst>
          </p:cNvPr>
          <p:cNvGrpSpPr/>
          <p:nvPr/>
        </p:nvGrpSpPr>
        <p:grpSpPr>
          <a:xfrm>
            <a:off x="5840101" y="4255229"/>
            <a:ext cx="6193169" cy="2226661"/>
            <a:chOff x="5840101" y="4255229"/>
            <a:chExt cx="6193169" cy="2226661"/>
          </a:xfrm>
        </p:grpSpPr>
        <p:grpSp>
          <p:nvGrpSpPr>
            <p:cNvPr id="29" name="Ομάδα 28">
              <a:extLst>
                <a:ext uri="{FF2B5EF4-FFF2-40B4-BE49-F238E27FC236}">
                  <a16:creationId xmlns:a16="http://schemas.microsoft.com/office/drawing/2014/main" id="{F49CA79F-BE2E-49E0-AFE0-1C50038C8DA6}"/>
                </a:ext>
              </a:extLst>
            </p:cNvPr>
            <p:cNvGrpSpPr/>
            <p:nvPr/>
          </p:nvGrpSpPr>
          <p:grpSpPr>
            <a:xfrm>
              <a:off x="5840101" y="4477835"/>
              <a:ext cx="6193169" cy="2004055"/>
              <a:chOff x="5015761" y="4534857"/>
              <a:chExt cx="6193169" cy="2004055"/>
            </a:xfrm>
          </p:grpSpPr>
          <p:pic>
            <p:nvPicPr>
              <p:cNvPr id="7" name="Εικόνα 6">
                <a:extLst>
                  <a:ext uri="{FF2B5EF4-FFF2-40B4-BE49-F238E27FC236}">
                    <a16:creationId xmlns:a16="http://schemas.microsoft.com/office/drawing/2014/main" id="{38C989EF-7373-8F1F-C89B-860F335F89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07330" y="4534857"/>
                <a:ext cx="3201600" cy="2004055"/>
              </a:xfrm>
              <a:prstGeom prst="rect">
                <a:avLst/>
              </a:prstGeom>
            </p:spPr>
          </p:pic>
          <p:cxnSp>
            <p:nvCxnSpPr>
              <p:cNvPr id="9" name="Ευθύγραμμο βέλος σύνδεσης 8">
                <a:extLst>
                  <a:ext uri="{FF2B5EF4-FFF2-40B4-BE49-F238E27FC236}">
                    <a16:creationId xmlns:a16="http://schemas.microsoft.com/office/drawing/2014/main" id="{0A8B9924-70A4-6AA6-B705-06986853E4EA}"/>
                  </a:ext>
                </a:extLst>
              </p:cNvPr>
              <p:cNvCxnSpPr/>
              <p:nvPr/>
            </p:nvCxnSpPr>
            <p:spPr>
              <a:xfrm flipV="1">
                <a:off x="5294376" y="4915091"/>
                <a:ext cx="0" cy="12435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Ευθύγραμμο βέλος σύνδεσης 9">
                <a:extLst>
                  <a:ext uri="{FF2B5EF4-FFF2-40B4-BE49-F238E27FC236}">
                    <a16:creationId xmlns:a16="http://schemas.microsoft.com/office/drawing/2014/main" id="{47FA2310-F6F3-0CA9-9C53-1631A4DD2F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94376" y="6153594"/>
                <a:ext cx="2240280" cy="50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Ελεύθερη σχεδίαση: Σχήμα 14">
                <a:extLst>
                  <a:ext uri="{FF2B5EF4-FFF2-40B4-BE49-F238E27FC236}">
                    <a16:creationId xmlns:a16="http://schemas.microsoft.com/office/drawing/2014/main" id="{C2D7FCB4-F15C-145B-A122-42568D75077C}"/>
                  </a:ext>
                </a:extLst>
              </p:cNvPr>
              <p:cNvSpPr/>
              <p:nvPr/>
            </p:nvSpPr>
            <p:spPr>
              <a:xfrm>
                <a:off x="5367799" y="5514691"/>
                <a:ext cx="2048256" cy="612648"/>
              </a:xfrm>
              <a:custGeom>
                <a:avLst/>
                <a:gdLst>
                  <a:gd name="connsiteX0" fmla="*/ 0 w 2048256"/>
                  <a:gd name="connsiteY0" fmla="*/ 438912 h 612648"/>
                  <a:gd name="connsiteX1" fmla="*/ 54864 w 2048256"/>
                  <a:gd name="connsiteY1" fmla="*/ 411480 h 612648"/>
                  <a:gd name="connsiteX2" fmla="*/ 109728 w 2048256"/>
                  <a:gd name="connsiteY2" fmla="*/ 365760 h 612648"/>
                  <a:gd name="connsiteX3" fmla="*/ 146304 w 2048256"/>
                  <a:gd name="connsiteY3" fmla="*/ 329184 h 612648"/>
                  <a:gd name="connsiteX4" fmla="*/ 201168 w 2048256"/>
                  <a:gd name="connsiteY4" fmla="*/ 310896 h 612648"/>
                  <a:gd name="connsiteX5" fmla="*/ 292608 w 2048256"/>
                  <a:gd name="connsiteY5" fmla="*/ 356616 h 612648"/>
                  <a:gd name="connsiteX6" fmla="*/ 320040 w 2048256"/>
                  <a:gd name="connsiteY6" fmla="*/ 384048 h 612648"/>
                  <a:gd name="connsiteX7" fmla="*/ 347472 w 2048256"/>
                  <a:gd name="connsiteY7" fmla="*/ 393192 h 612648"/>
                  <a:gd name="connsiteX8" fmla="*/ 411480 w 2048256"/>
                  <a:gd name="connsiteY8" fmla="*/ 347472 h 612648"/>
                  <a:gd name="connsiteX9" fmla="*/ 420624 w 2048256"/>
                  <a:gd name="connsiteY9" fmla="*/ 292608 h 612648"/>
                  <a:gd name="connsiteX10" fmla="*/ 429768 w 2048256"/>
                  <a:gd name="connsiteY10" fmla="*/ 256032 h 612648"/>
                  <a:gd name="connsiteX11" fmla="*/ 457200 w 2048256"/>
                  <a:gd name="connsiteY11" fmla="*/ 137160 h 612648"/>
                  <a:gd name="connsiteX12" fmla="*/ 521208 w 2048256"/>
                  <a:gd name="connsiteY12" fmla="*/ 0 h 612648"/>
                  <a:gd name="connsiteX13" fmla="*/ 612648 w 2048256"/>
                  <a:gd name="connsiteY13" fmla="*/ 54864 h 612648"/>
                  <a:gd name="connsiteX14" fmla="*/ 621792 w 2048256"/>
                  <a:gd name="connsiteY14" fmla="*/ 91440 h 612648"/>
                  <a:gd name="connsiteX15" fmla="*/ 630936 w 2048256"/>
                  <a:gd name="connsiteY15" fmla="*/ 155448 h 612648"/>
                  <a:gd name="connsiteX16" fmla="*/ 649224 w 2048256"/>
                  <a:gd name="connsiteY16" fmla="*/ 219456 h 612648"/>
                  <a:gd name="connsiteX17" fmla="*/ 667512 w 2048256"/>
                  <a:gd name="connsiteY17" fmla="*/ 292608 h 612648"/>
                  <a:gd name="connsiteX18" fmla="*/ 676656 w 2048256"/>
                  <a:gd name="connsiteY18" fmla="*/ 320040 h 612648"/>
                  <a:gd name="connsiteX19" fmla="*/ 704088 w 2048256"/>
                  <a:gd name="connsiteY19" fmla="*/ 365760 h 612648"/>
                  <a:gd name="connsiteX20" fmla="*/ 713232 w 2048256"/>
                  <a:gd name="connsiteY20" fmla="*/ 402336 h 612648"/>
                  <a:gd name="connsiteX21" fmla="*/ 722376 w 2048256"/>
                  <a:gd name="connsiteY21" fmla="*/ 457200 h 612648"/>
                  <a:gd name="connsiteX22" fmla="*/ 749808 w 2048256"/>
                  <a:gd name="connsiteY22" fmla="*/ 512064 h 612648"/>
                  <a:gd name="connsiteX23" fmla="*/ 804672 w 2048256"/>
                  <a:gd name="connsiteY23" fmla="*/ 612648 h 612648"/>
                  <a:gd name="connsiteX24" fmla="*/ 868680 w 2048256"/>
                  <a:gd name="connsiteY24" fmla="*/ 603504 h 612648"/>
                  <a:gd name="connsiteX25" fmla="*/ 877824 w 2048256"/>
                  <a:gd name="connsiteY25" fmla="*/ 566928 h 612648"/>
                  <a:gd name="connsiteX26" fmla="*/ 886968 w 2048256"/>
                  <a:gd name="connsiteY26" fmla="*/ 512064 h 612648"/>
                  <a:gd name="connsiteX27" fmla="*/ 896112 w 2048256"/>
                  <a:gd name="connsiteY27" fmla="*/ 475488 h 612648"/>
                  <a:gd name="connsiteX28" fmla="*/ 932688 w 2048256"/>
                  <a:gd name="connsiteY28" fmla="*/ 393192 h 612648"/>
                  <a:gd name="connsiteX29" fmla="*/ 960120 w 2048256"/>
                  <a:gd name="connsiteY29" fmla="*/ 365760 h 612648"/>
                  <a:gd name="connsiteX30" fmla="*/ 987552 w 2048256"/>
                  <a:gd name="connsiteY30" fmla="*/ 347472 h 612648"/>
                  <a:gd name="connsiteX31" fmla="*/ 1097280 w 2048256"/>
                  <a:gd name="connsiteY31" fmla="*/ 365760 h 612648"/>
                  <a:gd name="connsiteX32" fmla="*/ 1216152 w 2048256"/>
                  <a:gd name="connsiteY32" fmla="*/ 393192 h 612648"/>
                  <a:gd name="connsiteX33" fmla="*/ 1252728 w 2048256"/>
                  <a:gd name="connsiteY33" fmla="*/ 338328 h 612648"/>
                  <a:gd name="connsiteX34" fmla="*/ 1289304 w 2048256"/>
                  <a:gd name="connsiteY34" fmla="*/ 274320 h 612648"/>
                  <a:gd name="connsiteX35" fmla="*/ 1316736 w 2048256"/>
                  <a:gd name="connsiteY35" fmla="*/ 265176 h 612648"/>
                  <a:gd name="connsiteX36" fmla="*/ 1399032 w 2048256"/>
                  <a:gd name="connsiteY36" fmla="*/ 274320 h 612648"/>
                  <a:gd name="connsiteX37" fmla="*/ 1408176 w 2048256"/>
                  <a:gd name="connsiteY37" fmla="*/ 301752 h 612648"/>
                  <a:gd name="connsiteX38" fmla="*/ 1426464 w 2048256"/>
                  <a:gd name="connsiteY38" fmla="*/ 329184 h 612648"/>
                  <a:gd name="connsiteX39" fmla="*/ 1435608 w 2048256"/>
                  <a:gd name="connsiteY39" fmla="*/ 466344 h 612648"/>
                  <a:gd name="connsiteX40" fmla="*/ 1463040 w 2048256"/>
                  <a:gd name="connsiteY40" fmla="*/ 502920 h 612648"/>
                  <a:gd name="connsiteX41" fmla="*/ 1472184 w 2048256"/>
                  <a:gd name="connsiteY41" fmla="*/ 548640 h 612648"/>
                  <a:gd name="connsiteX42" fmla="*/ 1536192 w 2048256"/>
                  <a:gd name="connsiteY42" fmla="*/ 576072 h 612648"/>
                  <a:gd name="connsiteX43" fmla="*/ 1572768 w 2048256"/>
                  <a:gd name="connsiteY43" fmla="*/ 539496 h 612648"/>
                  <a:gd name="connsiteX44" fmla="*/ 1545336 w 2048256"/>
                  <a:gd name="connsiteY44" fmla="*/ 384048 h 612648"/>
                  <a:gd name="connsiteX45" fmla="*/ 1554480 w 2048256"/>
                  <a:gd name="connsiteY45" fmla="*/ 73152 h 612648"/>
                  <a:gd name="connsiteX46" fmla="*/ 1591056 w 2048256"/>
                  <a:gd name="connsiteY46" fmla="*/ 18288 h 612648"/>
                  <a:gd name="connsiteX47" fmla="*/ 1645920 w 2048256"/>
                  <a:gd name="connsiteY47" fmla="*/ 36576 h 612648"/>
                  <a:gd name="connsiteX48" fmla="*/ 1700784 w 2048256"/>
                  <a:gd name="connsiteY48" fmla="*/ 137160 h 612648"/>
                  <a:gd name="connsiteX49" fmla="*/ 1709928 w 2048256"/>
                  <a:gd name="connsiteY49" fmla="*/ 182880 h 612648"/>
                  <a:gd name="connsiteX50" fmla="*/ 1755648 w 2048256"/>
                  <a:gd name="connsiteY50" fmla="*/ 274320 h 612648"/>
                  <a:gd name="connsiteX51" fmla="*/ 1783080 w 2048256"/>
                  <a:gd name="connsiteY51" fmla="*/ 310896 h 612648"/>
                  <a:gd name="connsiteX52" fmla="*/ 1956816 w 2048256"/>
                  <a:gd name="connsiteY52" fmla="*/ 301752 h 612648"/>
                  <a:gd name="connsiteX53" fmla="*/ 2011680 w 2048256"/>
                  <a:gd name="connsiteY53" fmla="*/ 274320 h 612648"/>
                  <a:gd name="connsiteX54" fmla="*/ 2048256 w 2048256"/>
                  <a:gd name="connsiteY54" fmla="*/ 265176 h 612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2048256" h="612648">
                    <a:moveTo>
                      <a:pt x="0" y="438912"/>
                    </a:moveTo>
                    <a:cubicBezTo>
                      <a:pt x="18288" y="429768"/>
                      <a:pt x="38724" y="424033"/>
                      <a:pt x="54864" y="411480"/>
                    </a:cubicBezTo>
                    <a:cubicBezTo>
                      <a:pt x="129598" y="353353"/>
                      <a:pt x="41579" y="388476"/>
                      <a:pt x="109728" y="365760"/>
                    </a:cubicBezTo>
                    <a:cubicBezTo>
                      <a:pt x="121920" y="353568"/>
                      <a:pt x="131519" y="338055"/>
                      <a:pt x="146304" y="329184"/>
                    </a:cubicBezTo>
                    <a:cubicBezTo>
                      <a:pt x="162834" y="319266"/>
                      <a:pt x="181948" y="309418"/>
                      <a:pt x="201168" y="310896"/>
                    </a:cubicBezTo>
                    <a:cubicBezTo>
                      <a:pt x="219068" y="312273"/>
                      <a:pt x="272473" y="339837"/>
                      <a:pt x="292608" y="356616"/>
                    </a:cubicBezTo>
                    <a:cubicBezTo>
                      <a:pt x="302542" y="364895"/>
                      <a:pt x="309280" y="376875"/>
                      <a:pt x="320040" y="384048"/>
                    </a:cubicBezTo>
                    <a:cubicBezTo>
                      <a:pt x="328060" y="389395"/>
                      <a:pt x="338328" y="390144"/>
                      <a:pt x="347472" y="393192"/>
                    </a:cubicBezTo>
                    <a:cubicBezTo>
                      <a:pt x="368808" y="377952"/>
                      <a:pt x="396058" y="368677"/>
                      <a:pt x="411480" y="347472"/>
                    </a:cubicBezTo>
                    <a:cubicBezTo>
                      <a:pt x="422385" y="332478"/>
                      <a:pt x="416988" y="310788"/>
                      <a:pt x="420624" y="292608"/>
                    </a:cubicBezTo>
                    <a:cubicBezTo>
                      <a:pt x="423089" y="280285"/>
                      <a:pt x="427303" y="268355"/>
                      <a:pt x="429768" y="256032"/>
                    </a:cubicBezTo>
                    <a:cubicBezTo>
                      <a:pt x="445985" y="174945"/>
                      <a:pt x="429719" y="224184"/>
                      <a:pt x="457200" y="137160"/>
                    </a:cubicBezTo>
                    <a:cubicBezTo>
                      <a:pt x="494737" y="18292"/>
                      <a:pt x="467563" y="53645"/>
                      <a:pt x="521208" y="0"/>
                    </a:cubicBezTo>
                    <a:cubicBezTo>
                      <a:pt x="551688" y="18288"/>
                      <a:pt x="586346" y="30954"/>
                      <a:pt x="612648" y="54864"/>
                    </a:cubicBezTo>
                    <a:cubicBezTo>
                      <a:pt x="621947" y="63318"/>
                      <a:pt x="619544" y="79075"/>
                      <a:pt x="621792" y="91440"/>
                    </a:cubicBezTo>
                    <a:cubicBezTo>
                      <a:pt x="625647" y="112645"/>
                      <a:pt x="626420" y="134374"/>
                      <a:pt x="630936" y="155448"/>
                    </a:cubicBezTo>
                    <a:cubicBezTo>
                      <a:pt x="635585" y="177145"/>
                      <a:pt x="643507" y="198015"/>
                      <a:pt x="649224" y="219456"/>
                    </a:cubicBezTo>
                    <a:cubicBezTo>
                      <a:pt x="655700" y="243742"/>
                      <a:pt x="659564" y="268763"/>
                      <a:pt x="667512" y="292608"/>
                    </a:cubicBezTo>
                    <a:cubicBezTo>
                      <a:pt x="670560" y="301752"/>
                      <a:pt x="672345" y="311419"/>
                      <a:pt x="676656" y="320040"/>
                    </a:cubicBezTo>
                    <a:cubicBezTo>
                      <a:pt x="684604" y="335936"/>
                      <a:pt x="694944" y="350520"/>
                      <a:pt x="704088" y="365760"/>
                    </a:cubicBezTo>
                    <a:cubicBezTo>
                      <a:pt x="707136" y="377952"/>
                      <a:pt x="710767" y="390013"/>
                      <a:pt x="713232" y="402336"/>
                    </a:cubicBezTo>
                    <a:cubicBezTo>
                      <a:pt x="716868" y="420516"/>
                      <a:pt x="716513" y="439611"/>
                      <a:pt x="722376" y="457200"/>
                    </a:cubicBezTo>
                    <a:cubicBezTo>
                      <a:pt x="728842" y="476597"/>
                      <a:pt x="741754" y="493271"/>
                      <a:pt x="749808" y="512064"/>
                    </a:cubicBezTo>
                    <a:cubicBezTo>
                      <a:pt x="789774" y="605317"/>
                      <a:pt x="754856" y="562832"/>
                      <a:pt x="804672" y="612648"/>
                    </a:cubicBezTo>
                    <a:cubicBezTo>
                      <a:pt x="826008" y="609600"/>
                      <a:pt x="850403" y="614927"/>
                      <a:pt x="868680" y="603504"/>
                    </a:cubicBezTo>
                    <a:cubicBezTo>
                      <a:pt x="879337" y="596843"/>
                      <a:pt x="875359" y="579251"/>
                      <a:pt x="877824" y="566928"/>
                    </a:cubicBezTo>
                    <a:cubicBezTo>
                      <a:pt x="881460" y="548748"/>
                      <a:pt x="883332" y="530244"/>
                      <a:pt x="886968" y="512064"/>
                    </a:cubicBezTo>
                    <a:cubicBezTo>
                      <a:pt x="889433" y="499741"/>
                      <a:pt x="892501" y="487525"/>
                      <a:pt x="896112" y="475488"/>
                    </a:cubicBezTo>
                    <a:cubicBezTo>
                      <a:pt x="907326" y="438108"/>
                      <a:pt x="909721" y="420752"/>
                      <a:pt x="932688" y="393192"/>
                    </a:cubicBezTo>
                    <a:cubicBezTo>
                      <a:pt x="940967" y="383258"/>
                      <a:pt x="950186" y="374039"/>
                      <a:pt x="960120" y="365760"/>
                    </a:cubicBezTo>
                    <a:cubicBezTo>
                      <a:pt x="968563" y="358725"/>
                      <a:pt x="978408" y="353568"/>
                      <a:pt x="987552" y="347472"/>
                    </a:cubicBezTo>
                    <a:cubicBezTo>
                      <a:pt x="1024128" y="353568"/>
                      <a:pt x="1062102" y="354034"/>
                      <a:pt x="1097280" y="365760"/>
                    </a:cubicBezTo>
                    <a:cubicBezTo>
                      <a:pt x="1221035" y="407012"/>
                      <a:pt x="1080417" y="412583"/>
                      <a:pt x="1216152" y="393192"/>
                    </a:cubicBezTo>
                    <a:cubicBezTo>
                      <a:pt x="1228344" y="374904"/>
                      <a:pt x="1245777" y="359180"/>
                      <a:pt x="1252728" y="338328"/>
                    </a:cubicBezTo>
                    <a:cubicBezTo>
                      <a:pt x="1261844" y="310981"/>
                      <a:pt x="1263754" y="295612"/>
                      <a:pt x="1289304" y="274320"/>
                    </a:cubicBezTo>
                    <a:cubicBezTo>
                      <a:pt x="1296709" y="268150"/>
                      <a:pt x="1307592" y="268224"/>
                      <a:pt x="1316736" y="265176"/>
                    </a:cubicBezTo>
                    <a:cubicBezTo>
                      <a:pt x="1344168" y="268224"/>
                      <a:pt x="1373405" y="264069"/>
                      <a:pt x="1399032" y="274320"/>
                    </a:cubicBezTo>
                    <a:cubicBezTo>
                      <a:pt x="1407981" y="277900"/>
                      <a:pt x="1403865" y="293131"/>
                      <a:pt x="1408176" y="301752"/>
                    </a:cubicBezTo>
                    <a:cubicBezTo>
                      <a:pt x="1413091" y="311582"/>
                      <a:pt x="1420368" y="320040"/>
                      <a:pt x="1426464" y="329184"/>
                    </a:cubicBezTo>
                    <a:cubicBezTo>
                      <a:pt x="1429512" y="374904"/>
                      <a:pt x="1426168" y="421505"/>
                      <a:pt x="1435608" y="466344"/>
                    </a:cubicBezTo>
                    <a:cubicBezTo>
                      <a:pt x="1438748" y="481257"/>
                      <a:pt x="1456850" y="488994"/>
                      <a:pt x="1463040" y="502920"/>
                    </a:cubicBezTo>
                    <a:cubicBezTo>
                      <a:pt x="1469352" y="517122"/>
                      <a:pt x="1463151" y="535993"/>
                      <a:pt x="1472184" y="548640"/>
                    </a:cubicBezTo>
                    <a:cubicBezTo>
                      <a:pt x="1479246" y="558527"/>
                      <a:pt x="1522794" y="571606"/>
                      <a:pt x="1536192" y="576072"/>
                    </a:cubicBezTo>
                    <a:cubicBezTo>
                      <a:pt x="1548384" y="563880"/>
                      <a:pt x="1568891" y="556297"/>
                      <a:pt x="1572768" y="539496"/>
                    </a:cubicBezTo>
                    <a:cubicBezTo>
                      <a:pt x="1579920" y="508505"/>
                      <a:pt x="1552951" y="414508"/>
                      <a:pt x="1545336" y="384048"/>
                    </a:cubicBezTo>
                    <a:cubicBezTo>
                      <a:pt x="1522353" y="131239"/>
                      <a:pt x="1511435" y="256094"/>
                      <a:pt x="1554480" y="73152"/>
                    </a:cubicBezTo>
                    <a:cubicBezTo>
                      <a:pt x="1567627" y="17276"/>
                      <a:pt x="1547569" y="32784"/>
                      <a:pt x="1591056" y="18288"/>
                    </a:cubicBezTo>
                    <a:cubicBezTo>
                      <a:pt x="1609344" y="24384"/>
                      <a:pt x="1630867" y="24534"/>
                      <a:pt x="1645920" y="36576"/>
                    </a:cubicBezTo>
                    <a:cubicBezTo>
                      <a:pt x="1667327" y="53702"/>
                      <a:pt x="1692460" y="109414"/>
                      <a:pt x="1700784" y="137160"/>
                    </a:cubicBezTo>
                    <a:cubicBezTo>
                      <a:pt x="1705250" y="152046"/>
                      <a:pt x="1705462" y="167994"/>
                      <a:pt x="1709928" y="182880"/>
                    </a:cubicBezTo>
                    <a:cubicBezTo>
                      <a:pt x="1720491" y="218091"/>
                      <a:pt x="1735282" y="243771"/>
                      <a:pt x="1755648" y="274320"/>
                    </a:cubicBezTo>
                    <a:cubicBezTo>
                      <a:pt x="1764102" y="287000"/>
                      <a:pt x="1773936" y="298704"/>
                      <a:pt x="1783080" y="310896"/>
                    </a:cubicBezTo>
                    <a:cubicBezTo>
                      <a:pt x="1840992" y="307848"/>
                      <a:pt x="1899552" y="310914"/>
                      <a:pt x="1956816" y="301752"/>
                    </a:cubicBezTo>
                    <a:cubicBezTo>
                      <a:pt x="1977006" y="298522"/>
                      <a:pt x="1992696" y="281914"/>
                      <a:pt x="2011680" y="274320"/>
                    </a:cubicBezTo>
                    <a:cubicBezTo>
                      <a:pt x="2023348" y="269653"/>
                      <a:pt x="2048256" y="265176"/>
                      <a:pt x="2048256" y="265176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B1FCAD-09F4-11A9-5556-0380076E7A37}"/>
                  </a:ext>
                </a:extLst>
              </p:cNvPr>
              <p:cNvSpPr txBox="1"/>
              <p:nvPr/>
            </p:nvSpPr>
            <p:spPr>
              <a:xfrm>
                <a:off x="6998121" y="6153594"/>
                <a:ext cx="7777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Sample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05F6667-BCE0-33D4-3928-40515334F0F0}"/>
                      </a:ext>
                    </a:extLst>
                  </p:cNvPr>
                  <p:cNvSpPr txBox="1"/>
                  <p:nvPr/>
                </p:nvSpPr>
                <p:spPr>
                  <a:xfrm>
                    <a:off x="5064786" y="4717928"/>
                    <a:ext cx="32560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05F6667-BCE0-33D4-3928-40515334F0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4786" y="4717928"/>
                    <a:ext cx="325602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52DA7B-A83F-DC7D-F596-8D1C2C5FDB31}"/>
                  </a:ext>
                </a:extLst>
              </p:cNvPr>
              <p:cNvSpPr txBox="1"/>
              <p:nvPr/>
            </p:nvSpPr>
            <p:spPr>
              <a:xfrm rot="16200000">
                <a:off x="7395262" y="5423474"/>
                <a:ext cx="10140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Probability</a:t>
                </a:r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13BA2DF5-A260-AFC2-7C14-90E7789B68F3}"/>
                      </a:ext>
                    </a:extLst>
                  </p:cNvPr>
                  <p:cNvSpPr txBox="1"/>
                  <p:nvPr/>
                </p:nvSpPr>
                <p:spPr>
                  <a:xfrm>
                    <a:off x="7633872" y="488502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1.0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13BA2DF5-A260-AFC2-7C14-90E7789B68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3872" y="4885024"/>
                    <a:ext cx="457176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C14BD12-3270-6F56-06D2-E8AE9519285D}"/>
                      </a:ext>
                    </a:extLst>
                  </p:cNvPr>
                  <p:cNvSpPr txBox="1"/>
                  <p:nvPr/>
                </p:nvSpPr>
                <p:spPr>
                  <a:xfrm>
                    <a:off x="7806706" y="6193585"/>
                    <a:ext cx="32092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C14BD12-3270-6F56-06D2-E8AE951928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06706" y="6193585"/>
                    <a:ext cx="320921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E1DBB4A1-137C-C4FB-1BA6-B3C262C836EF}"/>
                      </a:ext>
                    </a:extLst>
                  </p:cNvPr>
                  <p:cNvSpPr txBox="1"/>
                  <p:nvPr/>
                </p:nvSpPr>
                <p:spPr>
                  <a:xfrm>
                    <a:off x="5015761" y="6101084"/>
                    <a:ext cx="32092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E1DBB4A1-137C-C4FB-1BA6-B3C262C836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5761" y="6101084"/>
                    <a:ext cx="320921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Οβάλ 21">
                <a:extLst>
                  <a:ext uri="{FF2B5EF4-FFF2-40B4-BE49-F238E27FC236}">
                    <a16:creationId xmlns:a16="http://schemas.microsoft.com/office/drawing/2014/main" id="{CCE7D047-06B1-9BE4-8C08-B7F814FABEFB}"/>
                  </a:ext>
                </a:extLst>
              </p:cNvPr>
              <p:cNvSpPr/>
              <p:nvPr/>
            </p:nvSpPr>
            <p:spPr>
              <a:xfrm>
                <a:off x="5778972" y="5408011"/>
                <a:ext cx="213359" cy="21335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Οβάλ 22">
                <a:extLst>
                  <a:ext uri="{FF2B5EF4-FFF2-40B4-BE49-F238E27FC236}">
                    <a16:creationId xmlns:a16="http://schemas.microsoft.com/office/drawing/2014/main" id="{80C90371-0D9B-21E6-403A-1FD4D3974920}"/>
                  </a:ext>
                </a:extLst>
              </p:cNvPr>
              <p:cNvSpPr/>
              <p:nvPr/>
            </p:nvSpPr>
            <p:spPr>
              <a:xfrm>
                <a:off x="6837090" y="5413095"/>
                <a:ext cx="213359" cy="21335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Οβάλ 23">
                <a:extLst>
                  <a:ext uri="{FF2B5EF4-FFF2-40B4-BE49-F238E27FC236}">
                    <a16:creationId xmlns:a16="http://schemas.microsoft.com/office/drawing/2014/main" id="{E9F30CE2-6932-826D-04B2-B30F2ADCA6CF}"/>
                  </a:ext>
                </a:extLst>
              </p:cNvPr>
              <p:cNvSpPr/>
              <p:nvPr/>
            </p:nvSpPr>
            <p:spPr>
              <a:xfrm>
                <a:off x="6083582" y="5954929"/>
                <a:ext cx="213359" cy="21335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Οβάλ 24">
                <a:extLst>
                  <a:ext uri="{FF2B5EF4-FFF2-40B4-BE49-F238E27FC236}">
                    <a16:creationId xmlns:a16="http://schemas.microsoft.com/office/drawing/2014/main" id="{82D455D9-676F-5694-AB6A-13FA66FCCB45}"/>
                  </a:ext>
                </a:extLst>
              </p:cNvPr>
              <p:cNvSpPr/>
              <p:nvPr/>
            </p:nvSpPr>
            <p:spPr>
              <a:xfrm>
                <a:off x="6781536" y="5950760"/>
                <a:ext cx="213359" cy="21335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Ευθύγραμμο βέλος σύνδεσης 26">
                <a:extLst>
                  <a:ext uri="{FF2B5EF4-FFF2-40B4-BE49-F238E27FC236}">
                    <a16:creationId xmlns:a16="http://schemas.microsoft.com/office/drawing/2014/main" id="{A10269B7-8CA0-0AC5-E7F0-8077FD0322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40497" y="5077670"/>
                <a:ext cx="103668" cy="3376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AF949BC-6B38-2F18-BAD9-1258398D3863}"/>
                  </a:ext>
                </a:extLst>
              </p:cNvPr>
              <p:cNvSpPr txBox="1"/>
              <p:nvPr/>
            </p:nvSpPr>
            <p:spPr>
              <a:xfrm>
                <a:off x="5439110" y="4834284"/>
                <a:ext cx="10851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Rare values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63D999-AF7E-E8AD-3985-60232EDA2420}"/>
                </a:ext>
              </a:extLst>
            </p:cNvPr>
            <p:cNvSpPr txBox="1"/>
            <p:nvPr/>
          </p:nvSpPr>
          <p:spPr>
            <a:xfrm>
              <a:off x="7819235" y="4255229"/>
              <a:ext cx="25251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Imbalanced Regression</a:t>
              </a:r>
            </a:p>
          </p:txBody>
        </p:sp>
      </p:grpSp>
      <p:grpSp>
        <p:nvGrpSpPr>
          <p:cNvPr id="33" name="Ομάδα 32">
            <a:extLst>
              <a:ext uri="{FF2B5EF4-FFF2-40B4-BE49-F238E27FC236}">
                <a16:creationId xmlns:a16="http://schemas.microsoft.com/office/drawing/2014/main" id="{735325B7-1095-A707-D70A-5D6A1810C930}"/>
              </a:ext>
            </a:extLst>
          </p:cNvPr>
          <p:cNvGrpSpPr/>
          <p:nvPr/>
        </p:nvGrpSpPr>
        <p:grpSpPr>
          <a:xfrm>
            <a:off x="8007330" y="956169"/>
            <a:ext cx="3949740" cy="2995375"/>
            <a:chOff x="8007330" y="956169"/>
            <a:chExt cx="3949740" cy="2995375"/>
          </a:xfrm>
        </p:grpSpPr>
        <p:pic>
          <p:nvPicPr>
            <p:cNvPr id="4098" name="Picture 2" descr="How to handle Multiclass Imbalanced Data?- Say No To SMOTE | by Tamil  Selvan S | TDS Archive | Medium">
              <a:extLst>
                <a:ext uri="{FF2B5EF4-FFF2-40B4-BE49-F238E27FC236}">
                  <a16:creationId xmlns:a16="http://schemas.microsoft.com/office/drawing/2014/main" id="{3A932F9E-2666-B2E5-7C84-DF39AA6D39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7330" y="1325501"/>
              <a:ext cx="3949740" cy="2626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2818D3-0390-11D1-1649-DDDB2DB32830}"/>
                </a:ext>
              </a:extLst>
            </p:cNvPr>
            <p:cNvSpPr txBox="1"/>
            <p:nvPr/>
          </p:nvSpPr>
          <p:spPr>
            <a:xfrm>
              <a:off x="8685088" y="956169"/>
              <a:ext cx="2794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Imbalanced Classification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611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F3976B1-7D56-009F-100D-7BD0D079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71"/>
            <a:ext cx="10515600" cy="1325563"/>
          </a:xfrm>
        </p:spPr>
        <p:txBody>
          <a:bodyPr/>
          <a:lstStyle/>
          <a:p>
            <a:r>
              <a:rPr lang="en-US" dirty="0"/>
              <a:t>Model Bias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F62754D-77A6-EBE9-A2BB-FD8A6EA0C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3" y="1209675"/>
            <a:ext cx="5710237" cy="5329237"/>
          </a:xfrm>
        </p:spPr>
        <p:txBody>
          <a:bodyPr>
            <a:normAutofit/>
          </a:bodyPr>
          <a:lstStyle/>
          <a:p>
            <a:r>
              <a:rPr lang="en-US" sz="2000" b="1" dirty="0"/>
              <a:t>Model Bias</a:t>
            </a:r>
            <a:r>
              <a:rPr lang="en-US" sz="2000" dirty="0"/>
              <a:t>: the presence of systematic errors in a model that can cause it to consistently make incorrect predictions. These errors can arise due to: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Training Data </a:t>
            </a:r>
            <a:r>
              <a:rPr lang="en-US" sz="1600" dirty="0"/>
              <a:t>(small datasets, target imbalances, poor feature selection, etc.).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Algorithm</a:t>
            </a:r>
            <a:r>
              <a:rPr lang="en-US" sz="1600" dirty="0"/>
              <a:t> (low complexity algorithm, such as Linear Regression, poor hyperparameter selection, etc.).</a:t>
            </a:r>
          </a:p>
          <a:p>
            <a:r>
              <a:rPr lang="en-US" sz="2000" dirty="0"/>
              <a:t>Types of model bias: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Selection</a:t>
            </a:r>
            <a:r>
              <a:rPr lang="en-US" sz="1600" dirty="0"/>
              <a:t>: occurs when the training data is not representative of the population being modeled (e.g., dataset contains imbalanced classes).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Measurement</a:t>
            </a:r>
            <a:r>
              <a:rPr lang="en-US" sz="1600" dirty="0"/>
              <a:t>: occurs when the measurements used to train the model are inaccurate or imprecise (e.g., the use of accuracy score in imbalanced datasets).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Algorithmic</a:t>
            </a:r>
            <a:r>
              <a:rPr lang="en-US" sz="1600" dirty="0"/>
              <a:t>: the algorithm produces biased predictions due to inherent biases in the algorithm (e.g., assumes linear relationship between input-output pairs).</a:t>
            </a:r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AA518A98-7778-8261-B682-D30C2FBF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0A8D7A54-6D0E-CF34-3777-3CA13B11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28</a:t>
            </a:fld>
            <a:endParaRPr lang="en-US"/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CF02A891-DD4A-7467-30A5-901D10F69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887" y="4448175"/>
            <a:ext cx="2657816" cy="1908175"/>
          </a:xfrm>
          <a:prstGeom prst="rect">
            <a:avLst/>
          </a:prstGeom>
        </p:spPr>
      </p:pic>
      <p:grpSp>
        <p:nvGrpSpPr>
          <p:cNvPr id="13" name="Ομάδα 12">
            <a:extLst>
              <a:ext uri="{FF2B5EF4-FFF2-40B4-BE49-F238E27FC236}">
                <a16:creationId xmlns:a16="http://schemas.microsoft.com/office/drawing/2014/main" id="{41796727-FD71-C57F-3A95-6B00C54AC588}"/>
              </a:ext>
            </a:extLst>
          </p:cNvPr>
          <p:cNvGrpSpPr/>
          <p:nvPr/>
        </p:nvGrpSpPr>
        <p:grpSpPr>
          <a:xfrm>
            <a:off x="7839075" y="281870"/>
            <a:ext cx="2780685" cy="1859460"/>
            <a:chOff x="7839075" y="281870"/>
            <a:chExt cx="2780685" cy="1859460"/>
          </a:xfrm>
        </p:grpSpPr>
        <p:pic>
          <p:nvPicPr>
            <p:cNvPr id="11" name="Εικόνα 10">
              <a:extLst>
                <a:ext uri="{FF2B5EF4-FFF2-40B4-BE49-F238E27FC236}">
                  <a16:creationId xmlns:a16="http://schemas.microsoft.com/office/drawing/2014/main" id="{2849E22E-2FEC-154E-39D1-F2D72AAEE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4800" y="281870"/>
              <a:ext cx="2694960" cy="1859460"/>
            </a:xfrm>
            <a:prstGeom prst="rect">
              <a:avLst/>
            </a:prstGeom>
          </p:spPr>
        </p:pic>
        <p:sp>
          <p:nvSpPr>
            <p:cNvPr id="12" name="Ορθογώνιο 11">
              <a:extLst>
                <a:ext uri="{FF2B5EF4-FFF2-40B4-BE49-F238E27FC236}">
                  <a16:creationId xmlns:a16="http://schemas.microsoft.com/office/drawing/2014/main" id="{449A8C05-01ED-566B-3FAC-2F98DC2CF3A5}"/>
                </a:ext>
              </a:extLst>
            </p:cNvPr>
            <p:cNvSpPr/>
            <p:nvPr/>
          </p:nvSpPr>
          <p:spPr>
            <a:xfrm>
              <a:off x="7839075" y="281870"/>
              <a:ext cx="1333500" cy="832555"/>
            </a:xfrm>
            <a:prstGeom prst="rect">
              <a:avLst/>
            </a:prstGeom>
            <a:noFill/>
            <a:ln w="28575">
              <a:solidFill>
                <a:srgbClr val="4EA7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Ομάδα 15">
            <a:extLst>
              <a:ext uri="{FF2B5EF4-FFF2-40B4-BE49-F238E27FC236}">
                <a16:creationId xmlns:a16="http://schemas.microsoft.com/office/drawing/2014/main" id="{5D3CED2D-09D9-F210-B056-CCA7E6897254}"/>
              </a:ext>
            </a:extLst>
          </p:cNvPr>
          <p:cNvGrpSpPr/>
          <p:nvPr/>
        </p:nvGrpSpPr>
        <p:grpSpPr>
          <a:xfrm>
            <a:off x="8001042" y="2410262"/>
            <a:ext cx="2832109" cy="1921358"/>
            <a:chOff x="7962900" y="2413897"/>
            <a:chExt cx="2832109" cy="1921358"/>
          </a:xfrm>
        </p:grpSpPr>
        <p:pic>
          <p:nvPicPr>
            <p:cNvPr id="7170" name="Picture 2" descr="What is the Selection Bias? | Data Basecamp">
              <a:extLst>
                <a:ext uri="{FF2B5EF4-FFF2-40B4-BE49-F238E27FC236}">
                  <a16:creationId xmlns:a16="http://schemas.microsoft.com/office/drawing/2014/main" id="{4C0212AF-4F76-380C-5BBC-86B6FBC6A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2900" y="2427080"/>
              <a:ext cx="2755953" cy="1908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86286F-3F2A-91BC-1AC8-A92F8F9D2DDE}"/>
                </a:ext>
              </a:extLst>
            </p:cNvPr>
            <p:cNvSpPr txBox="1"/>
            <p:nvPr/>
          </p:nvSpPr>
          <p:spPr>
            <a:xfrm>
              <a:off x="9125193" y="2413897"/>
              <a:ext cx="16698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select mainly red…</a:t>
              </a:r>
            </a:p>
          </p:txBody>
        </p:sp>
      </p:grpSp>
      <p:grpSp>
        <p:nvGrpSpPr>
          <p:cNvPr id="19" name="Ομάδα 18">
            <a:extLst>
              <a:ext uri="{FF2B5EF4-FFF2-40B4-BE49-F238E27FC236}">
                <a16:creationId xmlns:a16="http://schemas.microsoft.com/office/drawing/2014/main" id="{1236D16B-73D6-2A68-563E-5C1A40E01D10}"/>
              </a:ext>
            </a:extLst>
          </p:cNvPr>
          <p:cNvGrpSpPr/>
          <p:nvPr/>
        </p:nvGrpSpPr>
        <p:grpSpPr>
          <a:xfrm>
            <a:off x="6362561" y="4425950"/>
            <a:ext cx="3314700" cy="2062830"/>
            <a:chOff x="6362561" y="4425950"/>
            <a:chExt cx="3314700" cy="2062830"/>
          </a:xfrm>
        </p:grpSpPr>
        <p:pic>
          <p:nvPicPr>
            <p:cNvPr id="7" name="Εικόνα 6">
              <a:extLst>
                <a:ext uri="{FF2B5EF4-FFF2-40B4-BE49-F238E27FC236}">
                  <a16:creationId xmlns:a16="http://schemas.microsoft.com/office/drawing/2014/main" id="{F3D85DCD-044C-A357-F0D5-1B25B68B0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62561" y="4425950"/>
              <a:ext cx="3314700" cy="206283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5E9E7F-F6CF-36FA-1A2C-9915E5D96F16}"/>
                </a:ext>
              </a:extLst>
            </p:cNvPr>
            <p:cNvSpPr txBox="1"/>
            <p:nvPr/>
          </p:nvSpPr>
          <p:spPr>
            <a:xfrm>
              <a:off x="8001042" y="4598847"/>
              <a:ext cx="13282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99% accuracy!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F113F2-3E5C-86B8-EFFD-C20829B6C695}"/>
                </a:ext>
              </a:extLst>
            </p:cNvPr>
            <p:cNvSpPr txBox="1"/>
            <p:nvPr/>
          </p:nvSpPr>
          <p:spPr>
            <a:xfrm>
              <a:off x="8019911" y="4817911"/>
              <a:ext cx="10516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poor recall </a:t>
              </a:r>
            </a:p>
            <a:p>
              <a:r>
                <a:rPr lang="en-US" sz="1400" dirty="0"/>
                <a:t>though…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894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3196F2A-A217-05CA-43D0-474BAEC3A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087"/>
            <a:ext cx="7105650" cy="1325563"/>
          </a:xfrm>
        </p:spPr>
        <p:txBody>
          <a:bodyPr/>
          <a:lstStyle/>
          <a:p>
            <a:r>
              <a:rPr lang="en-US" dirty="0"/>
              <a:t>Model Variance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5405044-8C5C-6BCE-E866-CCEE23B4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0"/>
            <a:ext cx="6494463" cy="4786313"/>
          </a:xfrm>
        </p:spPr>
        <p:txBody>
          <a:bodyPr>
            <a:normAutofit/>
          </a:bodyPr>
          <a:lstStyle/>
          <a:p>
            <a:r>
              <a:rPr lang="en-US" sz="2000" b="1" dirty="0"/>
              <a:t>Model Variance</a:t>
            </a:r>
            <a:r>
              <a:rPr lang="en-US" sz="2000" dirty="0"/>
              <a:t>: the variability or inconsistency of predictions made by a model. Alternatively, it measures how much the predictions of a machine learning model differ from one another when trained on different subsets of data.</a:t>
            </a:r>
          </a:p>
          <a:p>
            <a:r>
              <a:rPr lang="en-US" sz="2000" dirty="0"/>
              <a:t>To make accurate predictions, models need to generalize well to unseen data. Model variance becomes a potential concern when a model becomes too sensitive to the training data, resulting in predictions that are unstable or unreliable.</a:t>
            </a:r>
          </a:p>
          <a:p>
            <a:r>
              <a:rPr lang="en-US" sz="2000" dirty="0"/>
              <a:t>Variance types: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High Variance</a:t>
            </a:r>
            <a:r>
              <a:rPr lang="en-US" sz="1600" dirty="0"/>
              <a:t>: Small changes in the input result in completely different output (High complexity).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Small Variance</a:t>
            </a:r>
            <a:r>
              <a:rPr lang="en-US" sz="1600" dirty="0"/>
              <a:t>: Small changes in the input result in similar or same output (Low complexity)</a:t>
            </a:r>
          </a:p>
          <a:p>
            <a:endParaRPr lang="en-US" sz="200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EAC2E619-0565-12AB-2EB4-19843765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C03C7F57-B5DE-078A-FC78-45C9A821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29</a:t>
            </a:fld>
            <a:endParaRPr lang="en-US"/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31633787-420E-BE83-BB22-1FBFE64C8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788" y="3486813"/>
            <a:ext cx="4859337" cy="305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Ομάδα 8">
            <a:extLst>
              <a:ext uri="{FF2B5EF4-FFF2-40B4-BE49-F238E27FC236}">
                <a16:creationId xmlns:a16="http://schemas.microsoft.com/office/drawing/2014/main" id="{883FA53D-D1D3-AB05-75BB-0AB552983A30}"/>
              </a:ext>
            </a:extLst>
          </p:cNvPr>
          <p:cNvGrpSpPr/>
          <p:nvPr/>
        </p:nvGrpSpPr>
        <p:grpSpPr>
          <a:xfrm>
            <a:off x="8244127" y="200375"/>
            <a:ext cx="2985848" cy="3228625"/>
            <a:chOff x="8244127" y="200375"/>
            <a:chExt cx="2985848" cy="3228625"/>
          </a:xfrm>
        </p:grpSpPr>
        <p:pic>
          <p:nvPicPr>
            <p:cNvPr id="7" name="Εικόνα 6">
              <a:extLst>
                <a:ext uri="{FF2B5EF4-FFF2-40B4-BE49-F238E27FC236}">
                  <a16:creationId xmlns:a16="http://schemas.microsoft.com/office/drawing/2014/main" id="{BCA60C2D-C052-69BC-542A-6CA18524E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44127" y="200375"/>
              <a:ext cx="2985848" cy="3228625"/>
            </a:xfrm>
            <a:prstGeom prst="rect">
              <a:avLst/>
            </a:prstGeom>
          </p:spPr>
        </p:pic>
        <p:sp>
          <p:nvSpPr>
            <p:cNvPr id="8" name="Ορθογώνιο 7">
              <a:extLst>
                <a:ext uri="{FF2B5EF4-FFF2-40B4-BE49-F238E27FC236}">
                  <a16:creationId xmlns:a16="http://schemas.microsoft.com/office/drawing/2014/main" id="{F4A679C0-2FA2-EE2E-D127-123B3789F485}"/>
                </a:ext>
              </a:extLst>
            </p:cNvPr>
            <p:cNvSpPr/>
            <p:nvPr/>
          </p:nvSpPr>
          <p:spPr>
            <a:xfrm>
              <a:off x="8610600" y="428625"/>
              <a:ext cx="1304925" cy="1228725"/>
            </a:xfrm>
            <a:prstGeom prst="rect">
              <a:avLst/>
            </a:prstGeom>
            <a:noFill/>
            <a:ln w="28575">
              <a:solidFill>
                <a:srgbClr val="4EA7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6522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90EE-7223-F03E-E078-EFB97722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4722CF-E3A1-6C02-23E7-213CFB785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39AF8FCE-89C2-D810-BA56-DC8F238FF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  <a:p>
            <a:endParaRPr lang="en-US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6E749B5-B320-1AA1-1760-566CE6B2E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Βασίλειος Κοχλιαρίδης</a:t>
            </a:r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108868B2-9FE7-07BC-FA61-1F84DE65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1919-B5C6-4827-8B15-372F46BB402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8188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2998</Words>
  <Application>Microsoft Office PowerPoint</Application>
  <PresentationFormat>Ευρεία οθόνη</PresentationFormat>
  <Paragraphs>333</Paragraphs>
  <Slides>30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Wingdings</vt:lpstr>
      <vt:lpstr>Θέμα του Office</vt:lpstr>
      <vt:lpstr>Machine Learning</vt:lpstr>
      <vt:lpstr>Machine Learning Pipeline</vt:lpstr>
      <vt:lpstr>Improved Machine Learning Pipeline</vt:lpstr>
      <vt:lpstr>Holdout Procedure</vt:lpstr>
      <vt:lpstr>Repeated Holdout</vt:lpstr>
      <vt:lpstr>Hyperparameter Optimization</vt:lpstr>
      <vt:lpstr>Cross Validation (CV)</vt:lpstr>
      <vt:lpstr>Leave-One-Out</vt:lpstr>
      <vt:lpstr>K-Fold Cross Validation</vt:lpstr>
      <vt:lpstr>Stratified K-Fold Cross Validation</vt:lpstr>
      <vt:lpstr>Classification Metrics</vt:lpstr>
      <vt:lpstr>Confusion Matrix</vt:lpstr>
      <vt:lpstr>Accuracy</vt:lpstr>
      <vt:lpstr>Precision-Recall</vt:lpstr>
      <vt:lpstr>F1-Score</vt:lpstr>
      <vt:lpstr>Regression Metrics</vt:lpstr>
      <vt:lpstr>Mean Squared Error (MSE)</vt:lpstr>
      <vt:lpstr>Root Mean Squared Error (RMSE)</vt:lpstr>
      <vt:lpstr>Mean Absolute Error (MAE)</vt:lpstr>
      <vt:lpstr>Παραλλαγές MAE</vt:lpstr>
      <vt:lpstr>R^2 Metric</vt:lpstr>
      <vt:lpstr>Quantile Loss (Pinball Loss)</vt:lpstr>
      <vt:lpstr>Loss vs Metric</vt:lpstr>
      <vt:lpstr>Correlation</vt:lpstr>
      <vt:lpstr>Τύποι Correlation</vt:lpstr>
      <vt:lpstr>Chatterjee Correlation</vt:lpstr>
      <vt:lpstr>Imbalanced Targets</vt:lpstr>
      <vt:lpstr>Model Bias</vt:lpstr>
      <vt:lpstr>Model Variance</vt:lpstr>
      <vt:lpstr>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Vasileios Kochliaridis</dc:creator>
  <cp:lastModifiedBy>Vasileios Kochliaridis</cp:lastModifiedBy>
  <cp:revision>27</cp:revision>
  <dcterms:created xsi:type="dcterms:W3CDTF">2025-10-22T08:27:29Z</dcterms:created>
  <dcterms:modified xsi:type="dcterms:W3CDTF">2025-11-07T09:56:51Z</dcterms:modified>
</cp:coreProperties>
</file>