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30A60-9F27-45DE-B3FF-6FED78C0B78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D0BC5-7E34-479F-BCCD-B938F08F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312015F-E015-1432-A426-FAF416729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C7F010A-6C87-C38D-4EFF-536B46644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D8A0465-520B-1461-3B7E-7E397C9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DEC4-8F95-460B-A19E-442291714689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823C487-A1B8-66FB-73A3-FEC99D53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161CA70-95D2-C477-8F33-C0206D7F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3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AA38194-1352-F3E9-91D0-CF5016B77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206C5A8-9C75-C777-4094-1847DD37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685BA3C-A05A-E37D-0C95-B4E177B7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4461-682C-4C45-958E-3787D4F6F77E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8727B6C-27BC-3554-E5A7-B4833CC8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A7576BB-F71D-19BC-5F30-40F7C38A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0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96B0DC-47DC-3E10-7AF3-0F42E2E1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F1E8F04F-AB92-52A7-1123-241CEF140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6B4AC57-08C0-B395-6DFA-6E2E934F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A8AAE-ED8D-4C43-9357-230A46D65F9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8484E30-1745-7BE7-40D1-C49AB62F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8EA5CA2-7E4A-8FA5-346B-E5AF33DC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4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30891D-0C63-08F6-887A-7CE534D7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3948A50-B127-DECD-2D5C-565B63112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85946B5-6C6F-B5AC-2665-EDF77BB0F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D44F29C-1958-8E2F-5AC2-FDDB6CCB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26F7-1129-4478-BD90-DCE03439611B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AC963D9-4693-0555-4407-E30B1DBD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F41B804-9CDC-9E69-23F2-2E6B73B1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1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800D53E-529E-7525-F23C-2559301E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3E7D8D3-2E14-83AB-6832-EF211A731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6D13334-E3C7-B0FD-0A15-45137365D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A0FD7CAD-2677-302D-1D09-4B1A5624F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D468BAC3-C956-1C54-82C8-A8C1BA5D4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CBC1F101-FB1D-3255-2B2C-720F67F1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4C89D-78CB-4FC1-82B9-9D5F693679E0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09B026FB-50D1-D625-E9A5-97939B7A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997A5240-12F4-17AD-7294-9BB063CA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5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5151EC-D2AC-3D01-AC7C-7BCEA34A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21836EA9-C5F0-924B-3D24-367C379D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237E-0D70-454D-AE0F-7B46F8460E91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9BF0C04-2A17-F31F-1BAD-CE6CD044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1486B01-7FEC-BA2F-C306-4E9975C9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1AB33B7A-82AB-FDA5-1C03-303624FD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A303-3230-4C2A-8CE1-81095E4A2C4D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55131510-6EAC-D7E2-A512-2E45C3FA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E3A2F19-E7FF-FC42-B7D9-33FA9774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6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ED44D5F-1CE4-9E2B-20D3-5C2DE25F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6A1E3F5-C77A-CFA0-DCDD-4B17FDC1F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4508C8D-E6BF-E8E3-0CAA-F00512B53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38C1C22-4250-FFD9-6054-6E2FEFFF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7BD5-1455-4BC1-8F3B-614101CE12E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EDF50E43-9A0A-D7D0-6C7E-5D147052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F562431-5599-2079-0F0A-1CC77F3B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0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AFFDF09-208D-0658-5DD9-F35989C1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3A2C8C72-55C4-A20C-D107-48E3FAEB5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CCEE5D6E-B0A8-8953-C186-6A007974F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2AC3B6A-0797-CB92-C795-5C1A9BA8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4B21-D9DF-413B-9A05-E75DF6DCD8C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CBDB3D3-464C-98DF-01E4-EEAB53AC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35921E0-3EDC-5236-F0A9-D17E3B2C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6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86272DC-11FC-EB41-3E9A-01088FAA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C0D087F2-37C4-83A3-4A53-7C11F8990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F505AA4-8136-682C-E43F-0F94137B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898E-1A12-4FBB-95EC-4123DE9E12FC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D463520-FA24-BE99-B351-88175B92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33519C9-05D0-E903-BF21-71A9FEB0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09B3464-8A82-6529-4E37-19FF045F3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CF4B0A5-767A-791E-EB4B-D47C5EAC9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D4A3C4D-57C7-9542-C622-A0C82227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C849-688F-4EA4-B55A-49B527D6837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4BDC32B-FE20-CE36-8092-0A85332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0CD8B72-6C6E-22F4-7518-2F83396D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5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511AEFB0-657F-0B22-B12E-91D0D34C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8D759F5-E9BE-781C-8290-7B3485D7C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94F85C9-6C9E-C4C8-2AA0-8185FD39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C7B4F-3B0F-4D47-84BE-64CB7BA95A1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B1E34AF-1B13-7C9F-E1CC-DDC7B16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52472DB-E7B8-927F-B5DF-1266888FA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3CA0C-4410-4CBD-8186-C910D8073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B561DBF-67A4-61D9-B56D-90518E42C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4194314-9191-2D58-DB8B-B62773EAF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Decision Trees &amp; Random Forests Notes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0F10EAF-F498-AB74-56DF-9790A16C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1DDC1CC-77EB-4222-B420-3FC03525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81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4DC75B-5AC2-9F62-A6FF-8BD1A424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993"/>
            <a:ext cx="10515600" cy="1325563"/>
          </a:xfrm>
        </p:spPr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8059613-0741-E638-43CF-017B8A322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50"/>
            <a:ext cx="5667375" cy="455771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Decision Trees (DT) are models in the form of a binary tree.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In binary trees, each node is split into 2 nodes.</a:t>
            </a:r>
          </a:p>
          <a:p>
            <a:r>
              <a:rPr lang="en-US" sz="2000" dirty="0"/>
              <a:t>They are used to extract relationships (</a:t>
            </a:r>
            <a:r>
              <a:rPr lang="en-US" sz="2000" b="1" dirty="0"/>
              <a:t>rules</a:t>
            </a:r>
            <a:r>
              <a:rPr lang="en-US" sz="2000" dirty="0"/>
              <a:t>) between different variables and make decisions (classification/regression).</a:t>
            </a:r>
          </a:p>
          <a:p>
            <a:r>
              <a:rPr lang="en-US" sz="2000" dirty="0"/>
              <a:t>Alternatively, it can be represented as a set of rules: </a:t>
            </a:r>
            <a:r>
              <a:rPr lang="en-US" sz="2000" b="1" dirty="0"/>
              <a:t>if-then</a:t>
            </a:r>
            <a:r>
              <a:rPr lang="en-US" sz="2000" dirty="0"/>
              <a:t>. </a:t>
            </a:r>
          </a:p>
          <a:p>
            <a:r>
              <a:rPr lang="en-US" sz="2000" dirty="0"/>
              <a:t>Advantages: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Work even with missing values (linear/logistic regression cannot work with missing values).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Accept both numerical and categorical values.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Interpretable models!</a:t>
            </a:r>
          </a:p>
          <a:p>
            <a:r>
              <a:rPr lang="en-US" sz="2000" u="sng" dirty="0"/>
              <a:t>Applications</a:t>
            </a:r>
            <a:r>
              <a:rPr lang="en-US" sz="2000" dirty="0"/>
              <a:t>: Medical Research, Finance, Business Modeling, Operation Analysis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0C6B7F4-5DDA-62E7-52F1-C770790C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/>
              <a:t>Βασίλειος Κοχλιαρίδης</a:t>
            </a:r>
            <a:endParaRPr lang="en-US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33B6B01-70D5-7AE3-B478-AF6DDAEB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2</a:t>
            </a:fld>
            <a:endParaRPr lang="en-US"/>
          </a:p>
        </p:txBody>
      </p: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F12ACB3D-6DDF-36C6-FF80-502028725AB8}"/>
              </a:ext>
            </a:extLst>
          </p:cNvPr>
          <p:cNvGrpSpPr/>
          <p:nvPr/>
        </p:nvGrpSpPr>
        <p:grpSpPr>
          <a:xfrm>
            <a:off x="6429375" y="1994849"/>
            <a:ext cx="5667375" cy="3474422"/>
            <a:chOff x="6429375" y="1994849"/>
            <a:chExt cx="5667375" cy="3474422"/>
          </a:xfrm>
        </p:grpSpPr>
        <p:pic>
          <p:nvPicPr>
            <p:cNvPr id="1026" name="Picture 2" descr="How Decision Tree Algorithm works">
              <a:extLst>
                <a:ext uri="{FF2B5EF4-FFF2-40B4-BE49-F238E27FC236}">
                  <a16:creationId xmlns:a16="http://schemas.microsoft.com/office/drawing/2014/main" id="{8B1DFFB3-EA52-F90C-68C2-5EE609BCE5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9375" y="1994849"/>
              <a:ext cx="5667375" cy="312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B7B92C-6D99-133D-1EFA-A2A58D3449AA}"/>
                </a:ext>
              </a:extLst>
            </p:cNvPr>
            <p:cNvSpPr txBox="1"/>
            <p:nvPr/>
          </p:nvSpPr>
          <p:spPr>
            <a:xfrm>
              <a:off x="9263062" y="5130717"/>
              <a:ext cx="22470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Labels: Accept/Decline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886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F0CD058-6522-57A9-CD88-1B28E0AC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Decision Tree Structure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4035A87-6669-5D99-966E-D0ED5609E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57950" cy="4530725"/>
          </a:xfrm>
        </p:spPr>
        <p:txBody>
          <a:bodyPr>
            <a:normAutofit/>
          </a:bodyPr>
          <a:lstStyle/>
          <a:p>
            <a:pPr lvl="1"/>
            <a:r>
              <a:rPr lang="en-US" sz="2000" b="1" dirty="0"/>
              <a:t>Root</a:t>
            </a:r>
            <a:r>
              <a:rPr lang="en-US" sz="2000" dirty="0"/>
              <a:t>: The root (initial) node of the tree. The most important node of the tree that determines how the dataset should split initially.</a:t>
            </a:r>
          </a:p>
          <a:p>
            <a:pPr lvl="1"/>
            <a:r>
              <a:rPr lang="en-US" sz="2000" b="1" dirty="0"/>
              <a:t>Nodes: </a:t>
            </a:r>
            <a:r>
              <a:rPr lang="en-US" sz="2000" dirty="0"/>
              <a:t>Represent the conditions (rules) that decide how the dataset will be split. The split is based on a selected feature.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At each node, the tree tries to select the best possible feature.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Each split results in the construction of sub-trees.</a:t>
            </a:r>
          </a:p>
          <a:p>
            <a:pPr lvl="1"/>
            <a:r>
              <a:rPr lang="en-US" sz="2000" b="1" dirty="0"/>
              <a:t>Branch: </a:t>
            </a:r>
            <a:r>
              <a:rPr lang="en-US" sz="2000" dirty="0"/>
              <a:t>The outcome of a rule which leads to another node.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Each dataset split forms a new rule.</a:t>
            </a:r>
          </a:p>
          <a:p>
            <a:pPr lvl="1"/>
            <a:r>
              <a:rPr lang="en-US" sz="2000" b="1" dirty="0"/>
              <a:t>Leaf: </a:t>
            </a:r>
            <a:r>
              <a:rPr lang="en-US" sz="2000" dirty="0"/>
              <a:t>Represent the final decision of the tree.</a:t>
            </a:r>
            <a:endParaRPr lang="en-US" sz="2000" b="1" dirty="0"/>
          </a:p>
          <a:p>
            <a:endParaRPr lang="en-US" sz="24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F31C0B1-5C72-A378-BA8D-6A0AA91E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252D5C1-DAE6-160B-AA96-12A0B291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3</a:t>
            </a:fld>
            <a:endParaRPr lang="en-US"/>
          </a:p>
        </p:txBody>
      </p:sp>
      <p:grpSp>
        <p:nvGrpSpPr>
          <p:cNvPr id="11" name="Ομάδα 10">
            <a:extLst>
              <a:ext uri="{FF2B5EF4-FFF2-40B4-BE49-F238E27FC236}">
                <a16:creationId xmlns:a16="http://schemas.microsoft.com/office/drawing/2014/main" id="{7023DA8E-9515-0E70-7596-EA15B01F3EDF}"/>
              </a:ext>
            </a:extLst>
          </p:cNvPr>
          <p:cNvGrpSpPr/>
          <p:nvPr/>
        </p:nvGrpSpPr>
        <p:grpSpPr>
          <a:xfrm>
            <a:off x="7666147" y="2051585"/>
            <a:ext cx="4326364" cy="3715268"/>
            <a:chOff x="7666147" y="2051585"/>
            <a:chExt cx="4326364" cy="3715268"/>
          </a:xfrm>
        </p:grpSpPr>
        <p:pic>
          <p:nvPicPr>
            <p:cNvPr id="7" name="Εικόνα 6">
              <a:extLst>
                <a:ext uri="{FF2B5EF4-FFF2-40B4-BE49-F238E27FC236}">
                  <a16:creationId xmlns:a16="http://schemas.microsoft.com/office/drawing/2014/main" id="{E4E0A12C-507A-D894-23DE-3FF0453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3400" y="2051585"/>
              <a:ext cx="3839111" cy="371526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2A361F-97D2-CF1D-786A-A7035180135A}"/>
                </a:ext>
              </a:extLst>
            </p:cNvPr>
            <p:cNvSpPr txBox="1"/>
            <p:nvPr/>
          </p:nvSpPr>
          <p:spPr>
            <a:xfrm>
              <a:off x="7666147" y="2938343"/>
              <a:ext cx="7371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Branch</a:t>
              </a:r>
            </a:p>
          </p:txBody>
        </p:sp>
        <p:sp>
          <p:nvSpPr>
            <p:cNvPr id="10" name="Ορθογώνιο 9">
              <a:extLst>
                <a:ext uri="{FF2B5EF4-FFF2-40B4-BE49-F238E27FC236}">
                  <a16:creationId xmlns:a16="http://schemas.microsoft.com/office/drawing/2014/main" id="{C1559FBD-9B98-F75A-5DDD-DEDAF7681F3B}"/>
                </a:ext>
              </a:extLst>
            </p:cNvPr>
            <p:cNvSpPr/>
            <p:nvPr/>
          </p:nvSpPr>
          <p:spPr>
            <a:xfrm>
              <a:off x="8403336" y="2051585"/>
              <a:ext cx="2651760" cy="1450567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9452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CEF6BE1-09B1-7E81-8A3C-A7C5835D7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Decision Tree Example in Diabetes Dataset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309D9C7-66D8-5A80-9AED-AC3701F6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9B4B10C-12F7-7594-9FFC-F8D7BD2E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4</a:t>
            </a:fld>
            <a:endParaRPr lang="en-US"/>
          </a:p>
        </p:txBody>
      </p:sp>
      <p:grpSp>
        <p:nvGrpSpPr>
          <p:cNvPr id="6" name="Ομάδα 5">
            <a:extLst>
              <a:ext uri="{FF2B5EF4-FFF2-40B4-BE49-F238E27FC236}">
                <a16:creationId xmlns:a16="http://schemas.microsoft.com/office/drawing/2014/main" id="{082AC72E-1B92-EC18-1BF4-30ED1ED6A0F9}"/>
              </a:ext>
            </a:extLst>
          </p:cNvPr>
          <p:cNvGrpSpPr/>
          <p:nvPr/>
        </p:nvGrpSpPr>
        <p:grpSpPr>
          <a:xfrm>
            <a:off x="452671" y="1681544"/>
            <a:ext cx="11286657" cy="4143184"/>
            <a:chOff x="406397" y="2431552"/>
            <a:chExt cx="11086827" cy="4069829"/>
          </a:xfrm>
        </p:grpSpPr>
        <p:grpSp>
          <p:nvGrpSpPr>
            <p:cNvPr id="7" name="Ομάδα 6">
              <a:extLst>
                <a:ext uri="{FF2B5EF4-FFF2-40B4-BE49-F238E27FC236}">
                  <a16:creationId xmlns:a16="http://schemas.microsoft.com/office/drawing/2014/main" id="{D7321CE3-CED5-71B5-2A52-306EAADE5394}"/>
                </a:ext>
              </a:extLst>
            </p:cNvPr>
            <p:cNvGrpSpPr/>
            <p:nvPr/>
          </p:nvGrpSpPr>
          <p:grpSpPr>
            <a:xfrm>
              <a:off x="2340356" y="2431552"/>
              <a:ext cx="6987162" cy="4017457"/>
              <a:chOff x="2340356" y="2431552"/>
              <a:chExt cx="6987162" cy="4017457"/>
            </a:xfrm>
          </p:grpSpPr>
          <p:pic>
            <p:nvPicPr>
              <p:cNvPr id="12" name="Picture 2" descr="Decision Trees in Python: Predicting Diabetes - Statistically Relevant">
                <a:extLst>
                  <a:ext uri="{FF2B5EF4-FFF2-40B4-BE49-F238E27FC236}">
                    <a16:creationId xmlns:a16="http://schemas.microsoft.com/office/drawing/2014/main" id="{31A6A651-C11A-F606-1916-623A167F7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40356" y="2431552"/>
                <a:ext cx="6987162" cy="37004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15DF02-38E3-36C6-8B7D-7E5029E55827}"/>
                  </a:ext>
                </a:extLst>
              </p:cNvPr>
              <p:cNvSpPr txBox="1"/>
              <p:nvPr/>
            </p:nvSpPr>
            <p:spPr>
              <a:xfrm>
                <a:off x="4471797" y="2843784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root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345B7F-6D90-FD4F-247F-9D7969E8E085}"/>
                  </a:ext>
                </a:extLst>
              </p:cNvPr>
              <p:cNvSpPr txBox="1"/>
              <p:nvPr/>
            </p:nvSpPr>
            <p:spPr>
              <a:xfrm>
                <a:off x="3544628" y="3571192"/>
                <a:ext cx="729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Node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FE8704-83A7-DCC3-0FE3-BA65AB3571DC}"/>
                  </a:ext>
                </a:extLst>
              </p:cNvPr>
              <p:cNvSpPr txBox="1"/>
              <p:nvPr/>
            </p:nvSpPr>
            <p:spPr>
              <a:xfrm>
                <a:off x="5545990" y="3450997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Branch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946F66-4AB8-526E-18B0-D585CA777D70}"/>
                  </a:ext>
                </a:extLst>
              </p:cNvPr>
              <p:cNvSpPr txBox="1"/>
              <p:nvPr/>
            </p:nvSpPr>
            <p:spPr>
              <a:xfrm>
                <a:off x="2653150" y="6079677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Leaf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5DD86E-D71B-8B04-3318-73872FAE29C3}"/>
                </a:ext>
              </a:extLst>
            </p:cNvPr>
            <p:cNvSpPr txBox="1"/>
            <p:nvPr/>
          </p:nvSpPr>
          <p:spPr>
            <a:xfrm>
              <a:off x="3788228" y="6132049"/>
              <a:ext cx="5873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Decision Tree of Depth 3 in diabetes classification task.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E30344-56E3-E43D-8215-B4F8C32781DC}"/>
                </a:ext>
              </a:extLst>
            </p:cNvPr>
            <p:cNvSpPr txBox="1"/>
            <p:nvPr/>
          </p:nvSpPr>
          <p:spPr>
            <a:xfrm>
              <a:off x="7097918" y="2757916"/>
              <a:ext cx="4395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If glucose &lt;= 127.5 then LEFT else RIGHT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2F9F03-CB1F-8FCE-208E-0A287D46702E}"/>
                </a:ext>
              </a:extLst>
            </p:cNvPr>
            <p:cNvSpPr txBox="1"/>
            <p:nvPr/>
          </p:nvSpPr>
          <p:spPr>
            <a:xfrm>
              <a:off x="406397" y="4125190"/>
              <a:ext cx="3867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If Age &lt;= 28.5 then LEFT else RIGHT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CE36CF-DB6D-F50A-3F1C-88E9E5C883F0}"/>
                </a:ext>
              </a:extLst>
            </p:cNvPr>
            <p:cNvSpPr txBox="1"/>
            <p:nvPr/>
          </p:nvSpPr>
          <p:spPr>
            <a:xfrm>
              <a:off x="7625306" y="4075650"/>
              <a:ext cx="3861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If BMI &lt;= 28.5 then LEFT else RIGHT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962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5062AE-0056-B206-8320-59052383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677"/>
            <a:ext cx="10515600" cy="1325563"/>
          </a:xfrm>
        </p:spPr>
        <p:txBody>
          <a:bodyPr/>
          <a:lstStyle/>
          <a:p>
            <a:r>
              <a:rPr lang="en-US" dirty="0"/>
              <a:t>Dataset Splits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45CA3FC-437A-5767-B014-BFEC9749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9E15B72-150B-6152-D95D-AF8ABDA2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5</a:t>
            </a:fld>
            <a:endParaRPr lang="en-US"/>
          </a:p>
        </p:txBody>
      </p:sp>
      <p:sp>
        <p:nvSpPr>
          <p:cNvPr id="14" name="Θέση περιεχομένου 2">
            <a:extLst>
              <a:ext uri="{FF2B5EF4-FFF2-40B4-BE49-F238E27FC236}">
                <a16:creationId xmlns:a16="http://schemas.microsoft.com/office/drawing/2014/main" id="{2C5AA2D1-D1A4-039C-0C46-54D8D0ED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1495768"/>
            <a:ext cx="10180320" cy="8012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dirty="0"/>
              <a:t>Each time a new branch is formed, a feature is selected, and the dataset is split. In this example, the dataset is split between sub-trees where </a:t>
            </a:r>
            <a:r>
              <a:rPr lang="en-US" sz="2000" i="1" u="sng" dirty="0"/>
              <a:t>Weather </a:t>
            </a:r>
            <a:r>
              <a:rPr lang="en-US" sz="2000" u="sng" dirty="0"/>
              <a:t>is </a:t>
            </a:r>
            <a:r>
              <a:rPr lang="en-US" sz="2000" i="1" u="sng" dirty="0"/>
              <a:t>Sunny </a:t>
            </a:r>
            <a:r>
              <a:rPr lang="en-US" sz="2000" b="1" u="sng" dirty="0"/>
              <a:t>and</a:t>
            </a:r>
            <a:r>
              <a:rPr lang="en-US" sz="2000" u="sng" dirty="0"/>
              <a:t> </a:t>
            </a:r>
            <a:r>
              <a:rPr lang="en-US" sz="2000" i="1" u="sng" dirty="0"/>
              <a:t>Weather </a:t>
            </a:r>
            <a:r>
              <a:rPr lang="en-US" sz="2000" u="sng" dirty="0"/>
              <a:t>is </a:t>
            </a:r>
            <a:r>
              <a:rPr lang="en-US" sz="2000" i="1" u="sng" dirty="0"/>
              <a:t>Rainy</a:t>
            </a:r>
            <a:endParaRPr lang="en-US" sz="2000" u="sng" dirty="0"/>
          </a:p>
        </p:txBody>
      </p:sp>
      <p:grpSp>
        <p:nvGrpSpPr>
          <p:cNvPr id="21" name="Ομάδα 20">
            <a:extLst>
              <a:ext uri="{FF2B5EF4-FFF2-40B4-BE49-F238E27FC236}">
                <a16:creationId xmlns:a16="http://schemas.microsoft.com/office/drawing/2014/main" id="{12D0E024-1CAC-66D9-E8F2-394B6C5F3CA2}"/>
              </a:ext>
            </a:extLst>
          </p:cNvPr>
          <p:cNvGrpSpPr/>
          <p:nvPr/>
        </p:nvGrpSpPr>
        <p:grpSpPr>
          <a:xfrm>
            <a:off x="691079" y="2296975"/>
            <a:ext cx="10809842" cy="4059375"/>
            <a:chOff x="691079" y="2296975"/>
            <a:chExt cx="10809842" cy="4059375"/>
          </a:xfrm>
        </p:grpSpPr>
        <p:grpSp>
          <p:nvGrpSpPr>
            <p:cNvPr id="7" name="Ομάδα 6">
              <a:extLst>
                <a:ext uri="{FF2B5EF4-FFF2-40B4-BE49-F238E27FC236}">
                  <a16:creationId xmlns:a16="http://schemas.microsoft.com/office/drawing/2014/main" id="{7ED49CEC-32DE-671C-1D99-CD01E09BB7C1}"/>
                </a:ext>
              </a:extLst>
            </p:cNvPr>
            <p:cNvGrpSpPr/>
            <p:nvPr/>
          </p:nvGrpSpPr>
          <p:grpSpPr>
            <a:xfrm>
              <a:off x="691079" y="2296975"/>
              <a:ext cx="10809842" cy="3671653"/>
              <a:chOff x="854798" y="2460396"/>
              <a:chExt cx="10809842" cy="3671653"/>
            </a:xfrm>
          </p:grpSpPr>
          <p:pic>
            <p:nvPicPr>
              <p:cNvPr id="9" name="Εικόνα 8">
                <a:extLst>
                  <a:ext uri="{FF2B5EF4-FFF2-40B4-BE49-F238E27FC236}">
                    <a16:creationId xmlns:a16="http://schemas.microsoft.com/office/drawing/2014/main" id="{0E967A62-0CEA-F549-4DCF-81EF5259B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4798" y="2460396"/>
                <a:ext cx="4528878" cy="3671653"/>
              </a:xfrm>
              <a:prstGeom prst="rect">
                <a:avLst/>
              </a:prstGeom>
            </p:spPr>
          </p:pic>
          <p:pic>
            <p:nvPicPr>
              <p:cNvPr id="10" name="Εικόνα 9">
                <a:extLst>
                  <a:ext uri="{FF2B5EF4-FFF2-40B4-BE49-F238E27FC236}">
                    <a16:creationId xmlns:a16="http://schemas.microsoft.com/office/drawing/2014/main" id="{26F429B1-ADE2-C09B-3748-4DE8EB9C7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3579" y="2929193"/>
                <a:ext cx="5811061" cy="2734057"/>
              </a:xfrm>
              <a:prstGeom prst="rect">
                <a:avLst/>
              </a:prstGeom>
            </p:spPr>
          </p:pic>
          <p:sp>
            <p:nvSpPr>
              <p:cNvPr id="11" name="Ορθογώνιο: Στρογγύλεμα γωνιών 10">
                <a:extLst>
                  <a:ext uri="{FF2B5EF4-FFF2-40B4-BE49-F238E27FC236}">
                    <a16:creationId xmlns:a16="http://schemas.microsoft.com/office/drawing/2014/main" id="{A08C71C4-33B4-8655-2E44-A4077347B55C}"/>
                  </a:ext>
                </a:extLst>
              </p:cNvPr>
              <p:cNvSpPr/>
              <p:nvPr/>
            </p:nvSpPr>
            <p:spPr>
              <a:xfrm>
                <a:off x="982980" y="3516181"/>
                <a:ext cx="4274820" cy="296867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Ορθογώνιο: Στρογγύλεμα γωνιών 11">
                <a:extLst>
                  <a:ext uri="{FF2B5EF4-FFF2-40B4-BE49-F238E27FC236}">
                    <a16:creationId xmlns:a16="http://schemas.microsoft.com/office/drawing/2014/main" id="{B694B1A7-EE56-1F29-1C74-54376485D673}"/>
                  </a:ext>
                </a:extLst>
              </p:cNvPr>
              <p:cNvSpPr/>
              <p:nvPr/>
            </p:nvSpPr>
            <p:spPr>
              <a:xfrm>
                <a:off x="982980" y="5076757"/>
                <a:ext cx="4274820" cy="296867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Ευθύγραμμο βέλος σύνδεσης 12">
                <a:extLst>
                  <a:ext uri="{FF2B5EF4-FFF2-40B4-BE49-F238E27FC236}">
                    <a16:creationId xmlns:a16="http://schemas.microsoft.com/office/drawing/2014/main" id="{5B1D5BA3-91C2-121E-7FC7-AD0A9EA823AF}"/>
                  </a:ext>
                </a:extLst>
              </p:cNvPr>
              <p:cNvCxnSpPr/>
              <p:nvPr/>
            </p:nvCxnSpPr>
            <p:spPr>
              <a:xfrm flipH="1">
                <a:off x="6958584" y="3516181"/>
                <a:ext cx="1014984" cy="43402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ED0CE9-A446-DF66-9332-45690F7BD279}"/>
                </a:ext>
              </a:extLst>
            </p:cNvPr>
            <p:cNvSpPr txBox="1"/>
            <p:nvPr/>
          </p:nvSpPr>
          <p:spPr>
            <a:xfrm>
              <a:off x="3923649" y="5987018"/>
              <a:ext cx="5716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Question</a:t>
              </a:r>
              <a:r>
                <a:rPr lang="en-US" dirty="0"/>
                <a:t>: Which node should be selected as the root?</a:t>
              </a:r>
            </a:p>
          </p:txBody>
        </p:sp>
        <p:sp>
          <p:nvSpPr>
            <p:cNvPr id="16" name="Ορθογώνιο 15">
              <a:extLst>
                <a:ext uri="{FF2B5EF4-FFF2-40B4-BE49-F238E27FC236}">
                  <a16:creationId xmlns:a16="http://schemas.microsoft.com/office/drawing/2014/main" id="{80F97846-4BC3-8BDC-E4EC-6BB424E79989}"/>
                </a:ext>
              </a:extLst>
            </p:cNvPr>
            <p:cNvSpPr/>
            <p:nvPr/>
          </p:nvSpPr>
          <p:spPr>
            <a:xfrm>
              <a:off x="5769864" y="3918024"/>
              <a:ext cx="1682496" cy="1450567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Ορθογώνιο 16">
              <a:extLst>
                <a:ext uri="{FF2B5EF4-FFF2-40B4-BE49-F238E27FC236}">
                  <a16:creationId xmlns:a16="http://schemas.microsoft.com/office/drawing/2014/main" id="{59DCAC3E-7416-88CD-17F6-F7BEF939AD88}"/>
                </a:ext>
              </a:extLst>
            </p:cNvPr>
            <p:cNvSpPr/>
            <p:nvPr/>
          </p:nvSpPr>
          <p:spPr>
            <a:xfrm>
              <a:off x="9479280" y="3918024"/>
              <a:ext cx="1682496" cy="1450567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446F6A-F270-6277-BB48-497AF68BDE5D}"/>
                </a:ext>
              </a:extLst>
            </p:cNvPr>
            <p:cNvSpPr txBox="1"/>
            <p:nvPr/>
          </p:nvSpPr>
          <p:spPr>
            <a:xfrm>
              <a:off x="7441254" y="4753992"/>
              <a:ext cx="9709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sub-tree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5C65ED-9760-45BB-9D7E-C1D4763A31BE}"/>
                </a:ext>
              </a:extLst>
            </p:cNvPr>
            <p:cNvSpPr txBox="1"/>
            <p:nvPr/>
          </p:nvSpPr>
          <p:spPr>
            <a:xfrm>
              <a:off x="8519479" y="4752115"/>
              <a:ext cx="9709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sub-tree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50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AAB4AA-A130-D65A-AF9D-4939D511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04" y="136525"/>
            <a:ext cx="10515600" cy="1325563"/>
          </a:xfrm>
        </p:spPr>
        <p:txBody>
          <a:bodyPr/>
          <a:lstStyle/>
          <a:p>
            <a:r>
              <a:rPr lang="en-US" dirty="0"/>
              <a:t>Tree Construction Process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DDD19D2-BDAC-DD1A-2CB6-A47A611A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5" y="1462088"/>
            <a:ext cx="7315201" cy="4894262"/>
          </a:xfrm>
        </p:spPr>
        <p:txBody>
          <a:bodyPr>
            <a:normAutofit/>
          </a:bodyPr>
          <a:lstStyle/>
          <a:p>
            <a:r>
              <a:rPr lang="en-US" sz="2000" dirty="0"/>
              <a:t>The goal at each node is to select a variable, which will result in splits (sub-trees) that are more </a:t>
            </a:r>
            <a:r>
              <a:rPr lang="en-US" sz="2000" b="1" dirty="0"/>
              <a:t>certain about the outcome</a:t>
            </a:r>
            <a:r>
              <a:rPr lang="en-US" sz="2000" dirty="0"/>
              <a:t>. </a:t>
            </a:r>
          </a:p>
          <a:p>
            <a:r>
              <a:rPr lang="en-US" sz="2000" b="1" dirty="0"/>
              <a:t>Metrics (Criterions) </a:t>
            </a:r>
            <a:r>
              <a:rPr lang="en-US" sz="2000" dirty="0"/>
              <a:t>that measure </a:t>
            </a:r>
            <a:r>
              <a:rPr lang="en-US" sz="2000" b="1" dirty="0"/>
              <a:t>certainty: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Gini Impurity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Entropy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Information Gain</a:t>
            </a:r>
          </a:p>
          <a:p>
            <a:r>
              <a:rPr lang="en-US" sz="2000" b="1" dirty="0"/>
              <a:t>Selecting the Best Attribute: </a:t>
            </a:r>
            <a:r>
              <a:rPr lang="en-US" sz="2000" dirty="0"/>
              <a:t>This metric is calculated for each variable and decides which variable is the best for a specific node.</a:t>
            </a:r>
          </a:p>
          <a:p>
            <a:r>
              <a:rPr lang="en-US" sz="2000" b="1" dirty="0"/>
              <a:t>Splitting the Dataset</a:t>
            </a:r>
            <a:r>
              <a:rPr lang="en-US" sz="2000" dirty="0"/>
              <a:t>: The dataset is split into subsets based on the selected variable.</a:t>
            </a:r>
          </a:p>
          <a:p>
            <a:r>
              <a:rPr lang="en-US" sz="2000" b="1" dirty="0"/>
              <a:t>Repeating the Process</a:t>
            </a:r>
            <a:r>
              <a:rPr lang="en-US" sz="2000" dirty="0"/>
              <a:t>: The process is repeated recursively for each subset until a stopping criterion is met (e.g., all instances in a node belong to the same class or a predefined depth is reached). 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0DCCB08-40E2-B58A-325F-AB7ED5FF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6E6CADD-EE6B-9EBD-EEBE-5A947AE0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43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2059A41-AED8-ABD0-C581-35BAE447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Tree Construction Methods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029BFFB-6163-DB83-6B5C-20B623B3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691"/>
            <a:ext cx="10515600" cy="4887659"/>
          </a:xfrm>
        </p:spPr>
        <p:txBody>
          <a:bodyPr>
            <a:noAutofit/>
          </a:bodyPr>
          <a:lstStyle/>
          <a:p>
            <a:r>
              <a:rPr lang="en-US" sz="2000" b="1" i="1" dirty="0"/>
              <a:t>Brute-Force</a:t>
            </a:r>
            <a:r>
              <a:rPr lang="en-US" sz="2000" i="1" dirty="0"/>
              <a:t>: </a:t>
            </a:r>
            <a:r>
              <a:rPr lang="en-US" sz="2000" dirty="0"/>
              <a:t>Tries all possible combinations. No metric “certainty” metric is involved here.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Impossible for large datasets.</a:t>
            </a:r>
            <a:endParaRPr lang="en-US" sz="1600" i="1" dirty="0"/>
          </a:p>
          <a:p>
            <a:r>
              <a:rPr lang="en-US" sz="2000" b="1" i="1" dirty="0"/>
              <a:t>ID3</a:t>
            </a:r>
            <a:r>
              <a:rPr lang="en-US" sz="2000" i="1" dirty="0"/>
              <a:t>: </a:t>
            </a:r>
            <a:r>
              <a:rPr lang="en-US" sz="2000" dirty="0"/>
              <a:t>Splits each node using Information Gain as criterion. The idea is to split the node is such a way that minimizes the Entropy (or oppositely, maximizing the Information Gain). </a:t>
            </a:r>
            <a:r>
              <a:rPr lang="en-US" sz="2000" b="1" dirty="0"/>
              <a:t>Low entropy (high Information Gain) at each node indicates that the tree is more certain for its decisions.</a:t>
            </a:r>
            <a:endParaRPr lang="en-US" sz="2000" b="1" i="1" dirty="0"/>
          </a:p>
          <a:p>
            <a:r>
              <a:rPr lang="en-US" sz="2000" b="1" i="1" dirty="0"/>
              <a:t>C4.5</a:t>
            </a:r>
            <a:r>
              <a:rPr lang="en-US" sz="2000" i="1" dirty="0"/>
              <a:t>: </a:t>
            </a:r>
            <a:r>
              <a:rPr lang="en-US" sz="2000" dirty="0"/>
              <a:t>Extension of ID3, supports numerical values, missing values and applies branch pruning to prevent overfitting.</a:t>
            </a:r>
          </a:p>
          <a:p>
            <a:r>
              <a:rPr lang="en-US" sz="2000" b="1" i="1" dirty="0"/>
              <a:t>CART</a:t>
            </a:r>
            <a:r>
              <a:rPr lang="en-US" sz="2000" i="1" dirty="0"/>
              <a:t>: </a:t>
            </a:r>
            <a:r>
              <a:rPr lang="en-US" sz="2000" dirty="0"/>
              <a:t>Similar to C4.5, but utilizes binary trees only. </a:t>
            </a:r>
          </a:p>
          <a:p>
            <a:pPr lvl="1"/>
            <a:r>
              <a:rPr lang="en-US" sz="2000" b="1" dirty="0"/>
              <a:t>Classification Criterion:</a:t>
            </a:r>
          </a:p>
          <a:p>
            <a:pPr marL="1257300" lvl="3" indent="-342900">
              <a:buFont typeface="+mj-lt"/>
              <a:buAutoNum type="arabicPeriod"/>
            </a:pPr>
            <a:r>
              <a:rPr lang="en-US" i="1" dirty="0"/>
              <a:t>Gini</a:t>
            </a:r>
          </a:p>
          <a:p>
            <a:pPr marL="1257300" lvl="3" indent="-342900">
              <a:buFont typeface="+mj-lt"/>
              <a:buAutoNum type="arabicPeriod"/>
            </a:pPr>
            <a:r>
              <a:rPr lang="en-US" i="1" dirty="0"/>
              <a:t>Cross-Entropy </a:t>
            </a:r>
          </a:p>
          <a:p>
            <a:pPr lvl="1"/>
            <a:r>
              <a:rPr lang="en-US" sz="2000" b="1" i="1" dirty="0"/>
              <a:t>Regression Criterion:</a:t>
            </a:r>
          </a:p>
          <a:p>
            <a:pPr marL="1257300" lvl="3" indent="-342900">
              <a:buFont typeface="+mj-lt"/>
              <a:buAutoNum type="arabicPeriod"/>
            </a:pPr>
            <a:r>
              <a:rPr lang="en-US" i="1" dirty="0"/>
              <a:t>MSE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61F1415-F3C6-3973-9E5C-578CA227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FEAB4FC7-F549-E237-B6DA-38EDE389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7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947390B-97BF-DB09-5D6C-A1BB7D32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253"/>
            <a:ext cx="10515600" cy="1325563"/>
          </a:xfrm>
        </p:spPr>
        <p:txBody>
          <a:bodyPr/>
          <a:lstStyle/>
          <a:p>
            <a:r>
              <a:rPr lang="en-US" dirty="0"/>
              <a:t>Splitting Criterions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DA2916C-DA29-F1DB-BAC0-696D55E0F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7592"/>
                <a:ext cx="10515600" cy="5120640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Entropy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are the probabilities of each class appearing in the dataset.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l-GR" sz="16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l-GR" sz="1600" dirty="0"/>
                  <a:t>, </a:t>
                </a:r>
                <a:r>
                  <a:rPr lang="en-US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are class counts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el-GR" sz="1600" dirty="0"/>
                  <a:t> </a:t>
                </a:r>
                <a:r>
                  <a:rPr lang="en-US" sz="1600" dirty="0"/>
                  <a:t>are the total samples of the dataset.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binary classification, it can be simplified as:</a:t>
                </a:r>
                <a:r>
                  <a:rPr lang="el-GR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Where entropy is a value between 0.0 and 1.0. Low entropy means more “certainty”, while 1.0 means “highly uncertain.”</a:t>
                </a:r>
              </a:p>
              <a:p>
                <a:r>
                  <a:rPr lang="en-US" sz="2000" dirty="0"/>
                  <a:t>Information Gain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dirty="0"/>
                  <a:t>, </a:t>
                </a:r>
                <a:r>
                  <a:rPr lang="el-GR" sz="2000" dirty="0"/>
                  <a:t>όπου</a:t>
                </a:r>
                <a:r>
                  <a:rPr lang="en-US" sz="2000" dirty="0"/>
                  <a:t>:</a:t>
                </a:r>
                <a:endParaRPr lang="el-GR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</a:t>
                </a:r>
                <a:r>
                  <a:rPr lang="en-US" sz="2000" i="1" dirty="0"/>
                  <a:t>S </a:t>
                </a:r>
                <a:r>
                  <a:rPr lang="el-GR" sz="2000" dirty="0"/>
                  <a:t>το </a:t>
                </a:r>
                <a:r>
                  <a:rPr lang="el-GR" sz="1600" dirty="0"/>
                  <a:t>σύνολο δεδομένων</a:t>
                </a:r>
                <a:r>
                  <a:rPr lang="en-US" sz="1600" dirty="0"/>
                  <a:t>.</a:t>
                </a:r>
                <a:endParaRPr lang="el-G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|S| </a:t>
                </a:r>
                <a:r>
                  <a:rPr lang="el-GR" sz="1600" dirty="0"/>
                  <a:t>το πλήθος των δεδομένων του συνόλου </a:t>
                </a:r>
                <a:r>
                  <a:rPr lang="en-US" sz="1600" i="1" dirty="0"/>
                  <a:t>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| </a:t>
                </a:r>
                <a:r>
                  <a:rPr lang="el-GR" sz="1600" dirty="0"/>
                  <a:t>το πλήθος των δεδομένων που ανήκουν στη κλάση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η εντροπία </a:t>
                </a:r>
                <a:r>
                  <a:rPr lang="el-GR" sz="2000" dirty="0"/>
                  <a:t>της κλάσης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Gini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sz="2000" b="0" dirty="0"/>
              </a:p>
              <a:p>
                <a:r>
                  <a:rPr lang="el-GR" sz="2000" dirty="0"/>
                  <a:t>Ο τύπος </a:t>
                </a:r>
                <a:r>
                  <a:rPr lang="en-US" sz="2000" dirty="0"/>
                  <a:t>Gini </a:t>
                </a:r>
                <a:r>
                  <a:rPr lang="el-GR" sz="2000" dirty="0"/>
                  <a:t>είναι απλούστερος και ταχύτερος, καθώς δεν εμπεριέχει τον υπολογισμό του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l-GR" sz="2000" dirty="0"/>
                  <a:t>. Χρησιμοποιείται στον </a:t>
                </a:r>
                <a:r>
                  <a:rPr lang="en-US" sz="2000" dirty="0"/>
                  <a:t>CART</a:t>
                </a:r>
                <a:r>
                  <a:rPr lang="el-GR" sz="2000" dirty="0"/>
                  <a:t>.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DA2916C-DA29-F1DB-BAC0-696D55E0F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7592"/>
                <a:ext cx="10515600" cy="5120640"/>
              </a:xfrm>
              <a:blipFill>
                <a:blip r:embed="rId2"/>
                <a:stretch>
                  <a:fillRect l="-522" t="-988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34994F6-B691-44B2-3B75-00AE0DAD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066C15F-6673-55CE-647B-AB1382D2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0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CBFFE76-416C-2D72-54A7-0E1F2A14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Example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028FE5F-B6F7-0E93-6208-9DE8FB12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5953275-C87A-2FD6-0553-AAC6F6F3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9</a:t>
            </a:fld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506CEB76-D959-06AD-3D17-5AB2E114A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897" y="1803056"/>
            <a:ext cx="6546951" cy="33931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8BC32E-F30A-BC6D-C3EC-B75C3B8B9929}"/>
              </a:ext>
            </a:extLst>
          </p:cNvPr>
          <p:cNvSpPr txBox="1"/>
          <p:nvPr/>
        </p:nvSpPr>
        <p:spPr>
          <a:xfrm>
            <a:off x="1480297" y="5308597"/>
            <a:ext cx="8975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</a:t>
            </a:r>
            <a:r>
              <a:rPr lang="en-US" sz="2000" b="1" dirty="0"/>
              <a:t>entropy</a:t>
            </a:r>
            <a:r>
              <a:rPr lang="en-US" sz="2000" dirty="0"/>
              <a:t> is utilized, feature 2 or feature 3 predicts better the class of a sample?</a:t>
            </a:r>
          </a:p>
        </p:txBody>
      </p:sp>
    </p:spTree>
    <p:extLst>
      <p:ext uri="{BB962C8B-B14F-4D97-AF65-F5344CB8AC3E}">
        <p14:creationId xmlns:p14="http://schemas.microsoft.com/office/powerpoint/2010/main" val="197169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D85AC22-68E3-CAEF-3F6C-E730B992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Solution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AAED3B2-D608-798A-2E71-E9AF9B28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424B50A-B8FA-C3E5-9247-AD6B698E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2F073-E021-D73E-E11A-E0BFA187BBEE}"/>
              </a:ext>
            </a:extLst>
          </p:cNvPr>
          <p:cNvSpPr txBox="1"/>
          <p:nvPr/>
        </p:nvSpPr>
        <p:spPr>
          <a:xfrm>
            <a:off x="804672" y="1950590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feature 2: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5102EBD4-2ACF-FFA3-1401-356434D9F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319922"/>
            <a:ext cx="4951064" cy="2725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A7C4AE-20FC-77DE-9266-7A861213B392}"/>
              </a:ext>
            </a:extLst>
          </p:cNvPr>
          <p:cNvSpPr txBox="1"/>
          <p:nvPr/>
        </p:nvSpPr>
        <p:spPr>
          <a:xfrm>
            <a:off x="6800088" y="1835290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feature 3: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1A9C9B3D-55D0-958F-B180-F145405A0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225414"/>
            <a:ext cx="4951064" cy="2757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FA8891-52D4-3782-5ABE-415C0BA3D9A9}"/>
              </a:ext>
            </a:extLst>
          </p:cNvPr>
          <p:cNvSpPr txBox="1"/>
          <p:nvPr/>
        </p:nvSpPr>
        <p:spPr>
          <a:xfrm>
            <a:off x="1774570" y="5561086"/>
            <a:ext cx="87655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Conclusion: feature 2 minimizes Entropy, so it’s more important than feature </a:t>
            </a:r>
            <a:r>
              <a:rPr lang="el-GR" b="1" dirty="0"/>
              <a:t>3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dirty="0"/>
              <a:t>This is because Feature 2 has more samples that belong to “</a:t>
            </a:r>
            <a:r>
              <a:rPr lang="en-US" i="1" dirty="0"/>
              <a:t>yes</a:t>
            </a:r>
            <a:r>
              <a:rPr lang="en-US" dirty="0"/>
              <a:t>” class, making the </a:t>
            </a:r>
            <a:br>
              <a:rPr lang="en-US" dirty="0"/>
            </a:br>
            <a:r>
              <a:rPr lang="en-US" dirty="0"/>
              <a:t>tree more certain that if a sample goes left, it is probably a yes. On the other hand,</a:t>
            </a:r>
          </a:p>
          <a:p>
            <a:r>
              <a:rPr lang="en-US" dirty="0"/>
              <a:t>feature 3 has almost 50-50 probability for each class. </a:t>
            </a:r>
          </a:p>
        </p:txBody>
      </p:sp>
    </p:spTree>
    <p:extLst>
      <p:ext uri="{BB962C8B-B14F-4D97-AF65-F5344CB8AC3E}">
        <p14:creationId xmlns:p14="http://schemas.microsoft.com/office/powerpoint/2010/main" val="281105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77079CE-A40B-E2BD-DF3E-651992C6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Decision Tree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788E575-E3B8-EFAD-B952-8C8FD0738D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6385560" cy="4894262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Max Depth</a:t>
                </a:r>
                <a:r>
                  <a:rPr lang="en-US" sz="2000" dirty="0"/>
                  <a:t>: Determines the maximum depth (layers) of the tree. The final level of the tree will be treated as leaves.</a:t>
                </a:r>
              </a:p>
              <a:p>
                <a:r>
                  <a:rPr lang="en-US" sz="2000" b="1" dirty="0"/>
                  <a:t>Min Samples Split</a:t>
                </a:r>
                <a:r>
                  <a:rPr lang="en-US" sz="2000" dirty="0"/>
                  <a:t>: The minimum samples required to split a node. (e.g. if more than 2 samples exist in a node, then the node will split by constructing another rule.</a:t>
                </a:r>
              </a:p>
              <a:p>
                <a:r>
                  <a:rPr lang="en-US" sz="2000" b="1" dirty="0"/>
                  <a:t>Min Samples Leaf: </a:t>
                </a:r>
                <a:r>
                  <a:rPr lang="en-US" sz="2000" dirty="0"/>
                  <a:t>The minimum number of samples required for a node to become a leaf.</a:t>
                </a:r>
              </a:p>
              <a:p>
                <a:r>
                  <a:rPr lang="en-US" sz="2000" b="1" dirty="0"/>
                  <a:t>Max Features: </a:t>
                </a:r>
                <a:r>
                  <a:rPr lang="en-US" sz="2000" dirty="0"/>
                  <a:t>Number of features the tree will use. By default, it uses all features, unless Max-Depth is employed.</a:t>
                </a:r>
              </a:p>
              <a:p>
                <a:r>
                  <a:rPr lang="en-US" sz="2000" b="1" dirty="0"/>
                  <a:t>CCP-</a:t>
                </a:r>
                <a:r>
                  <a:rPr lang="el-GR" sz="2000" b="1" dirty="0"/>
                  <a:t>α: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b="1" dirty="0"/>
                  <a:t>, </a:t>
                </a:r>
                <a:r>
                  <a:rPr lang="en-US" sz="2000" dirty="0"/>
                  <a:t>then clipping is also performed.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should be a very small value between 0.0 and 0.001. By default, no clipping is performed in CART.</a:t>
                </a:r>
                <a:endParaRPr lang="en-US" sz="2000" b="1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788E575-E3B8-EFAD-B952-8C8FD0738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6385560" cy="4894262"/>
              </a:xfrm>
              <a:blipFill>
                <a:blip r:embed="rId2"/>
                <a:stretch>
                  <a:fillRect l="-860" t="-1245" r="-1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E08649C-D5C1-D05E-D470-A445F4F8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309B1FA-474A-171A-BC7D-350A877E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 descr="Decision Trees: A Deep Dive into Making Smarter Decisions | by Ishwarya S |  GoPenAI">
            <a:extLst>
              <a:ext uri="{FF2B5EF4-FFF2-40B4-BE49-F238E27FC236}">
                <a16:creationId xmlns:a16="http://schemas.microsoft.com/office/drawing/2014/main" id="{0EE98CEC-34A3-BAFD-C6EA-7E8422C78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631" y="272402"/>
            <a:ext cx="4335589" cy="305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Ομάδα 11">
            <a:extLst>
              <a:ext uri="{FF2B5EF4-FFF2-40B4-BE49-F238E27FC236}">
                <a16:creationId xmlns:a16="http://schemas.microsoft.com/office/drawing/2014/main" id="{EA3C203D-0574-EDD1-776B-75ED7877C831}"/>
              </a:ext>
            </a:extLst>
          </p:cNvPr>
          <p:cNvGrpSpPr/>
          <p:nvPr/>
        </p:nvGrpSpPr>
        <p:grpSpPr>
          <a:xfrm>
            <a:off x="8153400" y="3429000"/>
            <a:ext cx="3415665" cy="3114674"/>
            <a:chOff x="8153400" y="3429000"/>
            <a:chExt cx="3415665" cy="3114674"/>
          </a:xfrm>
        </p:grpSpPr>
        <p:pic>
          <p:nvPicPr>
            <p:cNvPr id="10" name="Εικόνα 9">
              <a:extLst>
                <a:ext uri="{FF2B5EF4-FFF2-40B4-BE49-F238E27FC236}">
                  <a16:creationId xmlns:a16="http://schemas.microsoft.com/office/drawing/2014/main" id="{3B0A6E37-13F2-3345-F56E-C862E3C59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3400" y="3429000"/>
              <a:ext cx="3415665" cy="292117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B722AA-A751-9C23-07D1-37C3AC998FE1}"/>
                </a:ext>
              </a:extLst>
            </p:cNvPr>
            <p:cNvSpPr txBox="1"/>
            <p:nvPr/>
          </p:nvSpPr>
          <p:spPr>
            <a:xfrm>
              <a:off x="9063519" y="6235897"/>
              <a:ext cx="1837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Min Samples Split =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5393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952F62-7FD8-EF44-B7CB-42030B70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Disadvantages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C8DA2CD-5A1D-105A-6CED-595771AEF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Prone to overfitting (Performs well in the training set, but achieves low performance in the test set).</a:t>
            </a:r>
          </a:p>
          <a:p>
            <a:r>
              <a:rPr lang="en-US" sz="2000" dirty="0"/>
              <a:t>Unstable to noisy data (e.g. Outliers).</a:t>
            </a:r>
          </a:p>
          <a:p>
            <a:r>
              <a:rPr lang="en-US" sz="2000" dirty="0"/>
              <a:t>Unstable to datasets with unbalanced classes (Tend to estimate well only classes with high frequency and perform worse in classes with small frequency).</a:t>
            </a:r>
          </a:p>
          <a:p>
            <a:r>
              <a:rPr lang="en-US" sz="2000" dirty="0"/>
              <a:t>Low performance in regression tasks.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6EBD2F9-D8B1-54FC-E5D8-FDBC5EA8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21CF0F5-1177-E215-16E2-5817B48E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68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0D4107-C089-0409-29CE-E937C918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Ensemble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3C80A9F-16B5-602C-512B-AC3ADDA6A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68"/>
            <a:ext cx="10515600" cy="4604195"/>
          </a:xfrm>
        </p:spPr>
        <p:txBody>
          <a:bodyPr>
            <a:normAutofit/>
          </a:bodyPr>
          <a:lstStyle/>
          <a:p>
            <a:r>
              <a:rPr lang="en-US" sz="2000" b="1" dirty="0"/>
              <a:t>Idea</a:t>
            </a:r>
            <a:r>
              <a:rPr lang="en-US" sz="2000" dirty="0"/>
              <a:t>: Training a model in a large dataset can be difficult (</a:t>
            </a:r>
            <a:r>
              <a:rPr lang="en-US" sz="2000" b="1" dirty="0"/>
              <a:t>see Disadvantages of DT</a:t>
            </a:r>
            <a:r>
              <a:rPr lang="en-US" sz="2000" dirty="0"/>
              <a:t>).</a:t>
            </a:r>
          </a:p>
          <a:p>
            <a:r>
              <a:rPr lang="en-US" sz="2000" dirty="0"/>
              <a:t>Ensemble methods combine multiple weak predictors in subsets of the original dataset to make more accurate decisions.</a:t>
            </a:r>
          </a:p>
          <a:p>
            <a:r>
              <a:rPr lang="en-US" sz="2000" dirty="0"/>
              <a:t>Example: A single decision tree is weak, but if we combine the predictions of multiple decision trees, we construct a stronger model.</a:t>
            </a:r>
          </a:p>
          <a:p>
            <a:r>
              <a:rPr lang="en-US" sz="2000" dirty="0"/>
              <a:t>Advantages:</a:t>
            </a:r>
          </a:p>
          <a:p>
            <a:pPr lvl="1"/>
            <a:r>
              <a:rPr lang="en-US" sz="1800" dirty="0"/>
              <a:t>Reduce </a:t>
            </a:r>
            <a:r>
              <a:rPr lang="en-US" sz="1600" dirty="0"/>
              <a:t>overfitting.</a:t>
            </a:r>
          </a:p>
          <a:p>
            <a:pPr lvl="1"/>
            <a:r>
              <a:rPr lang="en-US" sz="1600" dirty="0"/>
              <a:t>Increase generalization ability.</a:t>
            </a:r>
          </a:p>
          <a:p>
            <a:pPr lvl="1"/>
            <a:r>
              <a:rPr lang="en-US" sz="1600" dirty="0"/>
              <a:t>Robust to noise and outliers.</a:t>
            </a:r>
          </a:p>
          <a:p>
            <a:r>
              <a:rPr lang="en-US" sz="2000" dirty="0"/>
              <a:t>Disadvantages:</a:t>
            </a:r>
          </a:p>
          <a:p>
            <a:pPr lvl="1"/>
            <a:r>
              <a:rPr lang="en-US" sz="1600" dirty="0"/>
              <a:t>Increases time complexity.</a:t>
            </a:r>
          </a:p>
          <a:p>
            <a:pPr lvl="1"/>
            <a:r>
              <a:rPr lang="en-US" sz="1600" dirty="0"/>
              <a:t>The combined model is no longer interpretable.</a:t>
            </a:r>
          </a:p>
          <a:p>
            <a:pPr lvl="1"/>
            <a:r>
              <a:rPr lang="en-US" sz="1600" dirty="0"/>
              <a:t>The ideal number </a:t>
            </a:r>
            <a:r>
              <a:rPr lang="en-US" sz="1800" dirty="0"/>
              <a:t>of weak estimators is unknown and must be found manually.</a:t>
            </a:r>
          </a:p>
          <a:p>
            <a:pPr lvl="1"/>
            <a:endParaRPr lang="en-US" sz="1800" dirty="0"/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A39F464-6379-5ACC-E5A6-BCE11DCC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1D6D66F-FDC6-CE63-C663-F9A16D22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3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6C66E51-5872-DED7-628C-09BA3DEB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Random Forest Algorithm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1F86C1C-44F5-FDDC-BDF2-E44E63D89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070"/>
            <a:ext cx="5997113" cy="28354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Construct multiple decision trees (Estimators).</a:t>
            </a:r>
          </a:p>
          <a:p>
            <a:pPr lvl="1"/>
            <a:r>
              <a:rPr lang="en-US" sz="1600" dirty="0"/>
              <a:t>Requires the user to enter the number of estimators (number of decision trees)&gt;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Each decision tree uses only </a:t>
            </a:r>
            <a:r>
              <a:rPr lang="en-US" sz="2000" b="1" dirty="0"/>
              <a:t>a subset of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Voting Technique</a:t>
            </a:r>
            <a:r>
              <a:rPr lang="en-US" sz="2000" dirty="0"/>
              <a:t>: Computes the average decision from all trees (for regression) or the majority of votes (for classification).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595989D-56B3-A026-5A92-28EF3607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B75591E-324D-60C5-C8E7-284B51DA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2" descr="Random Forests. Random forests is a powerful machine… | by Dr. Roi Yehoshua  | Medium">
            <a:extLst>
              <a:ext uri="{FF2B5EF4-FFF2-40B4-BE49-F238E27FC236}">
                <a16:creationId xmlns:a16="http://schemas.microsoft.com/office/drawing/2014/main" id="{057D5B86-4FB3-0C8D-4F29-994F0B1A1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313" y="383507"/>
            <a:ext cx="5270962" cy="324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A27820FD-3582-BF02-404F-A6D2BF6DA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67" y="3561573"/>
            <a:ext cx="3319854" cy="267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50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B014-6BFF-4E6F-581C-5A61F701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4263280-BF51-AD60-AE69-AF6F8179D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18F4F7A1-5A24-FCFC-209C-AFAF3C808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Decision Trees &amp; Random Forests Notes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A56AB9C-2C53-1735-51EE-D8639672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FF64484-99CD-8799-B209-8F0E0DB3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CA0C-4410-4CBD-8186-C910D8073B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28079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1266</Words>
  <Application>Microsoft Office PowerPoint</Application>
  <PresentationFormat>Ευρεία οθόνη</PresentationFormat>
  <Paragraphs>136</Paragraphs>
  <Slides>15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Wingdings</vt:lpstr>
      <vt:lpstr>Θέμα του Office</vt:lpstr>
      <vt:lpstr>Machine Learning</vt:lpstr>
      <vt:lpstr>Decision Trees</vt:lpstr>
      <vt:lpstr>Decision Tree Structure</vt:lpstr>
      <vt:lpstr>Decision Tree Example in Diabetes Dataset</vt:lpstr>
      <vt:lpstr>Dataset Splits</vt:lpstr>
      <vt:lpstr>Tree Construction Process</vt:lpstr>
      <vt:lpstr>Tree Construction Methods</vt:lpstr>
      <vt:lpstr>Splitting Criterions </vt:lpstr>
      <vt:lpstr>Entropy Example</vt:lpstr>
      <vt:lpstr>Example Solution</vt:lpstr>
      <vt:lpstr>Decision Tree Parameters</vt:lpstr>
      <vt:lpstr>Decision Tree Disadvantages</vt:lpstr>
      <vt:lpstr>Ensemble</vt:lpstr>
      <vt:lpstr>Random Forest Algorithm</vt:lpstr>
      <vt:lpstr>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Kochliaridis</dc:creator>
  <cp:lastModifiedBy>Vasileios Kochliaridis</cp:lastModifiedBy>
  <cp:revision>1</cp:revision>
  <dcterms:created xsi:type="dcterms:W3CDTF">2025-10-22T07:24:32Z</dcterms:created>
  <dcterms:modified xsi:type="dcterms:W3CDTF">2025-10-22T08:26:22Z</dcterms:modified>
</cp:coreProperties>
</file>